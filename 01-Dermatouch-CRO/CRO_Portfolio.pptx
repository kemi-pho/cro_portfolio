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71" r:id="rId13"/>
    <p:sldId id="273" r:id="rId14"/>
    <p:sldId id="270" r:id="rId15"/>
    <p:sldId id="266" r:id="rId16"/>
    <p:sldId id="267" r:id="rId1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7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6442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emi-ghetia-4968a426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rmatouch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eminimalist.co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6" y="9526"/>
            <a:ext cx="12188952" cy="6858000"/>
          </a:xfrm>
          <a:prstGeom prst="rect">
            <a:avLst/>
          </a:prstGeom>
          <a:solidFill>
            <a:srgbClr val="0B1F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OPTIMIZATION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 Portfolio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 Ghetia  |  CRO Growth Analyst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behavioural signals into structured, revenue-driving experiments — for D2C, e-commerce &amp; pharmacy-brand websites.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C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kemighetia@gmail.com   •   +91-7016210932   •   </a:t>
            </a:r>
            <a:r>
              <a:rPr lang="en-US" sz="1100" dirty="0">
                <a:solidFill>
                  <a:srgbClr val="7C999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https://www.linkedin.com/in/</a:t>
            </a:r>
            <a:r>
              <a:rPr lang="en-US" sz="1100" dirty="0">
                <a:solidFill>
                  <a:srgbClr val="7C999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kemi-ghetia-4968a4263/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think in experiments and structured logic, not opinions and guesswork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92240" cy="4480560"/>
          </a:xfrm>
          <a:prstGeom prst="roundRect">
            <a:avLst>
              <a:gd name="adj" fmla="val 2449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CRO Growth Analyst, running the day-to-day conversion program for an Indian D2C skincare brand — homepage, PDP, and checkout experimentation.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full loop: digging into behavioural + quant data, qualitative and quantitative analysis, writing hypotheses, prioritising the backlog, briefing design/dev, and reading out results to stakeholders.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with GA4 funnels and Microsoft Clarity / Hotjar for qualitative signal (recordings, heatmaps, rage-clicks); actively building formal A/B testing and statistics chops (this is the gap I'm closing right now).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bring: pattern-recognition from working inside a live D2C funnel every day, a bias for evidence over opinion, and comfort presenting findings to non-technical stakeholders.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06640" y="173736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35240" y="1856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FOCUS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35240" y="21214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Skincare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321868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352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35240" y="3602736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· Clarity 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Hotjar · Shopify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0" y="4700016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6352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NOW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35240" y="5084064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&amp;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Stat. Significance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Experimentation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loop — not one-off tests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80744" y="22860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8074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52044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GA4 funnels, Clarity/Hotjar recordings &amp; heatmaps, reviews and support tickets &amp; data to find friction.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61488" y="347472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80360" y="201168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21024" y="22860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2102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90088" y="306324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44952" y="352044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observed X, we believe change Y will drive Z, measured by [metric].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01768" y="347472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20640" y="201168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861304" y="22860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6130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30368" y="306324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85232" y="352044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idea on Impact / Confidence / Ease (ICE) so effort goes to the highest-leverage tests first.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42048" y="347472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60920" y="201168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101584" y="22860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10158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70648" y="306324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25512" y="352044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controlled A/B or server-side test with a clear primary metric and minimum sample size.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82328" y="347472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01200" y="201168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341864" y="22860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34186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710928" y="306324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Scale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65792" y="352044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winners into the experience, retire losers, and feed the insight back into the next hypothesis.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by design: every completed test — win or lose — becomes an input for the next hypothesis, instead of a one-off result.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/>
              </a:rPr>
              <a:t>Dermatouch.com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conversion audit of an Indian pharmacy-grade D2C skincare brand — Shopify storefront, ₹99–₹450 price band, sold direct + across 9 marketplaces.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231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4480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entry price 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36576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231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0" y="4480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incl. Zepto, Amazon, Blinkit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6576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231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5508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4-way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55080" y="4480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split: Product / Concern / Skin Type / Ingredient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36576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231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05256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5,700+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52560" y="4480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on top bestseller alone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2A0737-9F20-63A3-2439-0D0EC10D8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845" y="1417320"/>
            <a:ext cx="1419235" cy="67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Found: Friction 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+ behavioural-signal review of homepage &amp; navigation (mobile + desktop)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parallel navigation paths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8424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By Product / Concern / Skin Type / Ingredient all sit in the same mega-menu with no visible primary path — likely to cause decision paralysis for first-time, non-repeat visitors who don't yet know their "concern" language. Dermat trust badge is a missing opportunity to highlight priority products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81635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vs. distraction on the HP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15468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badges (Zepto, Blinkit, Amazon, Myntra…) sit prominently on-site; for a price-sensitive ₹149 product this can pull ready-to-buy traffic off-domain and out of the direct-attribution funnel; which is exactly what we are doing at Dermatouch.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98678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signals are present but late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325112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review counts (1,000s per SKU) exist, but appear mainly in the homepage carousel — not consistently reinforced near the Add-to-Cart button on the PDP itself, where hesitation is highest.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202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5202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515721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Variant/pack-size choice adds a decision step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5495544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size + combo variants (30g / 50g / pack-of-2) are shown with per-unit pricing — good for value-shoppers, but adds cognitive load right before the primary CTA if no default/'most popular' is visually obvious. Offer slider receives the highest rage click count near the primary ATC CTA – redirect to checkout.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9F8BE6-EE8B-FCF6-F135-C4081B97C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2" y="1097955"/>
            <a:ext cx="2374721" cy="4730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CBB38B-16FA-6FD7-F7D1-FD6B04B1D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159" y="1058136"/>
            <a:ext cx="2429224" cy="47305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A32866-2230-20D4-3C59-74B09C7AC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383" y="1154941"/>
            <a:ext cx="2334247" cy="46166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422DE7-0AF9-B4D3-4375-02CBBA12E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652" y="1116331"/>
            <a:ext cx="2302618" cy="47305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0EC645-1C77-ED97-E0C2-3388722FC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4292" y="1076512"/>
            <a:ext cx="2499429" cy="477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21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&amp; Prioritization (ICE)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903894"/>
              </p:ext>
            </p:extLst>
          </p:nvPr>
        </p:nvGraphicFramePr>
        <p:xfrm>
          <a:off x="640080" y="1188720"/>
          <a:ext cx="10515600" cy="45720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we surface a single default “Most Popular” pack size on the PDP (pre-selected), then Add-to-Cart rate will increase, because fewer competing choices reduce decision friction before the primary CTA.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we add a trust badges (Dermat recommended, Cruelty-free etc., Clinically tested etc.) directly beside the Add-to-Cart button, then PDP-to-cart conversion will increase, because trust signals appear where hesitation peaks.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we simplify the mega-menu to one primary axis (Concern) with the other three as secondary filters, then category-page entry rate and bounce rate will improve, because new visitors aren't fluent in ingredient names.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= (Impact + Confidence + Ease) / 3.  H1 and H2 ship first — high impact, high confidence, low build effort.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Design — H2: Trust Strip Near CTA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hand to design/dev as a build brief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shown later on PDP &amp; PDP header; nothing near the Add-to-Cart button itself.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EAF4F3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379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trust badge directly above the Add-to-Cart button: ★ 4.6 (5,767 reviews) + “Dermatologically tested”, “Cruelty-free”, “Clinically tested” badge.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 rate (PDP → cart)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9560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49560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→ purchase rate, revenue per visitor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3400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08960" y="534009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 / Core Web Vitals (badge must not slow PDP)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7241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572414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A/B, 50/50 split, PDP template-level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1081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runtime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08960" y="61081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full business cycles (incl. weekend) or until sample size reached — avoid peeking early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5361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+3–6%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Add-to-Cart lift from reduced PDP friction (H1+H2 combined)*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26280" y="15361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26280" y="2240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 ship — smallest build, clearest read on trust-signal impact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0" y="15361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0" y="2240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tech debt — reuses existing review data &amp; badge assets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Directional estimate based on published CRO benchmarks for above-the-fold trust signals on PDPs; to be validated against Dermatouch's own GA4 baseline once the test ships.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wins: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to all PDP templates; reuse the trust-strip component for the mobile app view; feed the “review proximity matters” insight into checkout-page design.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loses/flat: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discard the idea — test badge wording, placement (sticky vs. inline), or pair with a scarcity/social-proof cue instead of assuming “trust doesn't matter here.”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/>
              </a:rPr>
              <a:t>beminimalist.co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audit of a well-known ingredient-led D2C skincare brand, for contrast against Dermatouch's PDP-heavy model.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231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4480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promo banners visible pre-scroll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36576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231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0" y="4480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chat as primary support channel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6576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231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5508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55080" y="4480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Your Own Bundle” cross-sell mechanic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36576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231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05256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Auto-apply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52560" y="4480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Free-gift offers applied silently at checkout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4E4CBDB-BE53-EA95-19F2-A498AB03E7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76"/>
          <a:stretch>
            <a:fillRect/>
          </a:stretch>
        </p:blipFill>
        <p:spPr>
          <a:xfrm>
            <a:off x="4741855" y="1463040"/>
            <a:ext cx="1847864" cy="6581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Friction Points &amp; Hypotheses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noticed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homepage announcement bar rotates through 4 different value props (bundle discount, sitewide %, buy-3-get-1, gift-with-purchase) before a first-time visitor sees a single product — and the cart drawer then surfaces a 5th, different offer (₹799 free-sunscreen threshold) that was never mentioned earlier. No single offer gets to “land”, and messaging is inconsistent across touchpoints.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auto-applied free-gift offers are only confirmed at checkout, which is good for AOV but can feel like a surprise rather than a reason to buy earlier in the funnel since no offer education present on PDP.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is a strong AOV/cross-sell engine — one query returns 5+ relevant product &amp; kit options with inline “Add” buttons. But that same breadth is a double-edged sword: a user who was ready to buy can get pulled back into browsing/comparing instead of checking out, so the bot may quietly trade a fast conversion for a wider (but riskier) 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88418" y="1143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to test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88418" y="1554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71298" y="16916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If we pick the single strongest offer (e.g. the bundle discount) and keep it consistent across the homepage banner, PDP, and cart drawer — instead of rotating through 4-5 different offers — then homepage-to-category click-through will increase, because one clear, consistent value prop is easier to act on than several competing, rotating 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88418" y="3611879"/>
            <a:ext cx="5394960" cy="2242625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71298" y="37490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If we cap the AI assistant's recommendations to 1 primary pick + 2 alternatives (instead of 5+ parallel options) or make it interactive where user can choose his own routine sequence (like 3,4,5 products) and add a persistent “Continue to Checkout” nudge after any “Add,” then chat-to-checkout conversion will increase, because fewer competing options reduce the risk of a ready-to-buy user drifting back into browsing instead of completing the purchase the bot already nudged them toward.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0800A3-404B-9887-7AAF-D575879C65F9}"/>
              </a:ext>
            </a:extLst>
          </p:cNvPr>
          <p:cNvSpPr txBox="1"/>
          <p:nvPr/>
        </p:nvSpPr>
        <p:spPr>
          <a:xfrm>
            <a:off x="6571298" y="3159919"/>
            <a:ext cx="6093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7   CONFIDENCE 6   EASE 8   —   ICE 7.0</a:t>
            </a:r>
            <a:endParaRPr 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0CB892-8AE2-FC4A-D9A8-510EC580E063}"/>
              </a:ext>
            </a:extLst>
          </p:cNvPr>
          <p:cNvSpPr txBox="1"/>
          <p:nvPr/>
        </p:nvSpPr>
        <p:spPr>
          <a:xfrm>
            <a:off x="6571298" y="5479312"/>
            <a:ext cx="62015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8   CONFIDENCE 6   EASE 6   —   ICE 6.7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A30FCE-B989-C466-9B3E-1E1A50335A97}"/>
              </a:ext>
            </a:extLst>
          </p:cNvPr>
          <p:cNvSpPr txBox="1"/>
          <p:nvPr/>
        </p:nvSpPr>
        <p:spPr>
          <a:xfrm>
            <a:off x="640080" y="6343696"/>
            <a:ext cx="62555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the same way as the Dermatouch backlog — ICE = (Impact + Confidence + Ease) / 3.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BA67A-B862-F8EE-F703-49AE0485C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257" y="2528007"/>
            <a:ext cx="6513904" cy="29540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DD8ECB-9E85-484A-851B-09264EDF78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49" t="-21100" r="9366" b="-5474"/>
          <a:stretch>
            <a:fillRect/>
          </a:stretch>
        </p:blipFill>
        <p:spPr>
          <a:xfrm>
            <a:off x="1631852" y="793142"/>
            <a:ext cx="4029295" cy="491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FA86BF-4850-6DA7-F9BC-0FD7F2E517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86" r="12450" b="-8618"/>
          <a:stretch>
            <a:fillRect/>
          </a:stretch>
        </p:blipFill>
        <p:spPr>
          <a:xfrm>
            <a:off x="1631852" y="1284677"/>
            <a:ext cx="4029295" cy="430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9988EA-EDFC-6900-99B9-D5B5FDC311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625" t="1" r="21270" b="-1"/>
          <a:stretch>
            <a:fillRect/>
          </a:stretch>
        </p:blipFill>
        <p:spPr>
          <a:xfrm>
            <a:off x="6421695" y="803264"/>
            <a:ext cx="3169028" cy="4814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701806-4EA0-20DA-FC88-8276631736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586" t="-23257" r="21095" b="1547"/>
          <a:stretch>
            <a:fillRect/>
          </a:stretch>
        </p:blipFill>
        <p:spPr>
          <a:xfrm>
            <a:off x="6421694" y="1248646"/>
            <a:ext cx="3209223" cy="4814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2A511F-C469-3ED5-DB00-6409DCCF2A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0554" y="2130131"/>
            <a:ext cx="2616898" cy="374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8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Design — H1: One Consistent Offer, Not a Rotation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ICE score (7.0) — ships first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banner auto-rotates through 4 different offers (bundle %, sitewide %, buy-3-get-1, gift-with-purchase); cart drawer then shows a 5th, unrelated offer (free sunscreen at ₹799) never mentioned upstream.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EAF4F3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379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offer (the bundle discount) picked as the hero value prop and repeated identically in the homepage banner, PDP, and cart drawer; other offers moved to a single “more offers” link instead of rotating on the cart page.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→ category page click-through rate (CTR)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7000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470001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bounce rate, avg. session duration, cart-page offer engagement rate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1023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08960" y="51023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— must not drop when offers move to cart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504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550468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A/B, 50/50 split, homepage template-level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9070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runtime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08960" y="590702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full business cycles (incl. weekend) or until sample size reached — no early peeking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5361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+4–6%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E4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</a:t>
            </a:r>
            <a:r>
              <a:rPr lang="en-US" sz="1100" dirty="0" err="1">
                <a:solidFill>
                  <a:srgbClr val="E4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homepage→category</a:t>
            </a:r>
            <a:r>
              <a:rPr lang="en-US" sz="1100" dirty="0">
                <a:solidFill>
                  <a:srgbClr val="E4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CTR lift (H1) from one consistent offer vs. a 4-5 way rotation*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26280" y="15361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+2–5%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26280" y="2240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chat-to-checkout lift (H2) once AI recs are capped + nudged*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0" y="15361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229600" y="2240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tech debt — both tests reuse existing banner &amp; chat components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Directional estimates from published CRO benchmarks on message consistency and guided-recommendation flows; to be validated against Minimalist's own analytics once each test ships.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wins: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single-offer pattern to the app homepage and category pages; apply the same “one primary CTA” logic to the AI chat's recommendation cards (instead of “Add”, “View Collection”; feed both learnings into checkout-page messaging hierarchy.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loses/flat: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conclude offer consistency doesn't matter — test which single offer to feature first (bundle vs. sitewide %), and test nudge copy/placement variants (sticky vs. inline “Continue to Checkout”) before shelving H2.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4754880"/>
          </a:xfrm>
          <a:prstGeom prst="roundRect">
            <a:avLst>
              <a:gd name="adj" fmla="val 2597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Analytics/RCAs &amp; Signal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 (funnels, exploration reports), Shopify, GoKwik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Clarity (heatmaps, session recordings, rage-clicks)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Hotjar (heatmaps, feedback widgets)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20440" cy="4754880"/>
          </a:xfrm>
          <a:prstGeom prst="roundRect">
            <a:avLst>
              <a:gd name="adj" fmla="val 2597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Platform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storefront structure &amp; PDP mechanics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wireframing for test variants, Figma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learning: A/B test tooling, statistical significance &amp; sample-size math, VWO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20440" cy="4754880"/>
          </a:xfrm>
          <a:prstGeom prst="roundRect">
            <a:avLst>
              <a:gd name="adj" fmla="val 2597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27532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75320" y="22860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Communication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301752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writing (Because/We believe/Measured by)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/ PIE prioritization scoring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read-outs &amp; test/impact/outcome documentation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keep converting.</a:t>
            </a:r>
            <a:b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browsers into buyers at every step of the journey.</a:t>
            </a:r>
            <a:endParaRPr lang="en-US" sz="3800" i="1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the opportunity to walk through this. I'd love to bring this same rigor — sense, structured reasoning, business acumen, hypothesize, prioritize, test, learn — to OptiPhoenix's client programs.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C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 Ghetia   •   kemighetia@gmail.com   •   +91-7016210932   • https://www.linkedin.com/in/kemi-ghetia-4968a4263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2106</Words>
  <Application>Microsoft Office PowerPoint</Application>
  <PresentationFormat>Custom</PresentationFormat>
  <Paragraphs>201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Kemi Ghetia</cp:lastModifiedBy>
  <cp:revision>16</cp:revision>
  <dcterms:created xsi:type="dcterms:W3CDTF">2026-07-26T17:07:56Z</dcterms:created>
  <dcterms:modified xsi:type="dcterms:W3CDTF">2026-07-26T18:58:19Z</dcterms:modified>
</cp:coreProperties>
</file>