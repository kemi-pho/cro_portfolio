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6" r:id="rId4"/>
    <p:sldId id="270" r:id="rId5"/>
    <p:sldId id="271" r:id="rId6"/>
    <p:sldId id="272" r:id="rId7"/>
    <p:sldId id="258" r:id="rId8"/>
    <p:sldId id="259" r:id="rId9"/>
    <p:sldId id="260" r:id="rId10"/>
    <p:sldId id="261" r:id="rId11"/>
    <p:sldId id="262" r:id="rId12"/>
    <p:sldId id="263" r:id="rId13"/>
    <p:sldId id="264"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67"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547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eeman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www.linkedin.com/in/kemi-ghetia-4968a4263"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028090">
              <a:alpha val="28000"/>
            </a:srgbClr>
          </a:solidFill>
          <a:ln/>
        </p:spPr>
        <p:txBody>
          <a:bodyPr/>
          <a:lstStyle/>
          <a:p>
            <a:endParaRPr lang="en-IN"/>
          </a:p>
        </p:txBody>
      </p:sp>
      <p:sp>
        <p:nvSpPr>
          <p:cNvPr id="3" name="Text 1"/>
          <p:cNvSpPr/>
          <p:nvPr/>
        </p:nvSpPr>
        <p:spPr>
          <a:xfrm>
            <a:off x="737235" y="2115502"/>
            <a:ext cx="9144000" cy="365760"/>
          </a:xfrm>
          <a:prstGeom prst="rect">
            <a:avLst/>
          </a:prstGeom>
          <a:noFill/>
          <a:ln/>
        </p:spPr>
        <p:txBody>
          <a:bodyPr wrap="square"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INDEPENDENT CRO AUDIT REPORT</a:t>
            </a:r>
            <a:endParaRPr lang="en-US" sz="1300" dirty="0"/>
          </a:p>
        </p:txBody>
      </p:sp>
      <p:sp>
        <p:nvSpPr>
          <p:cNvPr id="4" name="Text 2"/>
          <p:cNvSpPr/>
          <p:nvPr/>
        </p:nvSpPr>
        <p:spPr>
          <a:xfrm>
            <a:off x="777240" y="2468880"/>
            <a:ext cx="100584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hlinkClick r:id="rId3"/>
              </a:rPr>
              <a:t>Neeman's</a:t>
            </a:r>
            <a:endParaRPr lang="en-US" sz="4400" dirty="0"/>
          </a:p>
        </p:txBody>
      </p:sp>
      <p:sp>
        <p:nvSpPr>
          <p:cNvPr id="5" name="Text 3"/>
          <p:cNvSpPr/>
          <p:nvPr/>
        </p:nvSpPr>
        <p:spPr>
          <a:xfrm>
            <a:off x="737235" y="3451860"/>
            <a:ext cx="8686800" cy="640080"/>
          </a:xfrm>
          <a:prstGeom prst="rect">
            <a:avLst/>
          </a:prstGeom>
          <a:noFill/>
          <a:ln/>
        </p:spPr>
        <p:txBody>
          <a:bodyPr wrap="square" rtlCol="0" anchor="ctr"/>
          <a:lstStyle/>
          <a:p>
            <a:pPr marL="0" indent="0">
              <a:buNone/>
            </a:pPr>
            <a:r>
              <a:rPr lang="en-US" sz="1400" dirty="0">
                <a:solidFill>
                  <a:srgbClr val="CADCDC"/>
                </a:solidFill>
                <a:latin typeface="Calibri" pitchFamily="34" charset="0"/>
                <a:ea typeface="Calibri" pitchFamily="34" charset="-122"/>
                <a:cs typeface="Calibri" pitchFamily="34" charset="-120"/>
              </a:rPr>
              <a:t>Sustainable footwear D2C brand — independent conversion audit of the homepage, PLP, and PDP experience.</a:t>
            </a:r>
            <a:endParaRPr lang="en-US" sz="1400" dirty="0"/>
          </a:p>
        </p:txBody>
      </p:sp>
      <p:sp>
        <p:nvSpPr>
          <p:cNvPr id="6" name="Shape 4"/>
          <p:cNvSpPr/>
          <p:nvPr/>
        </p:nvSpPr>
        <p:spPr>
          <a:xfrm>
            <a:off x="822960" y="5394960"/>
            <a:ext cx="8686800" cy="0"/>
          </a:xfrm>
          <a:prstGeom prst="line">
            <a:avLst/>
          </a:prstGeom>
          <a:noFill/>
          <a:ln w="12700">
            <a:solidFill>
              <a:srgbClr val="1E3A3F"/>
            </a:solidFill>
            <a:prstDash val="solid"/>
          </a:ln>
        </p:spPr>
        <p:txBody>
          <a:bodyPr/>
          <a:lstStyle/>
          <a:p>
            <a:endParaRPr lang="en-IN"/>
          </a:p>
        </p:txBody>
      </p:sp>
      <p:sp>
        <p:nvSpPr>
          <p:cNvPr id="7" name="Text 5"/>
          <p:cNvSpPr/>
          <p:nvPr/>
        </p:nvSpPr>
        <p:spPr>
          <a:xfrm>
            <a:off x="822960" y="5486400"/>
            <a:ext cx="8869680" cy="822960"/>
          </a:xfrm>
          <a:prstGeom prst="rect">
            <a:avLst/>
          </a:prstGeom>
          <a:noFill/>
          <a:ln/>
        </p:spPr>
        <p:txBody>
          <a:bodyPr wrap="square" rtlCol="0" anchor="t"/>
          <a:lstStyle/>
          <a:p>
            <a:pPr marL="0" indent="0">
              <a:buNone/>
            </a:pPr>
            <a:r>
              <a:rPr lang="en-US" sz="950" i="1" dirty="0">
                <a:solidFill>
                  <a:srgbClr val="9FB8B6"/>
                </a:solidFill>
                <a:latin typeface="Calibri" pitchFamily="34" charset="0"/>
                <a:ea typeface="Calibri" pitchFamily="34" charset="-122"/>
                <a:cs typeface="Calibri" pitchFamily="34" charset="-120"/>
              </a:rPr>
              <a:t>This is independent, outside-in research based only on publicly visible pages on neemans.com. It does not draw on any insider knowledge of Neeman's actual CRO program, prior test results, or internal data, and any specific figures cited are illustrative estimates, not measured outcomes.</a:t>
            </a:r>
            <a:endParaRPr lang="en-US" sz="950" dirty="0"/>
          </a:p>
        </p:txBody>
      </p:sp>
      <p:sp>
        <p:nvSpPr>
          <p:cNvPr id="8" name="Text 6"/>
          <p:cNvSpPr/>
          <p:nvPr/>
        </p:nvSpPr>
        <p:spPr>
          <a:xfrm>
            <a:off x="822960" y="6446520"/>
            <a:ext cx="9144000" cy="320040"/>
          </a:xfrm>
          <a:prstGeom prst="rect">
            <a:avLst/>
          </a:prstGeom>
          <a:noFill/>
          <a:ln/>
        </p:spPr>
        <p:txBody>
          <a:bodyPr wrap="square" rtlCol="0" anchor="ctr"/>
          <a:lstStyle/>
          <a:p>
            <a:pPr marL="0" indent="0">
              <a:buNone/>
            </a:pPr>
            <a:r>
              <a:rPr lang="en-US" sz="1000" dirty="0">
                <a:solidFill>
                  <a:schemeClr val="bg1"/>
                </a:solidFill>
                <a:latin typeface="Calibri" pitchFamily="34" charset="0"/>
                <a:ea typeface="Calibri" pitchFamily="34" charset="-122"/>
                <a:cs typeface="Calibri" pitchFamily="34" charset="-120"/>
              </a:rPr>
              <a:t>Prepared by Kemi Ghetia  •  CRO Growth Analyst  •  July 2026</a:t>
            </a:r>
            <a:endParaRPr lang="en-US" sz="1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01 — EXECUTIVE SUMMARY</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Diagnosis</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Most websites leak 10-20% of potential revenue through friction, hesitation, or misaligned messaging — this audit locates where that's most likely happening for Neeman's.</a:t>
            </a:r>
            <a:endParaRPr lang="en-US" sz="1200" dirty="0"/>
          </a:p>
        </p:txBody>
      </p:sp>
      <p:sp>
        <p:nvSpPr>
          <p:cNvPr id="5" name="Text 3"/>
          <p:cNvSpPr/>
          <p:nvPr/>
        </p:nvSpPr>
        <p:spPr>
          <a:xfrm>
            <a:off x="640080" y="1783080"/>
            <a:ext cx="10881360" cy="1463040"/>
          </a:xfrm>
          <a:prstGeom prst="rect">
            <a:avLst/>
          </a:prstGeom>
          <a:noFill/>
          <a:ln/>
        </p:spPr>
        <p:txBody>
          <a:bodyPr wrap="square" rtlCol="0" anchor="t"/>
          <a:lstStyle/>
          <a:p>
            <a:pPr marL="0" indent="0">
              <a:buNone/>
            </a:pPr>
            <a:r>
              <a:rPr lang="en-US" sz="1250" dirty="0">
                <a:solidFill>
                  <a:srgbClr val="1F2A33"/>
                </a:solidFill>
                <a:latin typeface="Calibri" pitchFamily="34" charset="0"/>
                <a:ea typeface="Calibri" pitchFamily="34" charset="-122"/>
                <a:cs typeface="Calibri" pitchFamily="34" charset="-120"/>
              </a:rPr>
              <a:t>Neeman's has a strong foundation: a clear sustainability story (recycled plastic bottles turned into shoes), a 4.7-star rating, and an omnichannel presence with physical stores. But two things work against that foundation converting as well as it could: policy messaging is inconsistent across pages (return/exchange windows are stated differently in different places), and near-constant 40-76% discount framing across almost every product risks eroding the price credibility a sustainability-led premium brand needs. Inconsistent placement of product cards on collection page underserves the actual purpose. </a:t>
            </a:r>
            <a:endParaRPr lang="en-US" sz="1250" dirty="0"/>
          </a:p>
        </p:txBody>
      </p:sp>
      <p:sp>
        <p:nvSpPr>
          <p:cNvPr id="6" name="Shape 4"/>
          <p:cNvSpPr/>
          <p:nvPr/>
        </p:nvSpPr>
        <p:spPr>
          <a:xfrm>
            <a:off x="640080" y="3076956"/>
            <a:ext cx="2606040" cy="1371600"/>
          </a:xfrm>
          <a:prstGeom prst="roundRect">
            <a:avLst>
              <a:gd name="adj" fmla="val 5333"/>
            </a:avLst>
          </a:prstGeom>
          <a:solidFill>
            <a:srgbClr val="028090"/>
          </a:solidFill>
          <a:ln/>
        </p:spPr>
        <p:txBody>
          <a:bodyPr/>
          <a:lstStyle/>
          <a:p>
            <a:endParaRPr lang="en-IN"/>
          </a:p>
        </p:txBody>
      </p:sp>
      <p:sp>
        <p:nvSpPr>
          <p:cNvPr id="7" name="Text 5"/>
          <p:cNvSpPr/>
          <p:nvPr/>
        </p:nvSpPr>
        <p:spPr>
          <a:xfrm>
            <a:off x="777240" y="3195828"/>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4.7★</a:t>
            </a:r>
            <a:endParaRPr lang="en-US" sz="2000" dirty="0"/>
          </a:p>
        </p:txBody>
      </p:sp>
      <p:sp>
        <p:nvSpPr>
          <p:cNvPr id="8" name="Text 6"/>
          <p:cNvSpPr/>
          <p:nvPr/>
        </p:nvSpPr>
        <p:spPr>
          <a:xfrm>
            <a:off x="777240" y="3717036"/>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Average product rating shown sitewide</a:t>
            </a:r>
            <a:endParaRPr lang="en-US" sz="950" dirty="0"/>
          </a:p>
        </p:txBody>
      </p:sp>
      <p:sp>
        <p:nvSpPr>
          <p:cNvPr id="9" name="Shape 7"/>
          <p:cNvSpPr/>
          <p:nvPr/>
        </p:nvSpPr>
        <p:spPr>
          <a:xfrm>
            <a:off x="3410712" y="3076956"/>
            <a:ext cx="2606040" cy="1371600"/>
          </a:xfrm>
          <a:prstGeom prst="roundRect">
            <a:avLst>
              <a:gd name="adj" fmla="val 5333"/>
            </a:avLst>
          </a:prstGeom>
          <a:solidFill>
            <a:srgbClr val="028090"/>
          </a:solidFill>
          <a:ln/>
        </p:spPr>
        <p:txBody>
          <a:bodyPr/>
          <a:lstStyle/>
          <a:p>
            <a:endParaRPr lang="en-IN"/>
          </a:p>
        </p:txBody>
      </p:sp>
      <p:sp>
        <p:nvSpPr>
          <p:cNvPr id="10" name="Text 8"/>
          <p:cNvSpPr/>
          <p:nvPr/>
        </p:nvSpPr>
        <p:spPr>
          <a:xfrm>
            <a:off x="3547872" y="3195828"/>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40-76%</a:t>
            </a:r>
            <a:endParaRPr lang="en-US" sz="2000" dirty="0"/>
          </a:p>
        </p:txBody>
      </p:sp>
      <p:sp>
        <p:nvSpPr>
          <p:cNvPr id="11" name="Text 9"/>
          <p:cNvSpPr/>
          <p:nvPr/>
        </p:nvSpPr>
        <p:spPr>
          <a:xfrm>
            <a:off x="3547872" y="3717036"/>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Discount range shown on nearly every product</a:t>
            </a:r>
            <a:endParaRPr lang="en-US" sz="950" dirty="0"/>
          </a:p>
        </p:txBody>
      </p:sp>
      <p:sp>
        <p:nvSpPr>
          <p:cNvPr id="12" name="Shape 10"/>
          <p:cNvSpPr/>
          <p:nvPr/>
        </p:nvSpPr>
        <p:spPr>
          <a:xfrm>
            <a:off x="6181344" y="3076956"/>
            <a:ext cx="2606040" cy="1371600"/>
          </a:xfrm>
          <a:prstGeom prst="roundRect">
            <a:avLst>
              <a:gd name="adj" fmla="val 5333"/>
            </a:avLst>
          </a:prstGeom>
          <a:solidFill>
            <a:srgbClr val="028090"/>
          </a:solidFill>
          <a:ln/>
        </p:spPr>
        <p:txBody>
          <a:bodyPr/>
          <a:lstStyle/>
          <a:p>
            <a:endParaRPr lang="en-IN"/>
          </a:p>
        </p:txBody>
      </p:sp>
      <p:sp>
        <p:nvSpPr>
          <p:cNvPr id="13" name="Text 11"/>
          <p:cNvSpPr/>
          <p:nvPr/>
        </p:nvSpPr>
        <p:spPr>
          <a:xfrm>
            <a:off x="6318504" y="3195828"/>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7 vs 30</a:t>
            </a:r>
            <a:endParaRPr lang="en-US" sz="2000" dirty="0"/>
          </a:p>
        </p:txBody>
      </p:sp>
      <p:sp>
        <p:nvSpPr>
          <p:cNvPr id="14" name="Text 12"/>
          <p:cNvSpPr/>
          <p:nvPr/>
        </p:nvSpPr>
        <p:spPr>
          <a:xfrm>
            <a:off x="6318504" y="3717036"/>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Conflicting exchange-window figures across pages</a:t>
            </a:r>
            <a:endParaRPr lang="en-US" sz="950" dirty="0"/>
          </a:p>
        </p:txBody>
      </p:sp>
      <p:sp>
        <p:nvSpPr>
          <p:cNvPr id="15" name="Shape 13"/>
          <p:cNvSpPr/>
          <p:nvPr/>
        </p:nvSpPr>
        <p:spPr>
          <a:xfrm>
            <a:off x="8951976" y="3076956"/>
            <a:ext cx="2606040" cy="1371600"/>
          </a:xfrm>
          <a:prstGeom prst="roundRect">
            <a:avLst>
              <a:gd name="adj" fmla="val 5333"/>
            </a:avLst>
          </a:prstGeom>
          <a:solidFill>
            <a:srgbClr val="028090"/>
          </a:solidFill>
          <a:ln/>
        </p:spPr>
        <p:txBody>
          <a:bodyPr/>
          <a:lstStyle/>
          <a:p>
            <a:endParaRPr lang="en-IN"/>
          </a:p>
        </p:txBody>
      </p:sp>
      <p:sp>
        <p:nvSpPr>
          <p:cNvPr id="16" name="Text 14"/>
          <p:cNvSpPr/>
          <p:nvPr/>
        </p:nvSpPr>
        <p:spPr>
          <a:xfrm>
            <a:off x="9089136" y="3195828"/>
            <a:ext cx="233172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3.2M+</a:t>
            </a:r>
            <a:endParaRPr lang="en-US" sz="2000" dirty="0"/>
          </a:p>
        </p:txBody>
      </p:sp>
      <p:sp>
        <p:nvSpPr>
          <p:cNvPr id="17" name="Text 15"/>
          <p:cNvSpPr/>
          <p:nvPr/>
        </p:nvSpPr>
        <p:spPr>
          <a:xfrm>
            <a:off x="9089136" y="3717036"/>
            <a:ext cx="2331720" cy="640080"/>
          </a:xfrm>
          <a:prstGeom prst="rect">
            <a:avLst/>
          </a:prstGeom>
          <a:noFill/>
          <a:ln/>
        </p:spPr>
        <p:txBody>
          <a:bodyPr wrap="square" rtlCol="0" anchor="t"/>
          <a:lstStyle/>
          <a:p>
            <a:pPr marL="0" indent="0">
              <a:buNone/>
            </a:pPr>
            <a:r>
              <a:rPr lang="en-US" sz="950" dirty="0">
                <a:solidFill>
                  <a:srgbClr val="E4F6F4"/>
                </a:solidFill>
                <a:latin typeface="Calibri" pitchFamily="34" charset="0"/>
                <a:ea typeface="Calibri" pitchFamily="34" charset="-122"/>
                <a:cs typeface="Calibri" pitchFamily="34" charset="-120"/>
              </a:rPr>
              <a:t>Plastic bottles recycled (brand's own claim)</a:t>
            </a:r>
            <a:endParaRPr lang="en-US" sz="950" dirty="0"/>
          </a:p>
        </p:txBody>
      </p:sp>
      <p:sp>
        <p:nvSpPr>
          <p:cNvPr id="18" name="Shape 16"/>
          <p:cNvSpPr/>
          <p:nvPr/>
        </p:nvSpPr>
        <p:spPr>
          <a:xfrm>
            <a:off x="640080" y="4919472"/>
            <a:ext cx="10881360" cy="1188720"/>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19" name="Text 17"/>
          <p:cNvSpPr/>
          <p:nvPr/>
        </p:nvSpPr>
        <p:spPr>
          <a:xfrm>
            <a:off x="822960" y="5038344"/>
            <a:ext cx="10058400" cy="32004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Top-line recommendation</a:t>
            </a:r>
            <a:endParaRPr lang="en-US" sz="1200" dirty="0"/>
          </a:p>
        </p:txBody>
      </p:sp>
      <p:sp>
        <p:nvSpPr>
          <p:cNvPr id="20" name="Text 18"/>
          <p:cNvSpPr/>
          <p:nvPr/>
        </p:nvSpPr>
        <p:spPr>
          <a:xfrm>
            <a:off x="822960" y="5349240"/>
            <a:ext cx="10332720" cy="68580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Fix policy-messaging consistency first (near-zero cost, removes a real anxiety trigger), then test a credibility-first pricing approach before assuming deeper discounts always win.</a:t>
            </a:r>
            <a:endParaRPr lang="en-US" sz="1150" dirty="0"/>
          </a:p>
        </p:txBody>
      </p:sp>
      <p:sp>
        <p:nvSpPr>
          <p:cNvPr id="21" name="Text 19"/>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22" name="Text 20"/>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2 of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08A99C-DE26-1E9A-CAD5-7CC57A77054F}"/>
              </a:ext>
            </a:extLst>
          </p:cNvPr>
          <p:cNvPicPr>
            <a:picLocks noChangeAspect="1"/>
          </p:cNvPicPr>
          <p:nvPr/>
        </p:nvPicPr>
        <p:blipFill>
          <a:blip r:embed="rId2"/>
          <a:stretch>
            <a:fillRect/>
          </a:stretch>
        </p:blipFill>
        <p:spPr>
          <a:xfrm>
            <a:off x="470952" y="178439"/>
            <a:ext cx="5489060" cy="2836072"/>
          </a:xfrm>
          <a:prstGeom prst="rect">
            <a:avLst/>
          </a:prstGeom>
        </p:spPr>
      </p:pic>
      <p:pic>
        <p:nvPicPr>
          <p:cNvPr id="5" name="Picture 4">
            <a:extLst>
              <a:ext uri="{FF2B5EF4-FFF2-40B4-BE49-F238E27FC236}">
                <a16:creationId xmlns:a16="http://schemas.microsoft.com/office/drawing/2014/main" id="{E1814253-A692-035D-A2B0-4BD6F8E3C1C2}"/>
              </a:ext>
            </a:extLst>
          </p:cNvPr>
          <p:cNvPicPr>
            <a:picLocks noChangeAspect="1"/>
          </p:cNvPicPr>
          <p:nvPr/>
        </p:nvPicPr>
        <p:blipFill>
          <a:blip r:embed="rId3"/>
          <a:stretch>
            <a:fillRect/>
          </a:stretch>
        </p:blipFill>
        <p:spPr>
          <a:xfrm>
            <a:off x="6288258" y="220395"/>
            <a:ext cx="5300170" cy="3328864"/>
          </a:xfrm>
          <a:prstGeom prst="rect">
            <a:avLst/>
          </a:prstGeom>
        </p:spPr>
      </p:pic>
      <p:pic>
        <p:nvPicPr>
          <p:cNvPr id="7" name="Picture 6">
            <a:extLst>
              <a:ext uri="{FF2B5EF4-FFF2-40B4-BE49-F238E27FC236}">
                <a16:creationId xmlns:a16="http://schemas.microsoft.com/office/drawing/2014/main" id="{98F9DD07-3E5D-1E27-9250-7DF0CC132F08}"/>
              </a:ext>
            </a:extLst>
          </p:cNvPr>
          <p:cNvPicPr>
            <a:picLocks noChangeAspect="1"/>
          </p:cNvPicPr>
          <p:nvPr/>
        </p:nvPicPr>
        <p:blipFill>
          <a:blip r:embed="rId4"/>
          <a:srcRect l="709"/>
          <a:stretch>
            <a:fillRect/>
          </a:stretch>
        </p:blipFill>
        <p:spPr>
          <a:xfrm>
            <a:off x="470952" y="3281885"/>
            <a:ext cx="5228553" cy="2049881"/>
          </a:xfrm>
          <a:prstGeom prst="rect">
            <a:avLst/>
          </a:prstGeom>
        </p:spPr>
      </p:pic>
      <p:pic>
        <p:nvPicPr>
          <p:cNvPr id="9" name="Picture 8">
            <a:extLst>
              <a:ext uri="{FF2B5EF4-FFF2-40B4-BE49-F238E27FC236}">
                <a16:creationId xmlns:a16="http://schemas.microsoft.com/office/drawing/2014/main" id="{1265C909-3894-0C56-6BA7-7F23280CAC9D}"/>
              </a:ext>
            </a:extLst>
          </p:cNvPr>
          <p:cNvPicPr>
            <a:picLocks noChangeAspect="1"/>
          </p:cNvPicPr>
          <p:nvPr/>
        </p:nvPicPr>
        <p:blipFill>
          <a:blip r:embed="rId5"/>
          <a:stretch>
            <a:fillRect/>
          </a:stretch>
        </p:blipFill>
        <p:spPr>
          <a:xfrm>
            <a:off x="650721" y="5444395"/>
            <a:ext cx="5129522" cy="1080421"/>
          </a:xfrm>
          <a:prstGeom prst="rect">
            <a:avLst/>
          </a:prstGeom>
        </p:spPr>
      </p:pic>
      <p:pic>
        <p:nvPicPr>
          <p:cNvPr id="13" name="Picture 12">
            <a:extLst>
              <a:ext uri="{FF2B5EF4-FFF2-40B4-BE49-F238E27FC236}">
                <a16:creationId xmlns:a16="http://schemas.microsoft.com/office/drawing/2014/main" id="{13349F0C-DD43-93E8-A9D1-6FE28515D7FB}"/>
              </a:ext>
            </a:extLst>
          </p:cNvPr>
          <p:cNvPicPr>
            <a:picLocks noChangeAspect="1"/>
          </p:cNvPicPr>
          <p:nvPr/>
        </p:nvPicPr>
        <p:blipFill>
          <a:blip r:embed="rId6"/>
          <a:stretch>
            <a:fillRect/>
          </a:stretch>
        </p:blipFill>
        <p:spPr>
          <a:xfrm>
            <a:off x="6327801" y="3644528"/>
            <a:ext cx="4966491" cy="2993077"/>
          </a:xfrm>
          <a:prstGeom prst="rect">
            <a:avLst/>
          </a:prstGeom>
        </p:spPr>
      </p:pic>
    </p:spTree>
    <p:extLst>
      <p:ext uri="{BB962C8B-B14F-4D97-AF65-F5344CB8AC3E}">
        <p14:creationId xmlns:p14="http://schemas.microsoft.com/office/powerpoint/2010/main" val="194603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1668" y="457200"/>
            <a:ext cx="9601200" cy="640080"/>
          </a:xfrm>
          <a:prstGeom prst="rect">
            <a:avLst/>
          </a:prstGeom>
          <a:noFill/>
          <a:ln/>
        </p:spPr>
        <p:txBody>
          <a:bodyPr wrap="square" rtlCol="0" anchor="ctr"/>
          <a:lstStyle/>
          <a:p>
            <a:r>
              <a:rPr lang="en-US" sz="2800" b="1" dirty="0">
                <a:solidFill>
                  <a:srgbClr val="1F2A33"/>
                </a:solidFill>
                <a:latin typeface="Cambria" pitchFamily="34" charset="0"/>
                <a:ea typeface="Cambria" pitchFamily="34" charset="-122"/>
                <a:cs typeface="Cambria" pitchFamily="34" charset="-120"/>
              </a:rPr>
              <a:t>What I Found: Friction Points</a:t>
            </a:r>
            <a:endParaRPr lang="en-US" sz="2800" dirty="0"/>
          </a:p>
        </p:txBody>
      </p:sp>
      <p:sp>
        <p:nvSpPr>
          <p:cNvPr id="3" name="Text 1"/>
          <p:cNvSpPr/>
          <p:nvPr/>
        </p:nvSpPr>
        <p:spPr>
          <a:xfrm>
            <a:off x="641668" y="1051560"/>
            <a:ext cx="10058400" cy="365760"/>
          </a:xfrm>
          <a:prstGeom prst="rect">
            <a:avLst/>
          </a:prstGeom>
          <a:noFill/>
          <a:ln/>
        </p:spPr>
        <p:txBody>
          <a:bodyPr wrap="square" rtlCol="0" anchor="ctr"/>
          <a:lstStyle/>
          <a:p>
            <a:r>
              <a:rPr lang="en-US" sz="1300" i="1" dirty="0">
                <a:solidFill>
                  <a:srgbClr val="6B7280"/>
                </a:solidFill>
                <a:latin typeface="Calibri" pitchFamily="34" charset="0"/>
                <a:ea typeface="Calibri" pitchFamily="34" charset="-122"/>
                <a:cs typeface="Calibri" pitchFamily="34" charset="-120"/>
              </a:rPr>
              <a:t>Heuristic + behavioural-signal review of homepage &amp; navigation (mobile + desktop)</a:t>
            </a:r>
            <a:endParaRPr lang="en-US" sz="1300" dirty="0"/>
          </a:p>
        </p:txBody>
      </p:sp>
      <p:sp>
        <p:nvSpPr>
          <p:cNvPr id="4" name="Shape 2"/>
          <p:cNvSpPr/>
          <p:nvPr/>
        </p:nvSpPr>
        <p:spPr>
          <a:xfrm>
            <a:off x="641668" y="1691640"/>
            <a:ext cx="502920" cy="502920"/>
          </a:xfrm>
          <a:prstGeom prst="roundRect">
            <a:avLst>
              <a:gd name="adj" fmla="val 14545"/>
            </a:avLst>
          </a:prstGeom>
          <a:solidFill>
            <a:srgbClr val="028090"/>
          </a:solidFill>
          <a:ln/>
        </p:spPr>
        <p:txBody>
          <a:bodyPr/>
          <a:lstStyle/>
          <a:p>
            <a:endParaRPr lang="en-IN"/>
          </a:p>
        </p:txBody>
      </p:sp>
      <p:sp>
        <p:nvSpPr>
          <p:cNvPr id="5" name="Text 3"/>
          <p:cNvSpPr/>
          <p:nvPr/>
        </p:nvSpPr>
        <p:spPr>
          <a:xfrm>
            <a:off x="641668" y="1691640"/>
            <a:ext cx="502920" cy="502920"/>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27468" y="1645920"/>
            <a:ext cx="9966960" cy="320040"/>
          </a:xfrm>
          <a:prstGeom prst="rect">
            <a:avLst/>
          </a:prstGeom>
          <a:noFill/>
          <a:ln/>
        </p:spPr>
        <p:txBody>
          <a:bodyPr wrap="square" rtlCol="0" anchor="ctr"/>
          <a:lstStyle/>
          <a:p>
            <a:r>
              <a:rPr lang="en-IN" sz="1400" b="1" dirty="0"/>
              <a:t>The "Sale Exclusion" clause likely voids returns for most real customers</a:t>
            </a:r>
            <a:endParaRPr lang="en-US" sz="1400" b="1" dirty="0"/>
          </a:p>
        </p:txBody>
      </p:sp>
      <p:sp>
        <p:nvSpPr>
          <p:cNvPr id="8" name="Shape 6"/>
          <p:cNvSpPr/>
          <p:nvPr/>
        </p:nvSpPr>
        <p:spPr>
          <a:xfrm>
            <a:off x="641668" y="4406471"/>
            <a:ext cx="502920" cy="502920"/>
          </a:xfrm>
          <a:prstGeom prst="roundRect">
            <a:avLst>
              <a:gd name="adj" fmla="val 14545"/>
            </a:avLst>
          </a:prstGeom>
          <a:solidFill>
            <a:srgbClr val="00A896"/>
          </a:solidFill>
          <a:ln/>
        </p:spPr>
        <p:txBody>
          <a:bodyPr/>
          <a:lstStyle/>
          <a:p>
            <a:endParaRPr lang="en-IN"/>
          </a:p>
        </p:txBody>
      </p:sp>
      <p:sp>
        <p:nvSpPr>
          <p:cNvPr id="9" name="Text 7"/>
          <p:cNvSpPr/>
          <p:nvPr/>
        </p:nvSpPr>
        <p:spPr>
          <a:xfrm>
            <a:off x="641668" y="4406471"/>
            <a:ext cx="502920" cy="502920"/>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27468" y="4360751"/>
            <a:ext cx="9966960" cy="320040"/>
          </a:xfrm>
          <a:prstGeom prst="rect">
            <a:avLst/>
          </a:prstGeom>
          <a:noFill/>
          <a:ln/>
        </p:spPr>
        <p:txBody>
          <a:bodyPr wrap="square" rtlCol="0" anchor="ctr"/>
          <a:lstStyle/>
          <a:p>
            <a:r>
              <a:rPr lang="en-IN" sz="1400" b="1" dirty="0"/>
              <a:t>Post-purchase support is split across three disconnected systems</a:t>
            </a:r>
            <a:endParaRPr lang="en-US" sz="1400" b="1" dirty="0"/>
          </a:p>
        </p:txBody>
      </p:sp>
      <p:sp>
        <p:nvSpPr>
          <p:cNvPr id="21" name="Shape 16">
            <a:extLst>
              <a:ext uri="{FF2B5EF4-FFF2-40B4-BE49-F238E27FC236}">
                <a16:creationId xmlns:a16="http://schemas.microsoft.com/office/drawing/2014/main" id="{952D70C9-C0BD-8CF0-F406-FAA470FD5394}"/>
              </a:ext>
            </a:extLst>
          </p:cNvPr>
          <p:cNvSpPr/>
          <p:nvPr/>
        </p:nvSpPr>
        <p:spPr>
          <a:xfrm>
            <a:off x="1268437" y="4680791"/>
            <a:ext cx="10107637" cy="1721064"/>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23" name="Text 9">
            <a:extLst>
              <a:ext uri="{FF2B5EF4-FFF2-40B4-BE49-F238E27FC236}">
                <a16:creationId xmlns:a16="http://schemas.microsoft.com/office/drawing/2014/main" id="{1DA086A2-8CC1-4B2C-A769-DEC908F8EED4}"/>
              </a:ext>
            </a:extLst>
          </p:cNvPr>
          <p:cNvSpPr/>
          <p:nvPr/>
        </p:nvSpPr>
        <p:spPr>
          <a:xfrm>
            <a:off x="1327468" y="4699078"/>
            <a:ext cx="9966960" cy="1848729"/>
          </a:xfrm>
          <a:prstGeom prst="rect">
            <a:avLst/>
          </a:prstGeom>
          <a:noFill/>
          <a:ln/>
        </p:spPr>
        <p:txBody>
          <a:bodyPr wrap="square" rtlCol="0" anchor="t"/>
          <a:lstStyle/>
          <a:p>
            <a:r>
              <a:rPr lang="en-IN" sz="1200" b="1" dirty="0"/>
              <a:t>Issue:</a:t>
            </a:r>
            <a:r>
              <a:rPr lang="en-IN" sz="1200" dirty="0"/>
              <a:t> Returns can be initiated via </a:t>
            </a:r>
            <a:r>
              <a:rPr lang="en-IN" sz="1200" i="1" dirty="0"/>
              <a:t>returns.neemans.com, neemans.returnscenter.com </a:t>
            </a:r>
            <a:r>
              <a:rPr lang="en-IN" sz="1200" dirty="0"/>
              <a:t>(AfterShip), or phone/WhatsApp — with no clear single default, right at the highest-anxiety moment (something's already gone wrong). </a:t>
            </a:r>
            <a:br>
              <a:rPr lang="en-IN" sz="1200" dirty="0"/>
            </a:br>
            <a:br>
              <a:rPr lang="en-IN" sz="1200" dirty="0"/>
            </a:br>
            <a:r>
              <a:rPr lang="en-IN" sz="1200" b="1" dirty="0"/>
              <a:t>Fix:</a:t>
            </a:r>
            <a:r>
              <a:rPr lang="en-IN" sz="1200" dirty="0"/>
              <a:t> Pick one canonical returns portal and route every other channel to it as the "start here" link. </a:t>
            </a:r>
            <a:br>
              <a:rPr lang="en-IN" sz="1200" dirty="0"/>
            </a:br>
            <a:br>
              <a:rPr lang="en-IN" sz="1200" dirty="0"/>
            </a:br>
            <a:r>
              <a:rPr lang="en-IN" sz="1200" b="1" dirty="0"/>
              <a:t>Logic:</a:t>
            </a:r>
            <a:r>
              <a:rPr lang="en-IN" sz="1200" dirty="0"/>
              <a:t> Post-purchase problems are already stressful; forcing a "which system do I use" decision compounds the friction at the worst possible moment. </a:t>
            </a:r>
            <a:br>
              <a:rPr lang="en-IN" sz="1200" dirty="0"/>
            </a:br>
            <a:br>
              <a:rPr lang="en-IN" sz="1200" dirty="0"/>
            </a:br>
            <a:r>
              <a:rPr lang="en-IN" sz="1200" b="1" dirty="0"/>
              <a:t>Impact:</a:t>
            </a:r>
            <a:r>
              <a:rPr lang="en-IN" sz="1200" dirty="0"/>
              <a:t> Faster resolution times, fewer duplicate/abandoned return attempts, lower support-ticket volume.</a:t>
            </a:r>
            <a:endParaRPr lang="en-US" sz="1150" dirty="0"/>
          </a:p>
        </p:txBody>
      </p:sp>
      <p:sp>
        <p:nvSpPr>
          <p:cNvPr id="25" name="Shape 16">
            <a:extLst>
              <a:ext uri="{FF2B5EF4-FFF2-40B4-BE49-F238E27FC236}">
                <a16:creationId xmlns:a16="http://schemas.microsoft.com/office/drawing/2014/main" id="{0F8A6FD9-FF0B-A631-4FD4-B3A51EC20353}"/>
              </a:ext>
            </a:extLst>
          </p:cNvPr>
          <p:cNvSpPr/>
          <p:nvPr/>
        </p:nvSpPr>
        <p:spPr>
          <a:xfrm>
            <a:off x="1240302" y="1921882"/>
            <a:ext cx="10107637" cy="2298425"/>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27" name="Text 5">
            <a:extLst>
              <a:ext uri="{FF2B5EF4-FFF2-40B4-BE49-F238E27FC236}">
                <a16:creationId xmlns:a16="http://schemas.microsoft.com/office/drawing/2014/main" id="{C0FE1691-EAF3-BA81-E1FE-9F0394563F1F}"/>
              </a:ext>
            </a:extLst>
          </p:cNvPr>
          <p:cNvSpPr/>
          <p:nvPr/>
        </p:nvSpPr>
        <p:spPr>
          <a:xfrm>
            <a:off x="1327468" y="1984247"/>
            <a:ext cx="9966960" cy="1799961"/>
          </a:xfrm>
          <a:prstGeom prst="rect">
            <a:avLst/>
          </a:prstGeom>
          <a:noFill/>
          <a:ln/>
        </p:spPr>
        <p:txBody>
          <a:bodyPr wrap="square" rtlCol="0" anchor="t"/>
          <a:lstStyle/>
          <a:p>
            <a:r>
              <a:rPr lang="en-IN" sz="1200" b="1" dirty="0"/>
              <a:t>Issue:</a:t>
            </a:r>
            <a:r>
              <a:rPr lang="en-IN" sz="1200" dirty="0"/>
              <a:t> The shipping/return policy says orders placed during a "Sale period" are exchange-only (size/defect), not eligible for standard returns — but the homepage runs 40-76% off almost constantly. If most purchases happen "during a sale," most customers may be unknowingly forfeiting return rights they think they have. </a:t>
            </a:r>
            <a:br>
              <a:rPr lang="en-IN" sz="1200" dirty="0"/>
            </a:br>
            <a:br>
              <a:rPr lang="en-IN" sz="1200" dirty="0"/>
            </a:br>
            <a:r>
              <a:rPr lang="en-IN" sz="1200" b="1" dirty="0"/>
              <a:t>Fix:</a:t>
            </a:r>
            <a:r>
              <a:rPr lang="en-IN" sz="1200" dirty="0"/>
              <a:t> Show the applicable return policy dynamically at the exact price/cart level ("This order is exchange-only, no refund" shown before checkout), not buried in a separate policy page. </a:t>
            </a:r>
            <a:br>
              <a:rPr lang="en-IN" sz="1200" dirty="0"/>
            </a:br>
            <a:br>
              <a:rPr lang="en-IN" sz="1200" dirty="0"/>
            </a:br>
            <a:r>
              <a:rPr lang="en-IN" sz="1200" b="1" dirty="0"/>
              <a:t>Logic:</a:t>
            </a:r>
            <a:r>
              <a:rPr lang="en-IN" sz="1200" dirty="0"/>
              <a:t> Surfacing the real policy at the moment of decision — not after purchase — turns a hidden "gotcha" into an informed choice, which reduces disputes and rebuilds trust rather than eroding it. Likely a leading factor in order cancellations post-purchase.</a:t>
            </a:r>
            <a:br>
              <a:rPr lang="en-IN" sz="1200" dirty="0"/>
            </a:br>
            <a:br>
              <a:rPr lang="en-IN" sz="1200" dirty="0"/>
            </a:br>
            <a:r>
              <a:rPr lang="en-IN" sz="1200" b="1" dirty="0"/>
              <a:t>Impact:</a:t>
            </a:r>
            <a:r>
              <a:rPr lang="en-IN" sz="1200" dirty="0"/>
              <a:t> Fewer post-purchase support tickets/refund disputes; likely a small dip in checkout rate short-term, but a real gain in repeat-purchase trust &amp; reviews.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7B1927A-7A1B-B26B-7426-AEA1570D6E79}"/>
              </a:ext>
            </a:extLst>
          </p:cNvPr>
          <p:cNvPicPr>
            <a:picLocks noChangeAspect="1"/>
          </p:cNvPicPr>
          <p:nvPr/>
        </p:nvPicPr>
        <p:blipFill>
          <a:blip r:embed="rId2"/>
          <a:srcRect t="6079"/>
          <a:stretch>
            <a:fillRect/>
          </a:stretch>
        </p:blipFill>
        <p:spPr>
          <a:xfrm>
            <a:off x="2227861" y="2361228"/>
            <a:ext cx="5930099" cy="1891903"/>
          </a:xfrm>
          <a:prstGeom prst="rect">
            <a:avLst/>
          </a:prstGeom>
        </p:spPr>
      </p:pic>
      <p:pic>
        <p:nvPicPr>
          <p:cNvPr id="17" name="Picture 16">
            <a:extLst>
              <a:ext uri="{FF2B5EF4-FFF2-40B4-BE49-F238E27FC236}">
                <a16:creationId xmlns:a16="http://schemas.microsoft.com/office/drawing/2014/main" id="{3925A564-D465-D1E5-5852-77C35C55A21A}"/>
              </a:ext>
            </a:extLst>
          </p:cNvPr>
          <p:cNvPicPr>
            <a:picLocks noChangeAspect="1"/>
          </p:cNvPicPr>
          <p:nvPr/>
        </p:nvPicPr>
        <p:blipFill>
          <a:blip r:embed="rId3"/>
          <a:stretch>
            <a:fillRect/>
          </a:stretch>
        </p:blipFill>
        <p:spPr>
          <a:xfrm>
            <a:off x="1058087" y="1287916"/>
            <a:ext cx="8437606" cy="1014394"/>
          </a:xfrm>
          <a:prstGeom prst="rect">
            <a:avLst/>
          </a:prstGeom>
        </p:spPr>
      </p:pic>
      <p:sp>
        <p:nvSpPr>
          <p:cNvPr id="19" name="TextBox 18">
            <a:extLst>
              <a:ext uri="{FF2B5EF4-FFF2-40B4-BE49-F238E27FC236}">
                <a16:creationId xmlns:a16="http://schemas.microsoft.com/office/drawing/2014/main" id="{37E6AC56-821D-8B9B-F0E4-B050FF1E8387}"/>
              </a:ext>
            </a:extLst>
          </p:cNvPr>
          <p:cNvSpPr txBox="1"/>
          <p:nvPr/>
        </p:nvSpPr>
        <p:spPr>
          <a:xfrm>
            <a:off x="1150367" y="686181"/>
            <a:ext cx="4164037" cy="369332"/>
          </a:xfrm>
          <a:prstGeom prst="rect">
            <a:avLst/>
          </a:prstGeom>
          <a:noFill/>
        </p:spPr>
        <p:txBody>
          <a:bodyPr wrap="square">
            <a:spAutoFit/>
          </a:bodyPr>
          <a:lstStyle/>
          <a:p>
            <a:r>
              <a:rPr lang="en-IN" dirty="0"/>
              <a:t>"constant sale" + "no returns during sale"</a:t>
            </a:r>
          </a:p>
        </p:txBody>
      </p:sp>
      <p:pic>
        <p:nvPicPr>
          <p:cNvPr id="21" name="Picture 20">
            <a:extLst>
              <a:ext uri="{FF2B5EF4-FFF2-40B4-BE49-F238E27FC236}">
                <a16:creationId xmlns:a16="http://schemas.microsoft.com/office/drawing/2014/main" id="{0ED6B36F-4601-647F-7BF8-76356A5BC158}"/>
              </a:ext>
            </a:extLst>
          </p:cNvPr>
          <p:cNvPicPr>
            <a:picLocks noChangeAspect="1"/>
          </p:cNvPicPr>
          <p:nvPr/>
        </p:nvPicPr>
        <p:blipFill>
          <a:blip r:embed="rId4"/>
          <a:stretch>
            <a:fillRect/>
          </a:stretch>
        </p:blipFill>
        <p:spPr>
          <a:xfrm>
            <a:off x="999822" y="4362441"/>
            <a:ext cx="9967302" cy="2207171"/>
          </a:xfrm>
          <a:prstGeom prst="rect">
            <a:avLst/>
          </a:prstGeom>
        </p:spPr>
      </p:pic>
    </p:spTree>
    <p:extLst>
      <p:ext uri="{BB962C8B-B14F-4D97-AF65-F5344CB8AC3E}">
        <p14:creationId xmlns:p14="http://schemas.microsoft.com/office/powerpoint/2010/main" val="1644779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0AD1D964-B30D-72A7-4F99-4F9B2D9651B6}"/>
              </a:ext>
            </a:extLst>
          </p:cNvPr>
          <p:cNvSpPr/>
          <p:nvPr/>
        </p:nvSpPr>
        <p:spPr>
          <a:xfrm>
            <a:off x="294493" y="1465277"/>
            <a:ext cx="502920" cy="502920"/>
          </a:xfrm>
          <a:prstGeom prst="roundRect">
            <a:avLst>
              <a:gd name="adj" fmla="val 14545"/>
            </a:avLst>
          </a:prstGeom>
          <a:solidFill>
            <a:srgbClr val="028090"/>
          </a:solidFill>
          <a:ln/>
        </p:spPr>
        <p:txBody>
          <a:bodyPr/>
          <a:lstStyle/>
          <a:p>
            <a:endParaRPr lang="en-IN"/>
          </a:p>
        </p:txBody>
      </p:sp>
      <p:sp>
        <p:nvSpPr>
          <p:cNvPr id="5" name="Text 4">
            <a:extLst>
              <a:ext uri="{FF2B5EF4-FFF2-40B4-BE49-F238E27FC236}">
                <a16:creationId xmlns:a16="http://schemas.microsoft.com/office/drawing/2014/main" id="{A7E74022-D1E8-0A3C-ABE7-67CDA5452484}"/>
              </a:ext>
            </a:extLst>
          </p:cNvPr>
          <p:cNvSpPr/>
          <p:nvPr/>
        </p:nvSpPr>
        <p:spPr>
          <a:xfrm>
            <a:off x="980293" y="1419557"/>
            <a:ext cx="9966960" cy="320040"/>
          </a:xfrm>
          <a:prstGeom prst="rect">
            <a:avLst/>
          </a:prstGeom>
          <a:noFill/>
          <a:ln/>
        </p:spPr>
        <p:txBody>
          <a:bodyPr wrap="square" rtlCol="0" anchor="ctr"/>
          <a:lstStyle/>
          <a:p>
            <a:r>
              <a:rPr lang="en-IN" sz="1400" b="1" dirty="0"/>
              <a:t>Checkout — Payment Method Framing</a:t>
            </a:r>
            <a:r>
              <a:rPr lang="en-IN" sz="1400" dirty="0"/>
              <a:t> </a:t>
            </a:r>
            <a:r>
              <a:rPr lang="en-IN" sz="1400" i="1" dirty="0"/>
              <a:t>(LIFT: Urgency / Clarity)</a:t>
            </a:r>
            <a:endParaRPr lang="en-US" sz="1400" b="1" dirty="0"/>
          </a:p>
        </p:txBody>
      </p:sp>
      <p:sp>
        <p:nvSpPr>
          <p:cNvPr id="7" name="Shape 16">
            <a:extLst>
              <a:ext uri="{FF2B5EF4-FFF2-40B4-BE49-F238E27FC236}">
                <a16:creationId xmlns:a16="http://schemas.microsoft.com/office/drawing/2014/main" id="{4C474A33-6B8F-9B73-4C08-9B9378963614}"/>
              </a:ext>
            </a:extLst>
          </p:cNvPr>
          <p:cNvSpPr/>
          <p:nvPr/>
        </p:nvSpPr>
        <p:spPr>
          <a:xfrm>
            <a:off x="893128" y="1695519"/>
            <a:ext cx="6096394" cy="3033644"/>
          </a:xfrm>
          <a:prstGeom prst="roundRect">
            <a:avLst>
              <a:gd name="adj" fmla="val 6154"/>
            </a:avLst>
          </a:prstGeom>
          <a:solidFill>
            <a:srgbClr val="EAF4F3"/>
          </a:solidFill>
          <a:ln w="12700">
            <a:solidFill>
              <a:srgbClr val="EAF4F3"/>
            </a:solidFill>
            <a:prstDash val="solid"/>
          </a:ln>
        </p:spPr>
        <p:txBody>
          <a:bodyPr/>
          <a:lstStyle/>
          <a:p>
            <a:endParaRPr lang="en-IN"/>
          </a:p>
        </p:txBody>
      </p:sp>
      <p:sp>
        <p:nvSpPr>
          <p:cNvPr id="9" name="Text 5">
            <a:extLst>
              <a:ext uri="{FF2B5EF4-FFF2-40B4-BE49-F238E27FC236}">
                <a16:creationId xmlns:a16="http://schemas.microsoft.com/office/drawing/2014/main" id="{62B6DC08-B0BD-EB14-EF1E-C57E42D869B7}"/>
              </a:ext>
            </a:extLst>
          </p:cNvPr>
          <p:cNvSpPr/>
          <p:nvPr/>
        </p:nvSpPr>
        <p:spPr>
          <a:xfrm>
            <a:off x="980293" y="1757884"/>
            <a:ext cx="6011545" cy="2923654"/>
          </a:xfrm>
          <a:prstGeom prst="rect">
            <a:avLst/>
          </a:prstGeom>
          <a:noFill/>
          <a:ln/>
        </p:spPr>
        <p:txBody>
          <a:bodyPr wrap="square" rtlCol="0" anchor="t"/>
          <a:lstStyle/>
          <a:p>
            <a:r>
              <a:rPr lang="en-IN" sz="1200" b="1" dirty="0"/>
              <a:t>Issue:</a:t>
            </a:r>
            <a:r>
              <a:rPr lang="en-IN" sz="1200" dirty="0"/>
              <a:t> UPI/Cards are priced at ₹2,184.05 (5% off), COD/Wallets/Netbanking/EMI at full ₹2,299 — a real ₹115 gap — but it's only signaled by a small green badge, never stated in rupees. Also corrects an earlier finding: there's no separate COD fee, just a foregone discount. </a:t>
            </a:r>
            <a:br>
              <a:rPr lang="en-IN" sz="1200" dirty="0"/>
            </a:br>
            <a:br>
              <a:rPr lang="en-IN" sz="1200" dirty="0"/>
            </a:br>
            <a:r>
              <a:rPr lang="en-IN" sz="1200" b="1" dirty="0"/>
              <a:t>Fix:</a:t>
            </a:r>
            <a:r>
              <a:rPr lang="en-IN" sz="1200" dirty="0"/>
              <a:t> Change online-payment badges to name the amount ("Save ₹115 — pay online"); keep COD neutral/amber with plain cost disclosure ("Costs ₹115 more"), not red or penalized — footwear is fit-risk, and COD buyers are often the same trust-hesitant customers affected by the return-policy issue mentioned earlier. </a:t>
            </a:r>
            <a:br>
              <a:rPr lang="en-IN" sz="1200" dirty="0"/>
            </a:br>
            <a:br>
              <a:rPr lang="en-IN" sz="1200" dirty="0"/>
            </a:br>
            <a:r>
              <a:rPr lang="en-IN" sz="1200" b="1" dirty="0"/>
              <a:t>Logic:</a:t>
            </a:r>
            <a:r>
              <a:rPr lang="en-IN" sz="1200" dirty="0"/>
              <a:t> Naming the exact rupee loss anchors better than a % badge — to nudge users towards a prepaid purchase. </a:t>
            </a:r>
            <a:br>
              <a:rPr lang="en-IN" sz="1200" dirty="0"/>
            </a:br>
            <a:br>
              <a:rPr lang="en-IN" sz="1200" dirty="0"/>
            </a:br>
            <a:r>
              <a:rPr lang="en-IN" sz="1200" b="1" dirty="0"/>
              <a:t>Impact:</a:t>
            </a:r>
            <a:r>
              <a:rPr lang="en-IN" sz="1200" dirty="0"/>
              <a:t> Shifts marginal price-sensitive buyers to prepaid (cuts Neeman's COD/RTO handling cost too) — guard against a drop in overall checkout completion, and reduce chances of abandonment for first-time anxious buyers.</a:t>
            </a:r>
            <a:endParaRPr lang="en-US" sz="1150" dirty="0"/>
          </a:p>
        </p:txBody>
      </p:sp>
      <p:sp>
        <p:nvSpPr>
          <p:cNvPr id="13" name="TextBox 12">
            <a:extLst>
              <a:ext uri="{FF2B5EF4-FFF2-40B4-BE49-F238E27FC236}">
                <a16:creationId xmlns:a16="http://schemas.microsoft.com/office/drawing/2014/main" id="{C1D0612F-1DB3-ECFE-177B-29354C04EF71}"/>
              </a:ext>
            </a:extLst>
          </p:cNvPr>
          <p:cNvSpPr txBox="1"/>
          <p:nvPr/>
        </p:nvSpPr>
        <p:spPr>
          <a:xfrm>
            <a:off x="-2502047" y="1516682"/>
            <a:ext cx="6096000" cy="400110"/>
          </a:xfrm>
          <a:prstGeom prst="rect">
            <a:avLst/>
          </a:prstGeom>
          <a:noFill/>
        </p:spPr>
        <p:txBody>
          <a:bodyPr wrap="square">
            <a:spAutoFit/>
          </a:bodyPr>
          <a:lstStyle/>
          <a:p>
            <a:pPr algn="ct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19" name="Picture 18">
            <a:extLst>
              <a:ext uri="{FF2B5EF4-FFF2-40B4-BE49-F238E27FC236}">
                <a16:creationId xmlns:a16="http://schemas.microsoft.com/office/drawing/2014/main" id="{08862D68-A2DB-4B66-E410-A80840711253}"/>
              </a:ext>
            </a:extLst>
          </p:cNvPr>
          <p:cNvPicPr>
            <a:picLocks noChangeAspect="1"/>
          </p:cNvPicPr>
          <p:nvPr/>
        </p:nvPicPr>
        <p:blipFill>
          <a:blip r:embed="rId2"/>
          <a:stretch>
            <a:fillRect/>
          </a:stretch>
        </p:blipFill>
        <p:spPr>
          <a:xfrm>
            <a:off x="7172402" y="1136474"/>
            <a:ext cx="2104188" cy="4196453"/>
          </a:xfrm>
          <a:prstGeom prst="rect">
            <a:avLst/>
          </a:prstGeom>
        </p:spPr>
      </p:pic>
      <p:pic>
        <p:nvPicPr>
          <p:cNvPr id="21" name="Picture 20">
            <a:extLst>
              <a:ext uri="{FF2B5EF4-FFF2-40B4-BE49-F238E27FC236}">
                <a16:creationId xmlns:a16="http://schemas.microsoft.com/office/drawing/2014/main" id="{E20FA4FA-CFBF-3AD9-E710-F57271AB29AC}"/>
              </a:ext>
            </a:extLst>
          </p:cNvPr>
          <p:cNvPicPr>
            <a:picLocks noChangeAspect="1"/>
          </p:cNvPicPr>
          <p:nvPr/>
        </p:nvPicPr>
        <p:blipFill>
          <a:blip r:embed="rId3"/>
          <a:stretch>
            <a:fillRect/>
          </a:stretch>
        </p:blipFill>
        <p:spPr>
          <a:xfrm>
            <a:off x="9509830" y="970331"/>
            <a:ext cx="2499854" cy="4609105"/>
          </a:xfrm>
          <a:prstGeom prst="rect">
            <a:avLst/>
          </a:prstGeom>
        </p:spPr>
      </p:pic>
    </p:spTree>
    <p:extLst>
      <p:ext uri="{BB962C8B-B14F-4D97-AF65-F5344CB8AC3E}">
        <p14:creationId xmlns:p14="http://schemas.microsoft.com/office/powerpoint/2010/main" val="834156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02 — METHODOLOGY</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How this audit was built</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Quantitative + qualitative + heuristic — the same three-pronged approach used in a structured CRO program</a:t>
            </a:r>
            <a:endParaRPr lang="en-US" sz="1200" dirty="0"/>
          </a:p>
        </p:txBody>
      </p:sp>
      <p:sp>
        <p:nvSpPr>
          <p:cNvPr id="5" name="Shape 3"/>
          <p:cNvSpPr/>
          <p:nvPr/>
        </p:nvSpPr>
        <p:spPr>
          <a:xfrm>
            <a:off x="640080" y="1828800"/>
            <a:ext cx="10881360" cy="1051560"/>
          </a:xfrm>
          <a:prstGeom prst="roundRect">
            <a:avLst>
              <a:gd name="adj" fmla="val 6957"/>
            </a:avLst>
          </a:prstGeom>
          <a:solidFill>
            <a:srgbClr val="EAF4F3"/>
          </a:solidFill>
          <a:ln w="12700">
            <a:solidFill>
              <a:srgbClr val="EAF4F3"/>
            </a:solidFill>
            <a:prstDash val="solid"/>
          </a:ln>
        </p:spPr>
        <p:txBody>
          <a:bodyPr/>
          <a:lstStyle/>
          <a:p>
            <a:endParaRPr lang="en-IN"/>
          </a:p>
        </p:txBody>
      </p:sp>
      <p:sp>
        <p:nvSpPr>
          <p:cNvPr id="6" name="Text 4"/>
          <p:cNvSpPr/>
          <p:nvPr/>
        </p:nvSpPr>
        <p:spPr>
          <a:xfrm>
            <a:off x="822960" y="1920240"/>
            <a:ext cx="10058400" cy="27432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Quantitative lens</a:t>
            </a:r>
            <a:endParaRPr lang="en-US" sz="1200" dirty="0"/>
          </a:p>
        </p:txBody>
      </p:sp>
      <p:sp>
        <p:nvSpPr>
          <p:cNvPr id="7" name="Text 5"/>
          <p:cNvSpPr/>
          <p:nvPr/>
        </p:nvSpPr>
        <p:spPr>
          <a:xfrm>
            <a:off x="822960" y="2212848"/>
            <a:ext cx="10332720" cy="59436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No direct GA4 access for this audit — in a live engagement, this stage would pull funnel drop-off by step (PLP → PDP → cart → checkout) and flag the highest-leakage step first. Here, structural signals from the site itself stand in for that quantitative layer.</a:t>
            </a:r>
            <a:endParaRPr lang="en-US" sz="1050" dirty="0"/>
          </a:p>
        </p:txBody>
      </p:sp>
      <p:sp>
        <p:nvSpPr>
          <p:cNvPr id="8" name="Shape 6"/>
          <p:cNvSpPr/>
          <p:nvPr/>
        </p:nvSpPr>
        <p:spPr>
          <a:xfrm>
            <a:off x="640080" y="3017520"/>
            <a:ext cx="10881360" cy="1051560"/>
          </a:xfrm>
          <a:prstGeom prst="roundRect">
            <a:avLst>
              <a:gd name="adj" fmla="val 6957"/>
            </a:avLst>
          </a:prstGeom>
          <a:solidFill>
            <a:srgbClr val="EAF4F3"/>
          </a:solidFill>
          <a:ln w="12700">
            <a:solidFill>
              <a:srgbClr val="EAF4F3"/>
            </a:solidFill>
            <a:prstDash val="solid"/>
          </a:ln>
        </p:spPr>
        <p:txBody>
          <a:bodyPr/>
          <a:lstStyle/>
          <a:p>
            <a:endParaRPr lang="en-IN"/>
          </a:p>
        </p:txBody>
      </p:sp>
      <p:sp>
        <p:nvSpPr>
          <p:cNvPr id="9" name="Text 7"/>
          <p:cNvSpPr/>
          <p:nvPr/>
        </p:nvSpPr>
        <p:spPr>
          <a:xfrm>
            <a:off x="822960" y="3108960"/>
            <a:ext cx="10058400" cy="27432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Qualitative lens</a:t>
            </a:r>
            <a:endParaRPr lang="en-US" sz="1200" dirty="0"/>
          </a:p>
        </p:txBody>
      </p:sp>
      <p:sp>
        <p:nvSpPr>
          <p:cNvPr id="10" name="Text 8"/>
          <p:cNvSpPr/>
          <p:nvPr/>
        </p:nvSpPr>
        <p:spPr>
          <a:xfrm>
            <a:off x="822960" y="3401568"/>
            <a:ext cx="10332720" cy="59436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Simulated the first-time buyer path across Men/Women/New/Trending/Best Sellers/Offers, read PDP FAQ accordions (sizing, care, material), and cross-checked policy statements across the FAQ, PDP, and dedicated policy pages for consistency.</a:t>
            </a:r>
            <a:endParaRPr lang="en-US" sz="1050" dirty="0"/>
          </a:p>
        </p:txBody>
      </p:sp>
      <p:sp>
        <p:nvSpPr>
          <p:cNvPr id="11" name="Shape 9"/>
          <p:cNvSpPr/>
          <p:nvPr/>
        </p:nvSpPr>
        <p:spPr>
          <a:xfrm>
            <a:off x="640080" y="4206240"/>
            <a:ext cx="10881360" cy="1051560"/>
          </a:xfrm>
          <a:prstGeom prst="roundRect">
            <a:avLst>
              <a:gd name="adj" fmla="val 6957"/>
            </a:avLst>
          </a:prstGeom>
          <a:solidFill>
            <a:srgbClr val="EAF4F3"/>
          </a:solidFill>
          <a:ln w="12700">
            <a:solidFill>
              <a:srgbClr val="EAF4F3"/>
            </a:solidFill>
            <a:prstDash val="solid"/>
          </a:ln>
        </p:spPr>
        <p:txBody>
          <a:bodyPr/>
          <a:lstStyle/>
          <a:p>
            <a:endParaRPr lang="en-IN"/>
          </a:p>
        </p:txBody>
      </p:sp>
      <p:sp>
        <p:nvSpPr>
          <p:cNvPr id="12" name="Text 10"/>
          <p:cNvSpPr/>
          <p:nvPr/>
        </p:nvSpPr>
        <p:spPr>
          <a:xfrm>
            <a:off x="822960" y="4297680"/>
            <a:ext cx="10058400" cy="27432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Heuristic lens — the LIFT Model</a:t>
            </a:r>
            <a:endParaRPr lang="en-US" sz="1200" dirty="0"/>
          </a:p>
        </p:txBody>
      </p:sp>
      <p:sp>
        <p:nvSpPr>
          <p:cNvPr id="13" name="Text 11"/>
          <p:cNvSpPr/>
          <p:nvPr/>
        </p:nvSpPr>
        <p:spPr>
          <a:xfrm>
            <a:off x="822960" y="4590288"/>
            <a:ext cx="10332720" cy="59436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Every page was scored against WiderFunnel's LIFT Model: Value Proposition, Relevance, Clarity, Anxiety, Distraction, and Urgency — the same framework used industry-wide to structure heuristic CRO evaluations.</a:t>
            </a:r>
            <a:endParaRPr lang="en-US" sz="1050" dirty="0"/>
          </a:p>
        </p:txBody>
      </p:sp>
      <p:sp>
        <p:nvSpPr>
          <p:cNvPr id="14" name="Shape 12"/>
          <p:cNvSpPr/>
          <p:nvPr/>
        </p:nvSpPr>
        <p:spPr>
          <a:xfrm>
            <a:off x="640080" y="5394960"/>
            <a:ext cx="10881360" cy="960120"/>
          </a:xfrm>
          <a:prstGeom prst="roundRect">
            <a:avLst>
              <a:gd name="adj" fmla="val 7619"/>
            </a:avLst>
          </a:prstGeom>
          <a:solidFill>
            <a:srgbClr val="FFF8E8"/>
          </a:solidFill>
          <a:ln w="12700">
            <a:solidFill>
              <a:srgbClr val="F0D98C"/>
            </a:solidFill>
            <a:prstDash val="solid"/>
          </a:ln>
        </p:spPr>
        <p:txBody>
          <a:bodyPr/>
          <a:lstStyle/>
          <a:p>
            <a:endParaRPr lang="en-IN"/>
          </a:p>
        </p:txBody>
      </p:sp>
      <p:sp>
        <p:nvSpPr>
          <p:cNvPr id="15" name="Text 13"/>
          <p:cNvSpPr/>
          <p:nvPr/>
        </p:nvSpPr>
        <p:spPr>
          <a:xfrm>
            <a:off x="822960" y="5486400"/>
            <a:ext cx="10058400" cy="274320"/>
          </a:xfrm>
          <a:prstGeom prst="rect">
            <a:avLst/>
          </a:prstGeom>
          <a:noFill/>
          <a:ln/>
        </p:spPr>
        <p:txBody>
          <a:bodyPr wrap="square" rtlCol="0" anchor="ctr"/>
          <a:lstStyle/>
          <a:p>
            <a:pPr marL="0" indent="0">
              <a:buNone/>
            </a:pPr>
            <a:r>
              <a:rPr lang="en-US" sz="1200" b="1" dirty="0">
                <a:solidFill>
                  <a:srgbClr val="8A6D1D"/>
                </a:solidFill>
                <a:latin typeface="Calibri" pitchFamily="34" charset="0"/>
                <a:ea typeface="Calibri" pitchFamily="34" charset="-122"/>
                <a:cs typeface="Calibri" pitchFamily="34" charset="-120"/>
              </a:rPr>
              <a:t>Scope note</a:t>
            </a:r>
            <a:endParaRPr lang="en-US" sz="1200" dirty="0"/>
          </a:p>
        </p:txBody>
      </p:sp>
      <p:sp>
        <p:nvSpPr>
          <p:cNvPr id="16" name="Text 14"/>
          <p:cNvSpPr/>
          <p:nvPr/>
        </p:nvSpPr>
        <p:spPr>
          <a:xfrm>
            <a:off x="822960" y="5779008"/>
            <a:ext cx="10332720" cy="50292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Everything here came from browsing neemans.com as a customer would — no account access, no internal dashboards. Where a figure is an estimate rather than something measured directly, it's flagged as such.</a:t>
            </a:r>
            <a:endParaRPr lang="en-US" sz="1050" dirty="0"/>
          </a:p>
        </p:txBody>
      </p:sp>
      <p:sp>
        <p:nvSpPr>
          <p:cNvPr id="17" name="Text 15"/>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18" name="Text 16"/>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3 of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03 — HEURISTIC EVALUATION</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LIFT Model Scorecard</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Average score: 6.1/10 — scored the same way across all audits for comparability</a:t>
            </a:r>
            <a:endParaRPr lang="en-US" sz="1200" dirty="0"/>
          </a:p>
        </p:txBody>
      </p:sp>
      <p:sp>
        <p:nvSpPr>
          <p:cNvPr id="5" name="Shape 3"/>
          <p:cNvSpPr/>
          <p:nvPr/>
        </p:nvSpPr>
        <p:spPr>
          <a:xfrm>
            <a:off x="822960" y="1892808"/>
            <a:ext cx="1554480" cy="384048"/>
          </a:xfrm>
          <a:prstGeom prst="roundRect">
            <a:avLst>
              <a:gd name="adj" fmla="val 14286"/>
            </a:avLst>
          </a:prstGeom>
          <a:solidFill>
            <a:srgbClr val="028090"/>
          </a:solidFill>
          <a:ln/>
        </p:spPr>
        <p:txBody>
          <a:bodyPr/>
          <a:lstStyle/>
          <a:p>
            <a:endParaRPr lang="en-IN"/>
          </a:p>
        </p:txBody>
      </p:sp>
      <p:sp>
        <p:nvSpPr>
          <p:cNvPr id="6" name="Text 4"/>
          <p:cNvSpPr/>
          <p:nvPr/>
        </p:nvSpPr>
        <p:spPr>
          <a:xfrm>
            <a:off x="822960" y="1892808"/>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7/10</a:t>
            </a:r>
            <a:endParaRPr lang="en-US" sz="1200" dirty="0"/>
          </a:p>
        </p:txBody>
      </p:sp>
      <p:sp>
        <p:nvSpPr>
          <p:cNvPr id="7" name="Text 5"/>
          <p:cNvSpPr/>
          <p:nvPr/>
        </p:nvSpPr>
        <p:spPr>
          <a:xfrm>
            <a:off x="2514600" y="1874520"/>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Value Proposition</a:t>
            </a:r>
            <a:endParaRPr lang="en-US" sz="1200" dirty="0"/>
          </a:p>
        </p:txBody>
      </p:sp>
      <p:sp>
        <p:nvSpPr>
          <p:cNvPr id="8" name="Text 6"/>
          <p:cNvSpPr/>
          <p:nvPr/>
        </p:nvSpPr>
        <p:spPr>
          <a:xfrm>
            <a:off x="4892040" y="1874520"/>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Sustainability + comfort narrative is clear and differentiated, but constant deep discounting partially undercuts the premium/considered-purchase framing.</a:t>
            </a:r>
            <a:endParaRPr lang="en-US" sz="1050" dirty="0"/>
          </a:p>
        </p:txBody>
      </p:sp>
      <p:sp>
        <p:nvSpPr>
          <p:cNvPr id="9" name="Shape 7"/>
          <p:cNvSpPr/>
          <p:nvPr/>
        </p:nvSpPr>
        <p:spPr>
          <a:xfrm>
            <a:off x="822960" y="2651760"/>
            <a:ext cx="1554480" cy="384048"/>
          </a:xfrm>
          <a:prstGeom prst="roundRect">
            <a:avLst>
              <a:gd name="adj" fmla="val 14286"/>
            </a:avLst>
          </a:prstGeom>
          <a:solidFill>
            <a:srgbClr val="028090"/>
          </a:solidFill>
          <a:ln/>
        </p:spPr>
        <p:txBody>
          <a:bodyPr/>
          <a:lstStyle/>
          <a:p>
            <a:endParaRPr lang="en-IN"/>
          </a:p>
        </p:txBody>
      </p:sp>
      <p:sp>
        <p:nvSpPr>
          <p:cNvPr id="10" name="Text 8"/>
          <p:cNvSpPr/>
          <p:nvPr/>
        </p:nvSpPr>
        <p:spPr>
          <a:xfrm>
            <a:off x="822960" y="2651760"/>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9/10</a:t>
            </a:r>
            <a:endParaRPr lang="en-US" sz="1200" dirty="0"/>
          </a:p>
        </p:txBody>
      </p:sp>
      <p:sp>
        <p:nvSpPr>
          <p:cNvPr id="11" name="Text 9"/>
          <p:cNvSpPr/>
          <p:nvPr/>
        </p:nvSpPr>
        <p:spPr>
          <a:xfrm>
            <a:off x="2514600" y="2633472"/>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Relevance</a:t>
            </a:r>
            <a:endParaRPr lang="en-US" sz="1200" dirty="0"/>
          </a:p>
        </p:txBody>
      </p:sp>
      <p:sp>
        <p:nvSpPr>
          <p:cNvPr id="12" name="Text 10"/>
          <p:cNvSpPr/>
          <p:nvPr/>
        </p:nvSpPr>
        <p:spPr>
          <a:xfrm>
            <a:off x="4892040" y="2633472"/>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Clear Men/Women split and use-case categories (Sports, Formal, Casual) match how footwear shoppers actually search.</a:t>
            </a:r>
            <a:endParaRPr lang="en-US" sz="1050" dirty="0"/>
          </a:p>
        </p:txBody>
      </p:sp>
      <p:sp>
        <p:nvSpPr>
          <p:cNvPr id="13" name="Shape 11"/>
          <p:cNvSpPr/>
          <p:nvPr/>
        </p:nvSpPr>
        <p:spPr>
          <a:xfrm>
            <a:off x="822960" y="3410712"/>
            <a:ext cx="1554480" cy="384048"/>
          </a:xfrm>
          <a:prstGeom prst="roundRect">
            <a:avLst>
              <a:gd name="adj" fmla="val 14286"/>
            </a:avLst>
          </a:prstGeom>
          <a:solidFill>
            <a:srgbClr val="028090"/>
          </a:solidFill>
          <a:ln/>
        </p:spPr>
        <p:txBody>
          <a:bodyPr/>
          <a:lstStyle/>
          <a:p>
            <a:endParaRPr lang="en-IN"/>
          </a:p>
        </p:txBody>
      </p:sp>
      <p:sp>
        <p:nvSpPr>
          <p:cNvPr id="14" name="Text 12"/>
          <p:cNvSpPr/>
          <p:nvPr/>
        </p:nvSpPr>
        <p:spPr>
          <a:xfrm>
            <a:off x="822960" y="3410712"/>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5/10</a:t>
            </a:r>
            <a:endParaRPr lang="en-US" sz="1200" dirty="0"/>
          </a:p>
        </p:txBody>
      </p:sp>
      <p:sp>
        <p:nvSpPr>
          <p:cNvPr id="15" name="Text 13"/>
          <p:cNvSpPr/>
          <p:nvPr/>
        </p:nvSpPr>
        <p:spPr>
          <a:xfrm>
            <a:off x="2514600" y="3392424"/>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Clarity</a:t>
            </a:r>
            <a:endParaRPr lang="en-US" sz="1200" dirty="0"/>
          </a:p>
        </p:txBody>
      </p:sp>
      <p:sp>
        <p:nvSpPr>
          <p:cNvPr id="16" name="Text 14"/>
          <p:cNvSpPr/>
          <p:nvPr/>
        </p:nvSpPr>
        <p:spPr>
          <a:xfrm>
            <a:off x="4892040" y="3392424"/>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New Launches / Trending / Best Sellers / Offers overlap heavily with no clear primary path, and policy language is inconsistent across pages.</a:t>
            </a:r>
            <a:endParaRPr lang="en-US" sz="1050" dirty="0"/>
          </a:p>
        </p:txBody>
      </p:sp>
      <p:sp>
        <p:nvSpPr>
          <p:cNvPr id="17" name="Shape 15"/>
          <p:cNvSpPr/>
          <p:nvPr/>
        </p:nvSpPr>
        <p:spPr>
          <a:xfrm>
            <a:off x="822960" y="4169664"/>
            <a:ext cx="1554480" cy="384048"/>
          </a:xfrm>
          <a:prstGeom prst="roundRect">
            <a:avLst>
              <a:gd name="adj" fmla="val 14286"/>
            </a:avLst>
          </a:prstGeom>
          <a:solidFill>
            <a:srgbClr val="028090"/>
          </a:solidFill>
          <a:ln/>
        </p:spPr>
        <p:txBody>
          <a:bodyPr/>
          <a:lstStyle/>
          <a:p>
            <a:endParaRPr lang="en-IN"/>
          </a:p>
        </p:txBody>
      </p:sp>
      <p:sp>
        <p:nvSpPr>
          <p:cNvPr id="18" name="Text 16"/>
          <p:cNvSpPr/>
          <p:nvPr/>
        </p:nvSpPr>
        <p:spPr>
          <a:xfrm>
            <a:off x="822960" y="4169664"/>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5/10</a:t>
            </a:r>
            <a:endParaRPr lang="en-US" sz="1200" dirty="0"/>
          </a:p>
        </p:txBody>
      </p:sp>
      <p:sp>
        <p:nvSpPr>
          <p:cNvPr id="19" name="Text 17"/>
          <p:cNvSpPr/>
          <p:nvPr/>
        </p:nvSpPr>
        <p:spPr>
          <a:xfrm>
            <a:off x="2514600" y="4151376"/>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Anxiety</a:t>
            </a:r>
            <a:endParaRPr lang="en-US" sz="1200" dirty="0"/>
          </a:p>
        </p:txBody>
      </p:sp>
      <p:sp>
        <p:nvSpPr>
          <p:cNvPr id="20" name="Text 18"/>
          <p:cNvSpPr/>
          <p:nvPr/>
        </p:nvSpPr>
        <p:spPr>
          <a:xfrm>
            <a:off x="4892040" y="4151376"/>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Conflicting return-window claims (7-day vs. 30-day) is exactly the detail an anxious first-time buyer checks before purchase.</a:t>
            </a:r>
            <a:endParaRPr lang="en-US" sz="1050" dirty="0"/>
          </a:p>
        </p:txBody>
      </p:sp>
      <p:sp>
        <p:nvSpPr>
          <p:cNvPr id="21" name="Shape 19"/>
          <p:cNvSpPr/>
          <p:nvPr/>
        </p:nvSpPr>
        <p:spPr>
          <a:xfrm>
            <a:off x="822960" y="4928616"/>
            <a:ext cx="1554480" cy="384048"/>
          </a:xfrm>
          <a:prstGeom prst="roundRect">
            <a:avLst>
              <a:gd name="adj" fmla="val 14286"/>
            </a:avLst>
          </a:prstGeom>
          <a:solidFill>
            <a:srgbClr val="028090"/>
          </a:solidFill>
          <a:ln/>
        </p:spPr>
        <p:txBody>
          <a:bodyPr/>
          <a:lstStyle/>
          <a:p>
            <a:endParaRPr lang="en-IN"/>
          </a:p>
        </p:txBody>
      </p:sp>
      <p:sp>
        <p:nvSpPr>
          <p:cNvPr id="22" name="Text 20"/>
          <p:cNvSpPr/>
          <p:nvPr/>
        </p:nvSpPr>
        <p:spPr>
          <a:xfrm>
            <a:off x="822960" y="4928616"/>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6/10</a:t>
            </a:r>
            <a:endParaRPr lang="en-US" sz="1200" dirty="0"/>
          </a:p>
        </p:txBody>
      </p:sp>
      <p:sp>
        <p:nvSpPr>
          <p:cNvPr id="23" name="Text 21"/>
          <p:cNvSpPr/>
          <p:nvPr/>
        </p:nvSpPr>
        <p:spPr>
          <a:xfrm>
            <a:off x="2514600" y="4910328"/>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Distraction</a:t>
            </a:r>
            <a:endParaRPr lang="en-US" sz="1200" dirty="0"/>
          </a:p>
        </p:txBody>
      </p:sp>
      <p:sp>
        <p:nvSpPr>
          <p:cNvPr id="24" name="Text 22"/>
          <p:cNvSpPr/>
          <p:nvPr/>
        </p:nvSpPr>
        <p:spPr>
          <a:xfrm>
            <a:off x="4892040" y="4910328"/>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Heavy, repeated discount badges on nearly every card compete with the sustainability story for attention.</a:t>
            </a:r>
            <a:endParaRPr lang="en-US" sz="1050" dirty="0"/>
          </a:p>
        </p:txBody>
      </p:sp>
      <p:sp>
        <p:nvSpPr>
          <p:cNvPr id="25" name="Shape 23"/>
          <p:cNvSpPr/>
          <p:nvPr/>
        </p:nvSpPr>
        <p:spPr>
          <a:xfrm>
            <a:off x="822960" y="5687568"/>
            <a:ext cx="1554480" cy="384048"/>
          </a:xfrm>
          <a:prstGeom prst="roundRect">
            <a:avLst>
              <a:gd name="adj" fmla="val 14286"/>
            </a:avLst>
          </a:prstGeom>
          <a:solidFill>
            <a:srgbClr val="028090"/>
          </a:solidFill>
          <a:ln/>
        </p:spPr>
        <p:txBody>
          <a:bodyPr/>
          <a:lstStyle/>
          <a:p>
            <a:endParaRPr lang="en-IN"/>
          </a:p>
        </p:txBody>
      </p:sp>
      <p:sp>
        <p:nvSpPr>
          <p:cNvPr id="26" name="Text 24"/>
          <p:cNvSpPr/>
          <p:nvPr/>
        </p:nvSpPr>
        <p:spPr>
          <a:xfrm>
            <a:off x="822960" y="5687568"/>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5/10</a:t>
            </a:r>
            <a:endParaRPr lang="en-US" sz="1200" dirty="0"/>
          </a:p>
        </p:txBody>
      </p:sp>
      <p:sp>
        <p:nvSpPr>
          <p:cNvPr id="27" name="Text 25"/>
          <p:cNvSpPr/>
          <p:nvPr/>
        </p:nvSpPr>
        <p:spPr>
          <a:xfrm>
            <a:off x="2514600" y="5669280"/>
            <a:ext cx="2286000" cy="420624"/>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Urgency</a:t>
            </a:r>
            <a:endParaRPr lang="en-US" sz="1200" dirty="0"/>
          </a:p>
        </p:txBody>
      </p:sp>
      <p:sp>
        <p:nvSpPr>
          <p:cNvPr id="28" name="Text 26"/>
          <p:cNvSpPr/>
          <p:nvPr/>
        </p:nvSpPr>
        <p:spPr>
          <a:xfrm>
            <a:off x="4892040" y="5669280"/>
            <a:ext cx="6583680" cy="64008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Sale framing is present but generic (no countdown on checkout, no stock-level indication), so it doesn't create real time pressure.</a:t>
            </a:r>
            <a:endParaRPr lang="en-US" sz="1050" dirty="0"/>
          </a:p>
        </p:txBody>
      </p:sp>
      <p:sp>
        <p:nvSpPr>
          <p:cNvPr id="29" name="Text 27"/>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30" name="Text 28"/>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4 of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04 — KEY FINDINGS</a:t>
            </a:r>
            <a:endParaRPr lang="en-US" sz="1100" dirty="0"/>
          </a:p>
        </p:txBody>
      </p:sp>
      <p:sp>
        <p:nvSpPr>
          <p:cNvPr id="3" name="Text 1"/>
          <p:cNvSpPr/>
          <p:nvPr/>
        </p:nvSpPr>
        <p:spPr>
          <a:xfrm>
            <a:off x="640080" y="685800"/>
            <a:ext cx="91440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Friction Points</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Tied back to the LIFT factor each one violates</a:t>
            </a:r>
            <a:endParaRPr lang="en-US" sz="1200" dirty="0"/>
          </a:p>
        </p:txBody>
      </p:sp>
      <p:sp>
        <p:nvSpPr>
          <p:cNvPr id="5" name="Shape 3"/>
          <p:cNvSpPr/>
          <p:nvPr/>
        </p:nvSpPr>
        <p:spPr>
          <a:xfrm>
            <a:off x="640080" y="1828800"/>
            <a:ext cx="365760" cy="365760"/>
          </a:xfrm>
          <a:prstGeom prst="roundRect">
            <a:avLst>
              <a:gd name="adj" fmla="val 15000"/>
            </a:avLst>
          </a:prstGeom>
          <a:solidFill>
            <a:srgbClr val="00A896"/>
          </a:solidFill>
          <a:ln/>
        </p:spPr>
        <p:txBody>
          <a:bodyPr/>
          <a:lstStyle/>
          <a:p>
            <a:endParaRPr lang="en-IN"/>
          </a:p>
        </p:txBody>
      </p:sp>
      <p:sp>
        <p:nvSpPr>
          <p:cNvPr id="6" name="Text 4"/>
          <p:cNvSpPr/>
          <p:nvPr/>
        </p:nvSpPr>
        <p:spPr>
          <a:xfrm>
            <a:off x="640080" y="18288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43000" y="1783080"/>
            <a:ext cx="7863840" cy="320040"/>
          </a:xfrm>
          <a:prstGeom prst="rect">
            <a:avLst/>
          </a:prstGeom>
          <a:noFill/>
          <a:ln/>
        </p:spPr>
        <p:txBody>
          <a:bodyPr wrap="square" rtlCol="0" anchor="ctr"/>
          <a:lstStyle/>
          <a:p>
            <a:pPr marL="0" indent="0">
              <a:buNone/>
            </a:pPr>
            <a:r>
              <a:rPr lang="en-US" sz="1250" b="1" dirty="0">
                <a:solidFill>
                  <a:srgbClr val="1F2A33"/>
                </a:solidFill>
                <a:latin typeface="Calibri" pitchFamily="34" charset="0"/>
                <a:ea typeface="Calibri" pitchFamily="34" charset="-122"/>
                <a:cs typeface="Calibri" pitchFamily="34" charset="-120"/>
              </a:rPr>
              <a:t>Return/exchange policy is stated inconsistently across pages</a:t>
            </a:r>
            <a:endParaRPr lang="en-US" sz="1250" dirty="0"/>
          </a:p>
        </p:txBody>
      </p:sp>
      <p:sp>
        <p:nvSpPr>
          <p:cNvPr id="8" name="Shape 6"/>
          <p:cNvSpPr/>
          <p:nvPr/>
        </p:nvSpPr>
        <p:spPr>
          <a:xfrm>
            <a:off x="9098280" y="1810512"/>
            <a:ext cx="2423160" cy="292608"/>
          </a:xfrm>
          <a:prstGeom prst="roundRect">
            <a:avLst>
              <a:gd name="adj" fmla="val 43750"/>
            </a:avLst>
          </a:prstGeom>
          <a:solidFill>
            <a:srgbClr val="E4F4F2"/>
          </a:solidFill>
          <a:ln/>
        </p:spPr>
        <p:txBody>
          <a:bodyPr/>
          <a:lstStyle/>
          <a:p>
            <a:endParaRPr lang="en-IN"/>
          </a:p>
        </p:txBody>
      </p:sp>
      <p:sp>
        <p:nvSpPr>
          <p:cNvPr id="9" name="Text 7"/>
          <p:cNvSpPr/>
          <p:nvPr/>
        </p:nvSpPr>
        <p:spPr>
          <a:xfrm>
            <a:off x="9098280" y="1810512"/>
            <a:ext cx="2423160" cy="292608"/>
          </a:xfrm>
          <a:prstGeom prst="rect">
            <a:avLst/>
          </a:prstGeom>
          <a:noFill/>
          <a:ln/>
        </p:spPr>
        <p:txBody>
          <a:bodyPr wrap="square" lIns="0" tIns="0" rIns="0" bIns="0" rtlCol="0" anchor="ctr"/>
          <a:lstStyle/>
          <a:p>
            <a:pPr marL="0" indent="0" algn="ctr">
              <a:buNone/>
            </a:pPr>
            <a:r>
              <a:rPr lang="en-US" sz="850" b="1" dirty="0">
                <a:solidFill>
                  <a:srgbClr val="028090"/>
                </a:solidFill>
                <a:latin typeface="Calibri" pitchFamily="34" charset="0"/>
                <a:ea typeface="Calibri" pitchFamily="34" charset="-122"/>
                <a:cs typeface="Calibri" pitchFamily="34" charset="-120"/>
              </a:rPr>
              <a:t>ANXIETY</a:t>
            </a:r>
            <a:endParaRPr lang="en-US" sz="850" dirty="0"/>
          </a:p>
        </p:txBody>
      </p:sp>
      <p:sp>
        <p:nvSpPr>
          <p:cNvPr id="10" name="Text 8"/>
          <p:cNvSpPr/>
          <p:nvPr/>
        </p:nvSpPr>
        <p:spPr>
          <a:xfrm>
            <a:off x="1143000" y="2121408"/>
            <a:ext cx="10332720" cy="77724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One product-facing page states a 7-day exchange window; the general FAQ separately states a 30-day return and exchange policy. A buyer who checks both encounters a direct contradiction at the exact moment they're deciding whether to trust the brand with their money.</a:t>
            </a:r>
            <a:endParaRPr lang="en-US" sz="1050" dirty="0"/>
          </a:p>
        </p:txBody>
      </p:sp>
      <p:sp>
        <p:nvSpPr>
          <p:cNvPr id="11" name="Shape 9"/>
          <p:cNvSpPr/>
          <p:nvPr/>
        </p:nvSpPr>
        <p:spPr>
          <a:xfrm>
            <a:off x="640080" y="2999232"/>
            <a:ext cx="365760" cy="365760"/>
          </a:xfrm>
          <a:prstGeom prst="roundRect">
            <a:avLst>
              <a:gd name="adj" fmla="val 15000"/>
            </a:avLst>
          </a:prstGeom>
          <a:solidFill>
            <a:srgbClr val="00A896"/>
          </a:solidFill>
          <a:ln/>
        </p:spPr>
        <p:txBody>
          <a:bodyPr/>
          <a:lstStyle/>
          <a:p>
            <a:endParaRPr lang="en-IN"/>
          </a:p>
        </p:txBody>
      </p:sp>
      <p:sp>
        <p:nvSpPr>
          <p:cNvPr id="12" name="Text 10"/>
          <p:cNvSpPr/>
          <p:nvPr/>
        </p:nvSpPr>
        <p:spPr>
          <a:xfrm>
            <a:off x="640080" y="29992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43000" y="2953512"/>
            <a:ext cx="7863840" cy="320040"/>
          </a:xfrm>
          <a:prstGeom prst="rect">
            <a:avLst/>
          </a:prstGeom>
          <a:noFill/>
          <a:ln/>
        </p:spPr>
        <p:txBody>
          <a:bodyPr wrap="square" rtlCol="0" anchor="ctr"/>
          <a:lstStyle/>
          <a:p>
            <a:pPr marL="0" indent="0">
              <a:buNone/>
            </a:pPr>
            <a:r>
              <a:rPr lang="en-US" sz="1250" b="1" dirty="0">
                <a:solidFill>
                  <a:srgbClr val="1F2A33"/>
                </a:solidFill>
                <a:latin typeface="Calibri" pitchFamily="34" charset="0"/>
                <a:ea typeface="Calibri" pitchFamily="34" charset="-122"/>
                <a:cs typeface="Calibri" pitchFamily="34" charset="-120"/>
              </a:rPr>
              <a:t>Near-universal 40-76% discounting risks price-credibility erosion</a:t>
            </a:r>
            <a:endParaRPr lang="en-US" sz="1250" dirty="0"/>
          </a:p>
        </p:txBody>
      </p:sp>
      <p:sp>
        <p:nvSpPr>
          <p:cNvPr id="14" name="Shape 12"/>
          <p:cNvSpPr/>
          <p:nvPr/>
        </p:nvSpPr>
        <p:spPr>
          <a:xfrm>
            <a:off x="9098280" y="2980944"/>
            <a:ext cx="2423160" cy="292608"/>
          </a:xfrm>
          <a:prstGeom prst="roundRect">
            <a:avLst>
              <a:gd name="adj" fmla="val 43750"/>
            </a:avLst>
          </a:prstGeom>
          <a:solidFill>
            <a:srgbClr val="E4F4F2"/>
          </a:solidFill>
          <a:ln/>
        </p:spPr>
        <p:txBody>
          <a:bodyPr/>
          <a:lstStyle/>
          <a:p>
            <a:endParaRPr lang="en-IN"/>
          </a:p>
        </p:txBody>
      </p:sp>
      <p:sp>
        <p:nvSpPr>
          <p:cNvPr id="15" name="Text 13"/>
          <p:cNvSpPr/>
          <p:nvPr/>
        </p:nvSpPr>
        <p:spPr>
          <a:xfrm>
            <a:off x="9098280" y="2980944"/>
            <a:ext cx="2423160" cy="292608"/>
          </a:xfrm>
          <a:prstGeom prst="rect">
            <a:avLst/>
          </a:prstGeom>
          <a:noFill/>
          <a:ln/>
        </p:spPr>
        <p:txBody>
          <a:bodyPr wrap="square" lIns="0" tIns="0" rIns="0" bIns="0" rtlCol="0" anchor="ctr"/>
          <a:lstStyle/>
          <a:p>
            <a:pPr marL="0" indent="0" algn="ctr">
              <a:buNone/>
            </a:pPr>
            <a:r>
              <a:rPr lang="en-US" sz="850" b="1" dirty="0">
                <a:solidFill>
                  <a:srgbClr val="028090"/>
                </a:solidFill>
                <a:latin typeface="Calibri" pitchFamily="34" charset="0"/>
                <a:ea typeface="Calibri" pitchFamily="34" charset="-122"/>
                <a:cs typeface="Calibri" pitchFamily="34" charset="-120"/>
              </a:rPr>
              <a:t>VALUE PROP / CLARITY</a:t>
            </a:r>
            <a:endParaRPr lang="en-US" sz="850" dirty="0"/>
          </a:p>
        </p:txBody>
      </p:sp>
      <p:sp>
        <p:nvSpPr>
          <p:cNvPr id="16" name="Text 14"/>
          <p:cNvSpPr/>
          <p:nvPr/>
        </p:nvSpPr>
        <p:spPr>
          <a:xfrm>
            <a:off x="1143000" y="3291840"/>
            <a:ext cx="10332720" cy="77724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Almost every product card shows a struck-through 'original' price alongside a 40-76% off badge. When a discount is present on effectively everything, the crossed-out price stops functioning as a credible reference point altogether.</a:t>
            </a:r>
            <a:endParaRPr lang="en-US" sz="1050" dirty="0"/>
          </a:p>
        </p:txBody>
      </p:sp>
      <p:sp>
        <p:nvSpPr>
          <p:cNvPr id="17" name="Shape 15"/>
          <p:cNvSpPr/>
          <p:nvPr/>
        </p:nvSpPr>
        <p:spPr>
          <a:xfrm>
            <a:off x="640080" y="4169664"/>
            <a:ext cx="365760" cy="365760"/>
          </a:xfrm>
          <a:prstGeom prst="roundRect">
            <a:avLst>
              <a:gd name="adj" fmla="val 15000"/>
            </a:avLst>
          </a:prstGeom>
          <a:solidFill>
            <a:srgbClr val="00A896"/>
          </a:solidFill>
          <a:ln/>
        </p:spPr>
        <p:txBody>
          <a:bodyPr/>
          <a:lstStyle/>
          <a:p>
            <a:endParaRPr lang="en-IN"/>
          </a:p>
        </p:txBody>
      </p:sp>
      <p:sp>
        <p:nvSpPr>
          <p:cNvPr id="18" name="Text 16"/>
          <p:cNvSpPr/>
          <p:nvPr/>
        </p:nvSpPr>
        <p:spPr>
          <a:xfrm>
            <a:off x="640080" y="41696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143000" y="4123944"/>
            <a:ext cx="7863840" cy="320040"/>
          </a:xfrm>
          <a:prstGeom prst="rect">
            <a:avLst/>
          </a:prstGeom>
          <a:noFill/>
          <a:ln/>
        </p:spPr>
        <p:txBody>
          <a:bodyPr wrap="square" rtlCol="0" anchor="ctr"/>
          <a:lstStyle/>
          <a:p>
            <a:pPr marL="0" indent="0">
              <a:buNone/>
            </a:pPr>
            <a:r>
              <a:rPr lang="en-US" sz="1250" b="1" dirty="0">
                <a:solidFill>
                  <a:srgbClr val="1F2A33"/>
                </a:solidFill>
                <a:latin typeface="Calibri" pitchFamily="34" charset="0"/>
                <a:ea typeface="Calibri" pitchFamily="34" charset="-122"/>
                <a:cs typeface="Calibri" pitchFamily="34" charset="-120"/>
              </a:rPr>
              <a:t>Redundant category paths dilute a clear first path for new visitors</a:t>
            </a:r>
            <a:endParaRPr lang="en-US" sz="1250" dirty="0"/>
          </a:p>
        </p:txBody>
      </p:sp>
      <p:sp>
        <p:nvSpPr>
          <p:cNvPr id="20" name="Shape 18"/>
          <p:cNvSpPr/>
          <p:nvPr/>
        </p:nvSpPr>
        <p:spPr>
          <a:xfrm>
            <a:off x="9098280" y="4151376"/>
            <a:ext cx="2423160" cy="292608"/>
          </a:xfrm>
          <a:prstGeom prst="roundRect">
            <a:avLst>
              <a:gd name="adj" fmla="val 43750"/>
            </a:avLst>
          </a:prstGeom>
          <a:solidFill>
            <a:srgbClr val="E4F4F2"/>
          </a:solidFill>
          <a:ln/>
        </p:spPr>
        <p:txBody>
          <a:bodyPr/>
          <a:lstStyle/>
          <a:p>
            <a:endParaRPr lang="en-IN"/>
          </a:p>
        </p:txBody>
      </p:sp>
      <p:sp>
        <p:nvSpPr>
          <p:cNvPr id="21" name="Text 19"/>
          <p:cNvSpPr/>
          <p:nvPr/>
        </p:nvSpPr>
        <p:spPr>
          <a:xfrm>
            <a:off x="9098280" y="4151376"/>
            <a:ext cx="2423160" cy="292608"/>
          </a:xfrm>
          <a:prstGeom prst="rect">
            <a:avLst/>
          </a:prstGeom>
          <a:noFill/>
          <a:ln/>
        </p:spPr>
        <p:txBody>
          <a:bodyPr wrap="square" lIns="0" tIns="0" rIns="0" bIns="0" rtlCol="0" anchor="ctr"/>
          <a:lstStyle/>
          <a:p>
            <a:pPr marL="0" indent="0" algn="ctr">
              <a:buNone/>
            </a:pPr>
            <a:r>
              <a:rPr lang="en-US" sz="850" b="1" dirty="0">
                <a:solidFill>
                  <a:srgbClr val="028090"/>
                </a:solidFill>
                <a:latin typeface="Calibri" pitchFamily="34" charset="0"/>
                <a:ea typeface="Calibri" pitchFamily="34" charset="-122"/>
                <a:cs typeface="Calibri" pitchFamily="34" charset="-120"/>
              </a:rPr>
              <a:t>CLARITY</a:t>
            </a:r>
            <a:endParaRPr lang="en-US" sz="850" dirty="0"/>
          </a:p>
        </p:txBody>
      </p:sp>
      <p:sp>
        <p:nvSpPr>
          <p:cNvPr id="22" name="Text 20"/>
          <p:cNvSpPr/>
          <p:nvPr/>
        </p:nvSpPr>
        <p:spPr>
          <a:xfrm>
            <a:off x="1143000" y="4462272"/>
            <a:ext cx="10332720" cy="777240"/>
          </a:xfrm>
          <a:prstGeom prst="rect">
            <a:avLst/>
          </a:prstGeom>
          <a:noFill/>
          <a:ln/>
        </p:spPr>
        <p:txBody>
          <a:bodyPr wrap="square" rtlCol="0" anchor="t"/>
          <a:lstStyle/>
          <a:p>
            <a:pPr marL="0" indent="0">
              <a:buNone/>
            </a:pPr>
            <a:r>
              <a:rPr lang="en-US" sz="1050" dirty="0">
                <a:solidFill>
                  <a:srgbClr val="1F2A33"/>
                </a:solidFill>
                <a:latin typeface="Calibri" pitchFamily="34" charset="0"/>
                <a:ea typeface="Calibri" pitchFamily="34" charset="-122"/>
                <a:cs typeface="Calibri" pitchFamily="34" charset="-120"/>
              </a:rPr>
              <a:t>New Launches, Trending, Best Sellers, Exclusives and Offers substantially overlap. A first-time visitor has no single obvious 'start here' path.</a:t>
            </a:r>
            <a:endParaRPr lang="en-US" sz="1050" dirty="0"/>
          </a:p>
        </p:txBody>
      </p:sp>
      <p:sp>
        <p:nvSpPr>
          <p:cNvPr id="23" name="Shape 21"/>
          <p:cNvSpPr/>
          <p:nvPr/>
        </p:nvSpPr>
        <p:spPr>
          <a:xfrm>
            <a:off x="640080" y="5385816"/>
            <a:ext cx="10881360" cy="868680"/>
          </a:xfrm>
          <a:prstGeom prst="roundRect">
            <a:avLst>
              <a:gd name="adj" fmla="val 8421"/>
            </a:avLst>
          </a:prstGeom>
          <a:solidFill>
            <a:srgbClr val="EAF4F3"/>
          </a:solidFill>
          <a:ln w="12700">
            <a:solidFill>
              <a:srgbClr val="EAF4F3"/>
            </a:solidFill>
            <a:prstDash val="solid"/>
          </a:ln>
        </p:spPr>
        <p:txBody>
          <a:bodyPr/>
          <a:lstStyle/>
          <a:p>
            <a:endParaRPr lang="en-IN"/>
          </a:p>
        </p:txBody>
      </p:sp>
      <p:sp>
        <p:nvSpPr>
          <p:cNvPr id="24" name="Text 22"/>
          <p:cNvSpPr/>
          <p:nvPr/>
        </p:nvSpPr>
        <p:spPr>
          <a:xfrm>
            <a:off x="822960" y="5477256"/>
            <a:ext cx="10058400" cy="274320"/>
          </a:xfrm>
          <a:prstGeom prst="rect">
            <a:avLst/>
          </a:prstGeom>
          <a:noFill/>
          <a:ln/>
        </p:spPr>
        <p:txBody>
          <a:bodyPr wrap="square" rtlCol="0" anchor="ctr"/>
          <a:lstStyle/>
          <a:p>
            <a:pPr marL="0" indent="0">
              <a:buNone/>
            </a:pPr>
            <a:r>
              <a:rPr lang="en-US" sz="1150" b="1" dirty="0">
                <a:solidFill>
                  <a:srgbClr val="1F2A33"/>
                </a:solidFill>
                <a:latin typeface="Calibri" pitchFamily="34" charset="0"/>
                <a:ea typeface="Calibri" pitchFamily="34" charset="-122"/>
                <a:cs typeface="Calibri" pitchFamily="34" charset="-120"/>
              </a:rPr>
              <a:t>What's already working</a:t>
            </a:r>
            <a:endParaRPr lang="en-US" sz="1150" dirty="0"/>
          </a:p>
        </p:txBody>
      </p:sp>
      <p:sp>
        <p:nvSpPr>
          <p:cNvPr id="25" name="Text 23"/>
          <p:cNvSpPr/>
          <p:nvPr/>
        </p:nvSpPr>
        <p:spPr>
          <a:xfrm>
            <a:off x="822960" y="5769864"/>
            <a:ext cx="10332720" cy="457200"/>
          </a:xfrm>
          <a:prstGeom prst="rect">
            <a:avLst/>
          </a:prstGeom>
          <a:noFill/>
          <a:ln/>
        </p:spPr>
        <p:txBody>
          <a:bodyPr wrap="square" rtlCol="0" anchor="t"/>
          <a:lstStyle/>
          <a:p>
            <a:pPr marL="0" indent="0">
              <a:buNone/>
            </a:pPr>
            <a:r>
              <a:rPr lang="en-US" sz="1000" dirty="0">
                <a:solidFill>
                  <a:srgbClr val="1F2A33"/>
                </a:solidFill>
                <a:latin typeface="Calibri" pitchFamily="34" charset="0"/>
                <a:ea typeface="Calibri" pitchFamily="34" charset="-122"/>
                <a:cs typeface="Calibri" pitchFamily="34" charset="-120"/>
              </a:rPr>
              <a:t>The sustainability narrative (recycled plastic bottles, plastic-free packaging) is differentiated in the footwear category and is reinforced by real customer testimonials on comfort and durability — a strong foundation to build pricing and trust fixes on top of.</a:t>
            </a:r>
            <a:endParaRPr lang="en-US" sz="1000" dirty="0"/>
          </a:p>
        </p:txBody>
      </p:sp>
      <p:sp>
        <p:nvSpPr>
          <p:cNvPr id="26" name="Text 24"/>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27" name="Text 25"/>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5 of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05 — CATEGORY BENCHMARK</a:t>
            </a:r>
            <a:endParaRPr lang="en-US" sz="1100" dirty="0"/>
          </a:p>
        </p:txBody>
      </p:sp>
      <p:sp>
        <p:nvSpPr>
          <p:cNvPr id="3" name="Text 1"/>
          <p:cNvSpPr/>
          <p:nvPr/>
        </p:nvSpPr>
        <p:spPr>
          <a:xfrm>
            <a:off x="640080" y="685800"/>
            <a:ext cx="96012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How severe is this, really?</a:t>
            </a:r>
            <a:endParaRPr lang="en-US" sz="26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Contextualizing findings against public industry benchmarks — not competitor-specific data</a:t>
            </a:r>
            <a:endParaRPr lang="en-US" sz="1200" dirty="0"/>
          </a:p>
        </p:txBody>
      </p:sp>
      <p:sp>
        <p:nvSpPr>
          <p:cNvPr id="5" name="Text 3"/>
          <p:cNvSpPr/>
          <p:nvPr/>
        </p:nvSpPr>
        <p:spPr>
          <a:xfrm>
            <a:off x="640080" y="1874520"/>
            <a:ext cx="10881360" cy="1645920"/>
          </a:xfrm>
          <a:prstGeom prst="rect">
            <a:avLst/>
          </a:prstGeom>
          <a:noFill/>
          <a:ln/>
        </p:spPr>
        <p:txBody>
          <a:bodyPr wrap="square" rtlCol="0" anchor="t"/>
          <a:lstStyle/>
          <a:p>
            <a:pPr marL="0" indent="0">
              <a:buNone/>
            </a:pPr>
            <a:r>
              <a:rPr lang="en-US" sz="1250" dirty="0">
                <a:solidFill>
                  <a:srgbClr val="1F2A33"/>
                </a:solidFill>
                <a:latin typeface="Calibri" pitchFamily="34" charset="0"/>
                <a:ea typeface="Calibri" pitchFamily="34" charset="-122"/>
                <a:cs typeface="Calibri" pitchFamily="34" charset="-120"/>
              </a:rPr>
              <a:t>Published e-commerce benchmarks put average conversion rates in the 2-3% range, with fashion/footwear typically at the lower end because fit-risk (sizing, comfort) is a bigger purchase barrier than in most other categories. Return/exchange clarity matters more in footwear specifically, since the single biggest objection is answered entirely by policy language, not by product description.</a:t>
            </a:r>
            <a:endParaRPr lang="en-US" sz="1250" dirty="0"/>
          </a:p>
        </p:txBody>
      </p:sp>
      <p:sp>
        <p:nvSpPr>
          <p:cNvPr id="6" name="Shape 4"/>
          <p:cNvSpPr/>
          <p:nvPr/>
        </p:nvSpPr>
        <p:spPr>
          <a:xfrm>
            <a:off x="640080" y="3749040"/>
            <a:ext cx="10881360" cy="1371600"/>
          </a:xfrm>
          <a:prstGeom prst="roundRect">
            <a:avLst>
              <a:gd name="adj" fmla="val 5333"/>
            </a:avLst>
          </a:prstGeom>
          <a:solidFill>
            <a:srgbClr val="EAF4F3"/>
          </a:solidFill>
          <a:ln w="12700">
            <a:solidFill>
              <a:srgbClr val="EAF4F3"/>
            </a:solidFill>
            <a:prstDash val="solid"/>
          </a:ln>
        </p:spPr>
        <p:txBody>
          <a:bodyPr/>
          <a:lstStyle/>
          <a:p>
            <a:endParaRPr lang="en-IN"/>
          </a:p>
        </p:txBody>
      </p:sp>
      <p:sp>
        <p:nvSpPr>
          <p:cNvPr id="7" name="Text 5"/>
          <p:cNvSpPr/>
          <p:nvPr/>
        </p:nvSpPr>
        <p:spPr>
          <a:xfrm>
            <a:off x="822960" y="3886200"/>
            <a:ext cx="10058400" cy="320040"/>
          </a:xfrm>
          <a:prstGeom prst="rect">
            <a:avLst/>
          </a:prstGeom>
          <a:noFill/>
          <a:ln/>
        </p:spPr>
        <p:txBody>
          <a:bodyPr wrap="square" rtlCol="0" anchor="ctr"/>
          <a:lstStyle/>
          <a:p>
            <a:pPr marL="0" indent="0">
              <a:buNone/>
            </a:pPr>
            <a:r>
              <a:rPr lang="en-US" sz="1200" b="1" dirty="0">
                <a:solidFill>
                  <a:srgbClr val="1F2A33"/>
                </a:solidFill>
                <a:latin typeface="Calibri" pitchFamily="34" charset="0"/>
                <a:ea typeface="Calibri" pitchFamily="34" charset="-122"/>
                <a:cs typeface="Calibri" pitchFamily="34" charset="-120"/>
              </a:rPr>
              <a:t>Why this matters here specifically</a:t>
            </a:r>
            <a:endParaRPr lang="en-US" sz="1200" dirty="0"/>
          </a:p>
        </p:txBody>
      </p:sp>
      <p:sp>
        <p:nvSpPr>
          <p:cNvPr id="8" name="Text 6"/>
          <p:cNvSpPr/>
          <p:nvPr/>
        </p:nvSpPr>
        <p:spPr>
          <a:xfrm>
            <a:off x="822960" y="4251960"/>
            <a:ext cx="10332720" cy="77724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Because footwear buyers over-index on checking return policy before purchase, a policy inconsistency here is likely to cost more conversion than the same inconsistency would on a lower fit-risk product like a skincare serum or a jewelry piece.</a:t>
            </a:r>
            <a:endParaRPr lang="en-US" sz="1150" dirty="0"/>
          </a:p>
        </p:txBody>
      </p:sp>
      <p:sp>
        <p:nvSpPr>
          <p:cNvPr id="9" name="Text 7"/>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10" name="Text 8"/>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6 of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06 — PRIORITIZED BACKLOG</a:t>
            </a:r>
            <a:endParaRPr lang="en-US" sz="1100" dirty="0"/>
          </a:p>
        </p:txBody>
      </p:sp>
      <p:sp>
        <p:nvSpPr>
          <p:cNvPr id="3" name="Text 1"/>
          <p:cNvSpPr/>
          <p:nvPr/>
        </p:nvSpPr>
        <p:spPr>
          <a:xfrm>
            <a:off x="640080" y="685800"/>
            <a:ext cx="10881360" cy="548640"/>
          </a:xfrm>
          <a:prstGeom prst="rect">
            <a:avLst/>
          </a:prstGeom>
          <a:noFill/>
          <a:ln/>
        </p:spPr>
        <p:txBody>
          <a:bodyPr wrap="square" rtlCol="0" anchor="ctr"/>
          <a:lstStyle/>
          <a:p>
            <a:pPr marL="0" indent="0">
              <a:buNone/>
            </a:pPr>
            <a:r>
              <a:rPr lang="en-US" sz="2400" b="1" dirty="0">
                <a:solidFill>
                  <a:srgbClr val="1F2A33"/>
                </a:solidFill>
                <a:latin typeface="Cambria" pitchFamily="34" charset="0"/>
                <a:ea typeface="Cambria" pitchFamily="34" charset="-122"/>
                <a:cs typeface="Cambria" pitchFamily="34" charset="-120"/>
              </a:rPr>
              <a:t>Quick Wins vs. Long-Term Experiment Backlog</a:t>
            </a:r>
            <a:endParaRPr lang="en-US" sz="2400" dirty="0"/>
          </a:p>
        </p:txBody>
      </p:sp>
      <p:sp>
        <p:nvSpPr>
          <p:cNvPr id="4" name="Text 2"/>
          <p:cNvSpPr/>
          <p:nvPr/>
        </p:nvSpPr>
        <p:spPr>
          <a:xfrm>
            <a:off x="640080" y="1234440"/>
            <a:ext cx="10881360" cy="45720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ICE = (Impact + Confidence + Ease) / 3 — scored consistently across all audits</a:t>
            </a:r>
            <a:endParaRPr lang="en-US" sz="1200" dirty="0"/>
          </a:p>
        </p:txBody>
      </p:sp>
      <p:sp>
        <p:nvSpPr>
          <p:cNvPr id="5" name="Shape 3"/>
          <p:cNvSpPr/>
          <p:nvPr/>
        </p:nvSpPr>
        <p:spPr>
          <a:xfrm>
            <a:off x="640080" y="1828800"/>
            <a:ext cx="5257800" cy="365760"/>
          </a:xfrm>
          <a:prstGeom prst="roundRect">
            <a:avLst>
              <a:gd name="adj" fmla="val 12500"/>
            </a:avLst>
          </a:prstGeom>
          <a:solidFill>
            <a:srgbClr val="028090"/>
          </a:solidFill>
          <a:ln/>
        </p:spPr>
        <p:txBody>
          <a:bodyPr/>
          <a:lstStyle/>
          <a:p>
            <a:endParaRPr lang="en-IN"/>
          </a:p>
        </p:txBody>
      </p:sp>
      <p:sp>
        <p:nvSpPr>
          <p:cNvPr id="6" name="Text 4"/>
          <p:cNvSpPr/>
          <p:nvPr/>
        </p:nvSpPr>
        <p:spPr>
          <a:xfrm>
            <a:off x="640080" y="1828800"/>
            <a:ext cx="5257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QUICK WINS — ship within 1 sprint</a:t>
            </a:r>
            <a:endParaRPr lang="en-US" sz="1100" dirty="0"/>
          </a:p>
        </p:txBody>
      </p:sp>
      <p:sp>
        <p:nvSpPr>
          <p:cNvPr id="7" name="Shape 5"/>
          <p:cNvSpPr/>
          <p:nvPr/>
        </p:nvSpPr>
        <p:spPr>
          <a:xfrm>
            <a:off x="640080" y="2194560"/>
            <a:ext cx="5257800" cy="3931920"/>
          </a:xfrm>
          <a:prstGeom prst="roundRect">
            <a:avLst>
              <a:gd name="adj" fmla="val 1860"/>
            </a:avLst>
          </a:prstGeom>
          <a:solidFill>
            <a:srgbClr val="EAF4F3"/>
          </a:solidFill>
          <a:ln w="12700">
            <a:solidFill>
              <a:srgbClr val="EAF4F3"/>
            </a:solidFill>
            <a:prstDash val="solid"/>
          </a:ln>
        </p:spPr>
        <p:txBody>
          <a:bodyPr/>
          <a:lstStyle/>
          <a:p>
            <a:endParaRPr lang="en-IN"/>
          </a:p>
        </p:txBody>
      </p:sp>
      <p:sp>
        <p:nvSpPr>
          <p:cNvPr id="8" name="Text 6"/>
          <p:cNvSpPr/>
          <p:nvPr/>
        </p:nvSpPr>
        <p:spPr>
          <a:xfrm>
            <a:off x="822960" y="2331720"/>
            <a:ext cx="4892040" cy="137160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QW1 — </a:t>
            </a:r>
            <a:r>
              <a:rPr lang="en-US" sz="1050" dirty="0">
                <a:solidFill>
                  <a:srgbClr val="1F2A33"/>
                </a:solidFill>
                <a:latin typeface="Calibri" pitchFamily="34" charset="0"/>
                <a:ea typeface="Calibri" pitchFamily="34" charset="-122"/>
                <a:cs typeface="Calibri" pitchFamily="34" charset="-120"/>
              </a:rPr>
              <a:t>Standardize one return/exchange policy statement (e.g., '30-day hassle-free returns') and replace every conflicting mention sitewide — a content-ops fix, not a design one.</a:t>
            </a:r>
            <a:endParaRPr lang="en-US" sz="1050" dirty="0"/>
          </a:p>
        </p:txBody>
      </p:sp>
      <p:sp>
        <p:nvSpPr>
          <p:cNvPr id="9" name="Text 7"/>
          <p:cNvSpPr/>
          <p:nvPr/>
        </p:nvSpPr>
        <p:spPr>
          <a:xfrm>
            <a:off x="822960" y="3749040"/>
            <a:ext cx="4892040" cy="274320"/>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ICE 8.3</a:t>
            </a:r>
            <a:endParaRPr lang="en-US" sz="950" dirty="0"/>
          </a:p>
        </p:txBody>
      </p:sp>
      <p:sp>
        <p:nvSpPr>
          <p:cNvPr id="10" name="Text 8"/>
          <p:cNvSpPr/>
          <p:nvPr/>
        </p:nvSpPr>
        <p:spPr>
          <a:xfrm>
            <a:off x="822960" y="4160520"/>
            <a:ext cx="4892040" cy="137160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QW2 — </a:t>
            </a:r>
            <a:r>
              <a:rPr lang="en-US" sz="1050" dirty="0">
                <a:solidFill>
                  <a:srgbClr val="1F2A33"/>
                </a:solidFill>
                <a:latin typeface="Calibri" pitchFamily="34" charset="0"/>
                <a:ea typeface="Calibri" pitchFamily="34" charset="-122"/>
                <a:cs typeface="Calibri" pitchFamily="34" charset="-120"/>
              </a:rPr>
              <a:t>Add a single 'New Here? Start With Our Bestsellers' entry point on the homepage to cut through the New/Trending/Best Sellers/Offers overlap.</a:t>
            </a:r>
            <a:endParaRPr lang="en-US" sz="1050" dirty="0"/>
          </a:p>
        </p:txBody>
      </p:sp>
      <p:sp>
        <p:nvSpPr>
          <p:cNvPr id="11" name="Text 9"/>
          <p:cNvSpPr/>
          <p:nvPr/>
        </p:nvSpPr>
        <p:spPr>
          <a:xfrm>
            <a:off x="822960" y="5577840"/>
            <a:ext cx="4892040" cy="274320"/>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ICE 7.0</a:t>
            </a:r>
            <a:endParaRPr lang="en-US" sz="950" dirty="0"/>
          </a:p>
        </p:txBody>
      </p:sp>
      <p:sp>
        <p:nvSpPr>
          <p:cNvPr id="12" name="Shape 10"/>
          <p:cNvSpPr/>
          <p:nvPr/>
        </p:nvSpPr>
        <p:spPr>
          <a:xfrm>
            <a:off x="6035040" y="1828800"/>
            <a:ext cx="5486400" cy="365760"/>
          </a:xfrm>
          <a:prstGeom prst="roundRect">
            <a:avLst>
              <a:gd name="adj" fmla="val 12500"/>
            </a:avLst>
          </a:prstGeom>
          <a:solidFill>
            <a:srgbClr val="0B1F2A"/>
          </a:solidFill>
          <a:ln/>
        </p:spPr>
        <p:txBody>
          <a:bodyPr/>
          <a:lstStyle/>
          <a:p>
            <a:endParaRPr lang="en-IN"/>
          </a:p>
        </p:txBody>
      </p:sp>
      <p:sp>
        <p:nvSpPr>
          <p:cNvPr id="13" name="Text 11"/>
          <p:cNvSpPr/>
          <p:nvPr/>
        </p:nvSpPr>
        <p:spPr>
          <a:xfrm>
            <a:off x="6035040" y="1828800"/>
            <a:ext cx="54864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LONG-TERM BACKLOG — needs design/eng scoping</a:t>
            </a:r>
            <a:endParaRPr lang="en-US" sz="1100" dirty="0"/>
          </a:p>
        </p:txBody>
      </p:sp>
      <p:sp>
        <p:nvSpPr>
          <p:cNvPr id="14" name="Shape 12"/>
          <p:cNvSpPr/>
          <p:nvPr/>
        </p:nvSpPr>
        <p:spPr>
          <a:xfrm>
            <a:off x="6035040" y="2194560"/>
            <a:ext cx="5486400" cy="3931920"/>
          </a:xfrm>
          <a:prstGeom prst="roundRect">
            <a:avLst>
              <a:gd name="adj" fmla="val 1860"/>
            </a:avLst>
          </a:prstGeom>
          <a:solidFill>
            <a:srgbClr val="EAF4F3"/>
          </a:solidFill>
          <a:ln w="12700">
            <a:solidFill>
              <a:srgbClr val="EAF4F3"/>
            </a:solidFill>
            <a:prstDash val="solid"/>
          </a:ln>
        </p:spPr>
        <p:txBody>
          <a:bodyPr/>
          <a:lstStyle/>
          <a:p>
            <a:endParaRPr lang="en-IN"/>
          </a:p>
        </p:txBody>
      </p:sp>
      <p:sp>
        <p:nvSpPr>
          <p:cNvPr id="15" name="Text 13"/>
          <p:cNvSpPr/>
          <p:nvPr/>
        </p:nvSpPr>
        <p:spPr>
          <a:xfrm>
            <a:off x="6217920" y="2331720"/>
            <a:ext cx="5120640" cy="146304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LT1 — </a:t>
            </a:r>
            <a:r>
              <a:rPr lang="en-US" sz="1050" dirty="0">
                <a:solidFill>
                  <a:srgbClr val="1F2A33"/>
                </a:solidFill>
                <a:latin typeface="Calibri" pitchFamily="34" charset="0"/>
                <a:ea typeface="Calibri" pitchFamily="34" charset="-122"/>
                <a:cs typeface="Calibri" pitchFamily="34" charset="-120"/>
              </a:rPr>
              <a:t>Redesign discount presentation: reserve 60%+ discounts for genuine time-boxed sale events with a real countdown, and use a smaller, consistent 'member price' for everyday items.</a:t>
            </a:r>
            <a:endParaRPr lang="en-US" sz="1050" dirty="0"/>
          </a:p>
        </p:txBody>
      </p:sp>
      <p:sp>
        <p:nvSpPr>
          <p:cNvPr id="16" name="Text 14"/>
          <p:cNvSpPr/>
          <p:nvPr/>
        </p:nvSpPr>
        <p:spPr>
          <a:xfrm>
            <a:off x="6217920" y="3840480"/>
            <a:ext cx="5120640" cy="274320"/>
          </a:xfrm>
          <a:prstGeom prst="rect">
            <a:avLst/>
          </a:prstGeom>
          <a:noFill/>
          <a:ln/>
        </p:spPr>
        <p:txBody>
          <a:bodyPr wrap="square" rtlCol="0" anchor="ctr"/>
          <a:lstStyle/>
          <a:p>
            <a:pPr marL="0" indent="0">
              <a:buNone/>
            </a:pPr>
            <a:r>
              <a:rPr lang="en-US" sz="950" b="1" dirty="0">
                <a:solidFill>
                  <a:srgbClr val="0B1F2A"/>
                </a:solidFill>
                <a:latin typeface="Calibri" pitchFamily="34" charset="0"/>
                <a:ea typeface="Calibri" pitchFamily="34" charset="-122"/>
                <a:cs typeface="Calibri" pitchFamily="34" charset="-120"/>
              </a:rPr>
              <a:t>ICE 6.7</a:t>
            </a:r>
            <a:endParaRPr lang="en-US" sz="950" dirty="0"/>
          </a:p>
        </p:txBody>
      </p:sp>
      <p:sp>
        <p:nvSpPr>
          <p:cNvPr id="17" name="Text 15"/>
          <p:cNvSpPr/>
          <p:nvPr/>
        </p:nvSpPr>
        <p:spPr>
          <a:xfrm>
            <a:off x="6217920" y="4251960"/>
            <a:ext cx="5120640" cy="1463040"/>
          </a:xfrm>
          <a:prstGeom prst="rect">
            <a:avLst/>
          </a:prstGeom>
          <a:noFill/>
          <a:ln/>
        </p:spPr>
        <p:txBody>
          <a:bodyPr wrap="square" rtlCol="0" anchor="t"/>
          <a:lstStyle/>
          <a:p>
            <a:pPr marL="0" indent="0">
              <a:buNone/>
            </a:pPr>
            <a:r>
              <a:rPr lang="en-US" sz="1050" b="1" dirty="0">
                <a:solidFill>
                  <a:srgbClr val="1F2A33"/>
                </a:solidFill>
                <a:latin typeface="Calibri" pitchFamily="34" charset="0"/>
                <a:ea typeface="Calibri" pitchFamily="34" charset="-122"/>
                <a:cs typeface="Calibri" pitchFamily="34" charset="-120"/>
              </a:rPr>
              <a:t>LT2 — </a:t>
            </a:r>
            <a:r>
              <a:rPr lang="en-US" sz="1050" dirty="0">
                <a:solidFill>
                  <a:srgbClr val="1F2A33"/>
                </a:solidFill>
                <a:latin typeface="Calibri" pitchFamily="34" charset="0"/>
                <a:ea typeface="Calibri" pitchFamily="34" charset="-122"/>
                <a:cs typeface="Calibri" pitchFamily="34" charset="-120"/>
              </a:rPr>
              <a:t>Consolidate New/Trending/Best Sellers/Offers into a single, filterable discovery page with clear sort options.</a:t>
            </a:r>
            <a:endParaRPr lang="en-US" sz="1050" dirty="0"/>
          </a:p>
        </p:txBody>
      </p:sp>
      <p:sp>
        <p:nvSpPr>
          <p:cNvPr id="18" name="Text 16"/>
          <p:cNvSpPr/>
          <p:nvPr/>
        </p:nvSpPr>
        <p:spPr>
          <a:xfrm>
            <a:off x="6217920" y="5760720"/>
            <a:ext cx="5120640" cy="274320"/>
          </a:xfrm>
          <a:prstGeom prst="rect">
            <a:avLst/>
          </a:prstGeom>
          <a:noFill/>
          <a:ln/>
        </p:spPr>
        <p:txBody>
          <a:bodyPr wrap="square" rtlCol="0" anchor="ctr"/>
          <a:lstStyle/>
          <a:p>
            <a:pPr marL="0" indent="0">
              <a:buNone/>
            </a:pPr>
            <a:r>
              <a:rPr lang="en-US" sz="950" b="1" dirty="0">
                <a:solidFill>
                  <a:srgbClr val="0B1F2A"/>
                </a:solidFill>
                <a:latin typeface="Calibri" pitchFamily="34" charset="0"/>
                <a:ea typeface="Calibri" pitchFamily="34" charset="-122"/>
                <a:cs typeface="Calibri" pitchFamily="34" charset="-120"/>
              </a:rPr>
              <a:t>ICE 6.3</a:t>
            </a:r>
            <a:endParaRPr lang="en-US" sz="950" dirty="0"/>
          </a:p>
        </p:txBody>
      </p:sp>
      <p:sp>
        <p:nvSpPr>
          <p:cNvPr id="19" name="Text 17"/>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20" name="Text 18"/>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7 of 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07 — TEST DESIGN</a:t>
            </a:r>
            <a:endParaRPr lang="en-US" sz="1100" dirty="0"/>
          </a:p>
        </p:txBody>
      </p:sp>
      <p:sp>
        <p:nvSpPr>
          <p:cNvPr id="3" name="Text 1"/>
          <p:cNvSpPr/>
          <p:nvPr/>
        </p:nvSpPr>
        <p:spPr>
          <a:xfrm>
            <a:off x="640080" y="685800"/>
            <a:ext cx="10698480" cy="548640"/>
          </a:xfrm>
          <a:prstGeom prst="rect">
            <a:avLst/>
          </a:prstGeom>
          <a:noFill/>
          <a:ln/>
        </p:spPr>
        <p:txBody>
          <a:bodyPr wrap="square" rtlCol="0" anchor="ctr"/>
          <a:lstStyle/>
          <a:p>
            <a:pPr marL="0" indent="0">
              <a:buNone/>
            </a:pPr>
            <a:r>
              <a:rPr lang="en-US" sz="2300" b="1" dirty="0">
                <a:solidFill>
                  <a:srgbClr val="1F2A33"/>
                </a:solidFill>
                <a:latin typeface="Cambria" pitchFamily="34" charset="0"/>
                <a:ea typeface="Cambria" pitchFamily="34" charset="-122"/>
                <a:cs typeface="Cambria" pitchFamily="34" charset="-120"/>
              </a:rPr>
              <a:t>Test Design — QW1: One Consistent Return Policy</a:t>
            </a:r>
            <a:endParaRPr lang="en-US" sz="2300" dirty="0"/>
          </a:p>
        </p:txBody>
      </p:sp>
      <p:sp>
        <p:nvSpPr>
          <p:cNvPr id="4" name="Text 2"/>
          <p:cNvSpPr/>
          <p:nvPr/>
        </p:nvSpPr>
        <p:spPr>
          <a:xfrm>
            <a:off x="640080" y="1234440"/>
            <a:ext cx="10881360" cy="3657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Highest ICE score (8.3) — ships first, near-zero build cost</a:t>
            </a:r>
            <a:endParaRPr lang="en-US" sz="1200" dirty="0"/>
          </a:p>
        </p:txBody>
      </p:sp>
      <p:sp>
        <p:nvSpPr>
          <p:cNvPr id="5" name="Shape 3"/>
          <p:cNvSpPr/>
          <p:nvPr/>
        </p:nvSpPr>
        <p:spPr>
          <a:xfrm>
            <a:off x="640080" y="1737360"/>
            <a:ext cx="5212080" cy="2194560"/>
          </a:xfrm>
          <a:prstGeom prst="roundRect">
            <a:avLst>
              <a:gd name="adj" fmla="val 3333"/>
            </a:avLst>
          </a:prstGeom>
          <a:solidFill>
            <a:srgbClr val="F3F3F3"/>
          </a:solidFill>
          <a:ln w="12700">
            <a:solidFill>
              <a:srgbClr val="DADADA"/>
            </a:solidFill>
            <a:prstDash val="solid"/>
          </a:ln>
        </p:spPr>
        <p:txBody>
          <a:bodyPr/>
          <a:lstStyle/>
          <a:p>
            <a:endParaRPr lang="en-IN"/>
          </a:p>
        </p:txBody>
      </p:sp>
      <p:sp>
        <p:nvSpPr>
          <p:cNvPr id="6" name="Text 4"/>
          <p:cNvSpPr/>
          <p:nvPr/>
        </p:nvSpPr>
        <p:spPr>
          <a:xfrm>
            <a:off x="822960" y="1874520"/>
            <a:ext cx="3657600" cy="274320"/>
          </a:xfrm>
          <a:prstGeom prst="rect">
            <a:avLst/>
          </a:prstGeom>
          <a:noFill/>
          <a:ln/>
        </p:spPr>
        <p:txBody>
          <a:bodyPr wrap="square" rtlCol="0" anchor="ctr"/>
          <a:lstStyle/>
          <a:p>
            <a:pPr marL="0" indent="0">
              <a:buNone/>
            </a:pPr>
            <a:r>
              <a:rPr lang="en-US" sz="1100" b="1" kern="0" spc="150" dirty="0">
                <a:solidFill>
                  <a:srgbClr val="6B7280"/>
                </a:solidFill>
                <a:latin typeface="Calibri" pitchFamily="34" charset="0"/>
                <a:ea typeface="Calibri" pitchFamily="34" charset="-122"/>
                <a:cs typeface="Calibri" pitchFamily="34" charset="-120"/>
              </a:rPr>
              <a:t>CONTROL</a:t>
            </a:r>
            <a:endParaRPr lang="en-US" sz="1100" dirty="0"/>
          </a:p>
        </p:txBody>
      </p:sp>
      <p:sp>
        <p:nvSpPr>
          <p:cNvPr id="7" name="Text 5"/>
          <p:cNvSpPr/>
          <p:nvPr/>
        </p:nvSpPr>
        <p:spPr>
          <a:xfrm>
            <a:off x="822960" y="2194560"/>
            <a:ext cx="4754880" cy="164592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Exchange window shown as '7 days' on product-facing pages; the general FAQ separately states a 30-day policy — a first-time buyer checking both sees a contradiction.</a:t>
            </a:r>
            <a:endParaRPr lang="en-US" sz="1150" dirty="0"/>
          </a:p>
        </p:txBody>
      </p:sp>
      <p:sp>
        <p:nvSpPr>
          <p:cNvPr id="8" name="Shape 6"/>
          <p:cNvSpPr/>
          <p:nvPr/>
        </p:nvSpPr>
        <p:spPr>
          <a:xfrm>
            <a:off x="6309360" y="1737360"/>
            <a:ext cx="5212080" cy="2194560"/>
          </a:xfrm>
          <a:prstGeom prst="roundRect">
            <a:avLst>
              <a:gd name="adj" fmla="val 3333"/>
            </a:avLst>
          </a:prstGeom>
          <a:solidFill>
            <a:srgbClr val="EAF4F3"/>
          </a:solidFill>
          <a:ln w="12700">
            <a:solidFill>
              <a:srgbClr val="028090"/>
            </a:solidFill>
            <a:prstDash val="solid"/>
          </a:ln>
        </p:spPr>
        <p:txBody>
          <a:bodyPr/>
          <a:lstStyle/>
          <a:p>
            <a:endParaRPr lang="en-IN"/>
          </a:p>
        </p:txBody>
      </p:sp>
      <p:sp>
        <p:nvSpPr>
          <p:cNvPr id="9" name="Text 7"/>
          <p:cNvSpPr/>
          <p:nvPr/>
        </p:nvSpPr>
        <p:spPr>
          <a:xfrm>
            <a:off x="6492240" y="1874520"/>
            <a:ext cx="3657600" cy="274320"/>
          </a:xfrm>
          <a:prstGeom prst="rect">
            <a:avLst/>
          </a:prstGeom>
          <a:noFill/>
          <a:ln/>
        </p:spPr>
        <p:txBody>
          <a:bodyPr wrap="square"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VARIANT</a:t>
            </a:r>
            <a:endParaRPr lang="en-US" sz="1100" dirty="0"/>
          </a:p>
        </p:txBody>
      </p:sp>
      <p:sp>
        <p:nvSpPr>
          <p:cNvPr id="10" name="Text 8"/>
          <p:cNvSpPr/>
          <p:nvPr/>
        </p:nvSpPr>
        <p:spPr>
          <a:xfrm>
            <a:off x="6492240" y="2194560"/>
            <a:ext cx="4754880" cy="1645920"/>
          </a:xfrm>
          <a:prstGeom prst="rect">
            <a:avLst/>
          </a:prstGeom>
          <a:noFill/>
          <a:ln/>
        </p:spPr>
        <p:txBody>
          <a:bodyPr wrap="square" rtlCol="0" anchor="t"/>
          <a:lstStyle/>
          <a:p>
            <a:pPr marL="0" indent="0">
              <a:buNone/>
            </a:pPr>
            <a:r>
              <a:rPr lang="en-US" sz="1150" dirty="0">
                <a:solidFill>
                  <a:srgbClr val="1F2A33"/>
                </a:solidFill>
                <a:latin typeface="Calibri" pitchFamily="34" charset="0"/>
                <a:ea typeface="Calibri" pitchFamily="34" charset="-122"/>
                <a:cs typeface="Calibri" pitchFamily="34" charset="-120"/>
              </a:rPr>
              <a:t>One policy statement ('30-day hassle-free returns &amp; exchanges') used identically across product pages, FAQ, and footer, with a single linked policy page as the source of truth.</a:t>
            </a:r>
            <a:endParaRPr lang="en-US" sz="1150" dirty="0"/>
          </a:p>
        </p:txBody>
      </p:sp>
      <p:sp>
        <p:nvSpPr>
          <p:cNvPr id="11" name="Text 9"/>
          <p:cNvSpPr/>
          <p:nvPr/>
        </p:nvSpPr>
        <p:spPr>
          <a:xfrm>
            <a:off x="640080" y="41605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Primary metric</a:t>
            </a:r>
            <a:endParaRPr lang="en-US" sz="1150" dirty="0"/>
          </a:p>
        </p:txBody>
      </p:sp>
      <p:sp>
        <p:nvSpPr>
          <p:cNvPr id="12" name="Text 10"/>
          <p:cNvSpPr/>
          <p:nvPr/>
        </p:nvSpPr>
        <p:spPr>
          <a:xfrm>
            <a:off x="3108960" y="41605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PDP → Add-to-Cart rate</a:t>
            </a:r>
            <a:endParaRPr lang="en-US" sz="1100" dirty="0"/>
          </a:p>
        </p:txBody>
      </p:sp>
      <p:sp>
        <p:nvSpPr>
          <p:cNvPr id="13" name="Text 11"/>
          <p:cNvSpPr/>
          <p:nvPr/>
        </p:nvSpPr>
        <p:spPr>
          <a:xfrm>
            <a:off x="640080" y="46177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Secondary metrics</a:t>
            </a:r>
            <a:endParaRPr lang="en-US" sz="1150" dirty="0"/>
          </a:p>
        </p:txBody>
      </p:sp>
      <p:sp>
        <p:nvSpPr>
          <p:cNvPr id="14" name="Text 12"/>
          <p:cNvSpPr/>
          <p:nvPr/>
        </p:nvSpPr>
        <p:spPr>
          <a:xfrm>
            <a:off x="3108960" y="46177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Cart abandonment rate, policy-page exit rate</a:t>
            </a:r>
            <a:endParaRPr lang="en-US" sz="1100" dirty="0"/>
          </a:p>
        </p:txBody>
      </p:sp>
      <p:sp>
        <p:nvSpPr>
          <p:cNvPr id="15" name="Text 13"/>
          <p:cNvSpPr/>
          <p:nvPr/>
        </p:nvSpPr>
        <p:spPr>
          <a:xfrm>
            <a:off x="640080" y="50749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Guardrail metric</a:t>
            </a:r>
            <a:endParaRPr lang="en-US" sz="1150" dirty="0"/>
          </a:p>
        </p:txBody>
      </p:sp>
      <p:sp>
        <p:nvSpPr>
          <p:cNvPr id="16" name="Text 14"/>
          <p:cNvSpPr/>
          <p:nvPr/>
        </p:nvSpPr>
        <p:spPr>
          <a:xfrm>
            <a:off x="3108960" y="50749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Return/exchange request rate — must not spike if the window is effectively extended</a:t>
            </a:r>
            <a:endParaRPr lang="en-US" sz="1100" dirty="0"/>
          </a:p>
        </p:txBody>
      </p:sp>
      <p:sp>
        <p:nvSpPr>
          <p:cNvPr id="17" name="Text 15"/>
          <p:cNvSpPr/>
          <p:nvPr/>
        </p:nvSpPr>
        <p:spPr>
          <a:xfrm>
            <a:off x="640080" y="55321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Test type</a:t>
            </a:r>
            <a:endParaRPr lang="en-US" sz="1150" dirty="0"/>
          </a:p>
        </p:txBody>
      </p:sp>
      <p:sp>
        <p:nvSpPr>
          <p:cNvPr id="18" name="Text 16"/>
          <p:cNvSpPr/>
          <p:nvPr/>
        </p:nvSpPr>
        <p:spPr>
          <a:xfrm>
            <a:off x="3108960" y="55321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Content/copy correction — low enough risk to ship as a global update rather than a split test</a:t>
            </a:r>
            <a:endParaRPr lang="en-US" sz="1100" dirty="0"/>
          </a:p>
        </p:txBody>
      </p:sp>
      <p:sp>
        <p:nvSpPr>
          <p:cNvPr id="19" name="Text 17"/>
          <p:cNvSpPr/>
          <p:nvPr/>
        </p:nvSpPr>
        <p:spPr>
          <a:xfrm>
            <a:off x="640080" y="5989320"/>
            <a:ext cx="2377440" cy="36576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Minimum runtime</a:t>
            </a:r>
            <a:endParaRPr lang="en-US" sz="1150" dirty="0"/>
          </a:p>
        </p:txBody>
      </p:sp>
      <p:sp>
        <p:nvSpPr>
          <p:cNvPr id="20" name="Text 18"/>
          <p:cNvSpPr/>
          <p:nvPr/>
        </p:nvSpPr>
        <p:spPr>
          <a:xfrm>
            <a:off x="3108960" y="5989320"/>
            <a:ext cx="8412480" cy="457200"/>
          </a:xfrm>
          <a:prstGeom prst="rect">
            <a:avLst/>
          </a:prstGeom>
          <a:noFill/>
          <a:ln/>
        </p:spPr>
        <p:txBody>
          <a:bodyPr wrap="square" rtlCol="0" anchor="ctr"/>
          <a:lstStyle/>
          <a:p>
            <a:pPr marL="0" indent="0">
              <a:buNone/>
            </a:pPr>
            <a:r>
              <a:rPr lang="en-US" sz="1100" dirty="0">
                <a:solidFill>
                  <a:srgbClr val="1F2A33"/>
                </a:solidFill>
                <a:latin typeface="Calibri" pitchFamily="34" charset="0"/>
                <a:ea typeface="Calibri" pitchFamily="34" charset="-122"/>
                <a:cs typeface="Calibri" pitchFamily="34" charset="-120"/>
              </a:rPr>
              <a:t>2 full business cycles to observe stable PDP-to-cart rate before/after</a:t>
            </a:r>
            <a:endParaRPr lang="en-US" sz="1100" dirty="0"/>
          </a:p>
        </p:txBody>
      </p:sp>
      <p:sp>
        <p:nvSpPr>
          <p:cNvPr id="21" name="Text 19"/>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22" name="Text 20"/>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8 of 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320040"/>
          </a:xfrm>
          <a:prstGeom prst="rect">
            <a:avLst/>
          </a:prstGeom>
          <a:noFill/>
          <a:ln/>
        </p:spPr>
        <p:txBody>
          <a:bodyPr wrap="square"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08 — EXPECTED IMPACT &amp; ROADMAP</a:t>
            </a:r>
            <a:endParaRPr lang="en-US" sz="1100" dirty="0"/>
          </a:p>
        </p:txBody>
      </p:sp>
      <p:sp>
        <p:nvSpPr>
          <p:cNvPr id="3" name="Text 1"/>
          <p:cNvSpPr/>
          <p:nvPr/>
        </p:nvSpPr>
        <p:spPr>
          <a:xfrm>
            <a:off x="640080" y="685800"/>
            <a:ext cx="9601200" cy="548640"/>
          </a:xfrm>
          <a:prstGeom prst="rect">
            <a:avLst/>
          </a:prstGeom>
          <a:noFill/>
          <a:ln/>
        </p:spPr>
        <p:txBody>
          <a:bodyPr wrap="square" rtlCol="0" anchor="ctr"/>
          <a:lstStyle/>
          <a:p>
            <a:pPr marL="0" indent="0">
              <a:buNone/>
            </a:pPr>
            <a:r>
              <a:rPr lang="en-US" sz="2600" b="1" dirty="0">
                <a:solidFill>
                  <a:srgbClr val="1F2A33"/>
                </a:solidFill>
                <a:latin typeface="Cambria" pitchFamily="34" charset="0"/>
                <a:ea typeface="Cambria" pitchFamily="34" charset="-122"/>
                <a:cs typeface="Cambria" pitchFamily="34" charset="-120"/>
              </a:rPr>
              <a:t>What happens next</a:t>
            </a:r>
            <a:endParaRPr lang="en-US" sz="2600" dirty="0"/>
          </a:p>
        </p:txBody>
      </p:sp>
      <p:sp>
        <p:nvSpPr>
          <p:cNvPr id="4" name="Shape 2"/>
          <p:cNvSpPr/>
          <p:nvPr/>
        </p:nvSpPr>
        <p:spPr>
          <a:xfrm>
            <a:off x="640080" y="1463040"/>
            <a:ext cx="3520440" cy="1645920"/>
          </a:xfrm>
          <a:prstGeom prst="roundRect">
            <a:avLst>
              <a:gd name="adj" fmla="val 4444"/>
            </a:avLst>
          </a:prstGeom>
          <a:solidFill>
            <a:srgbClr val="028090"/>
          </a:solidFill>
          <a:ln/>
        </p:spPr>
        <p:txBody>
          <a:bodyPr/>
          <a:lstStyle/>
          <a:p>
            <a:endParaRPr lang="en-IN"/>
          </a:p>
        </p:txBody>
      </p:sp>
      <p:sp>
        <p:nvSpPr>
          <p:cNvPr id="5" name="Text 3"/>
          <p:cNvSpPr/>
          <p:nvPr/>
        </p:nvSpPr>
        <p:spPr>
          <a:xfrm>
            <a:off x="822960" y="1627632"/>
            <a:ext cx="32004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+2-4%</a:t>
            </a:r>
            <a:endParaRPr lang="en-US" sz="2400" dirty="0"/>
          </a:p>
        </p:txBody>
      </p:sp>
      <p:sp>
        <p:nvSpPr>
          <p:cNvPr id="6" name="Text 4"/>
          <p:cNvSpPr/>
          <p:nvPr/>
        </p:nvSpPr>
        <p:spPr>
          <a:xfrm>
            <a:off x="822960" y="2240280"/>
            <a:ext cx="3200400" cy="822960"/>
          </a:xfrm>
          <a:prstGeom prst="rect">
            <a:avLst/>
          </a:prstGeom>
          <a:noFill/>
          <a:ln/>
        </p:spPr>
        <p:txBody>
          <a:bodyPr wrap="square" rtlCol="0" anchor="t"/>
          <a:lstStyle/>
          <a:p>
            <a:pPr marL="0" indent="0">
              <a:buNone/>
            </a:pPr>
            <a:r>
              <a:rPr lang="en-US" sz="1050" dirty="0">
                <a:solidFill>
                  <a:srgbClr val="E4F6F4"/>
                </a:solidFill>
                <a:latin typeface="Calibri" pitchFamily="34" charset="0"/>
                <a:ea typeface="Calibri" pitchFamily="34" charset="-122"/>
                <a:cs typeface="Calibri" pitchFamily="34" charset="-120"/>
              </a:rPr>
              <a:t>modeled PDP→cart lift from removing policy contradiction (QW1)</a:t>
            </a:r>
            <a:endParaRPr lang="en-US" sz="1050" dirty="0"/>
          </a:p>
        </p:txBody>
      </p:sp>
      <p:sp>
        <p:nvSpPr>
          <p:cNvPr id="7" name="Shape 5"/>
          <p:cNvSpPr/>
          <p:nvPr/>
        </p:nvSpPr>
        <p:spPr>
          <a:xfrm>
            <a:off x="4343400" y="1463040"/>
            <a:ext cx="3520440" cy="1645920"/>
          </a:xfrm>
          <a:prstGeom prst="roundRect">
            <a:avLst>
              <a:gd name="adj" fmla="val 4444"/>
            </a:avLst>
          </a:prstGeom>
          <a:solidFill>
            <a:srgbClr val="028090"/>
          </a:solidFill>
          <a:ln/>
        </p:spPr>
        <p:txBody>
          <a:bodyPr/>
          <a:lstStyle/>
          <a:p>
            <a:endParaRPr lang="en-IN"/>
          </a:p>
        </p:txBody>
      </p:sp>
      <p:sp>
        <p:nvSpPr>
          <p:cNvPr id="8" name="Text 6"/>
          <p:cNvSpPr/>
          <p:nvPr/>
        </p:nvSpPr>
        <p:spPr>
          <a:xfrm>
            <a:off x="4526280" y="1627632"/>
            <a:ext cx="32004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1st</a:t>
            </a:r>
            <a:endParaRPr lang="en-US" sz="2400" dirty="0"/>
          </a:p>
        </p:txBody>
      </p:sp>
      <p:sp>
        <p:nvSpPr>
          <p:cNvPr id="9" name="Text 7"/>
          <p:cNvSpPr/>
          <p:nvPr/>
        </p:nvSpPr>
        <p:spPr>
          <a:xfrm>
            <a:off x="4526280" y="2240280"/>
            <a:ext cx="3200400" cy="822960"/>
          </a:xfrm>
          <a:prstGeom prst="rect">
            <a:avLst/>
          </a:prstGeom>
          <a:noFill/>
          <a:ln/>
        </p:spPr>
        <p:txBody>
          <a:bodyPr wrap="square" rtlCol="0" anchor="t"/>
          <a:lstStyle/>
          <a:p>
            <a:pPr marL="0" indent="0">
              <a:buNone/>
            </a:pPr>
            <a:r>
              <a:rPr lang="en-US" sz="1050" dirty="0">
                <a:solidFill>
                  <a:srgbClr val="E4F6F4"/>
                </a:solidFill>
                <a:latin typeface="Calibri" pitchFamily="34" charset="0"/>
                <a:ea typeface="Calibri" pitchFamily="34" charset="-122"/>
                <a:cs typeface="Calibri" pitchFamily="34" charset="-120"/>
              </a:rPr>
              <a:t>fix to ship — content-only, no design or dev dependency</a:t>
            </a:r>
            <a:endParaRPr lang="en-US" sz="1050" dirty="0"/>
          </a:p>
        </p:txBody>
      </p:sp>
      <p:sp>
        <p:nvSpPr>
          <p:cNvPr id="10" name="Shape 8"/>
          <p:cNvSpPr/>
          <p:nvPr/>
        </p:nvSpPr>
        <p:spPr>
          <a:xfrm>
            <a:off x="8046720" y="1463040"/>
            <a:ext cx="3520440" cy="1645920"/>
          </a:xfrm>
          <a:prstGeom prst="roundRect">
            <a:avLst>
              <a:gd name="adj" fmla="val 4444"/>
            </a:avLst>
          </a:prstGeom>
          <a:solidFill>
            <a:srgbClr val="028090"/>
          </a:solidFill>
          <a:ln/>
        </p:spPr>
        <p:txBody>
          <a:bodyPr/>
          <a:lstStyle/>
          <a:p>
            <a:endParaRPr lang="en-IN"/>
          </a:p>
        </p:txBody>
      </p:sp>
      <p:sp>
        <p:nvSpPr>
          <p:cNvPr id="11" name="Text 9"/>
          <p:cNvSpPr/>
          <p:nvPr/>
        </p:nvSpPr>
        <p:spPr>
          <a:xfrm>
            <a:off x="8229600" y="1627632"/>
            <a:ext cx="32004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0</a:t>
            </a:r>
            <a:endParaRPr lang="en-US" sz="2400" dirty="0"/>
          </a:p>
        </p:txBody>
      </p:sp>
      <p:sp>
        <p:nvSpPr>
          <p:cNvPr id="12" name="Text 10"/>
          <p:cNvSpPr/>
          <p:nvPr/>
        </p:nvSpPr>
        <p:spPr>
          <a:xfrm>
            <a:off x="8229600" y="2240280"/>
            <a:ext cx="3200400" cy="822960"/>
          </a:xfrm>
          <a:prstGeom prst="rect">
            <a:avLst/>
          </a:prstGeom>
          <a:noFill/>
          <a:ln/>
        </p:spPr>
        <p:txBody>
          <a:bodyPr wrap="square" rtlCol="0" anchor="t"/>
          <a:lstStyle/>
          <a:p>
            <a:pPr marL="0" indent="0">
              <a:buNone/>
            </a:pPr>
            <a:r>
              <a:rPr lang="en-US" sz="1050" dirty="0">
                <a:solidFill>
                  <a:srgbClr val="E4F6F4"/>
                </a:solidFill>
                <a:latin typeface="Calibri" pitchFamily="34" charset="0"/>
                <a:ea typeface="Calibri" pitchFamily="34" charset="-122"/>
                <a:cs typeface="Calibri" pitchFamily="34" charset="-120"/>
              </a:rPr>
              <a:t>new tech debt — this is a copy correction, not a new build</a:t>
            </a:r>
            <a:endParaRPr lang="en-US" sz="1050" dirty="0"/>
          </a:p>
        </p:txBody>
      </p:sp>
      <p:sp>
        <p:nvSpPr>
          <p:cNvPr id="13" name="Text 11"/>
          <p:cNvSpPr/>
          <p:nvPr/>
        </p:nvSpPr>
        <p:spPr>
          <a:xfrm>
            <a:off x="640080" y="3337560"/>
            <a:ext cx="10607040" cy="548640"/>
          </a:xfrm>
          <a:prstGeom prst="rect">
            <a:avLst/>
          </a:prstGeom>
          <a:noFill/>
          <a:ln/>
        </p:spPr>
        <p:txBody>
          <a:bodyPr wrap="square" rtlCol="0" anchor="t"/>
          <a:lstStyle/>
          <a:p>
            <a:pPr marL="0" indent="0">
              <a:buNone/>
            </a:pPr>
            <a:r>
              <a:rPr lang="en-US" sz="1050" i="1" dirty="0">
                <a:solidFill>
                  <a:srgbClr val="6B7280"/>
                </a:solidFill>
                <a:latin typeface="Calibri" pitchFamily="34" charset="0"/>
                <a:ea typeface="Calibri" pitchFamily="34" charset="-122"/>
                <a:cs typeface="Calibri" pitchFamily="34" charset="-120"/>
              </a:rPr>
              <a:t>The lift figure above is a working estimate, not a measured result — based on published research linking purchase anxiety to policy clarity in fit-risk categories. Worth confirming against Neeman's own before/after numbers once shipped.</a:t>
            </a:r>
            <a:endParaRPr lang="en-US" sz="1050" dirty="0"/>
          </a:p>
        </p:txBody>
      </p:sp>
      <p:sp>
        <p:nvSpPr>
          <p:cNvPr id="14" name="Text 12"/>
          <p:cNvSpPr/>
          <p:nvPr/>
        </p:nvSpPr>
        <p:spPr>
          <a:xfrm>
            <a:off x="640080" y="4114800"/>
            <a:ext cx="10607040" cy="822960"/>
          </a:xfrm>
          <a:prstGeom prst="rect">
            <a:avLst/>
          </a:prstGeom>
          <a:noFill/>
          <a:ln/>
        </p:spPr>
        <p:txBody>
          <a:bodyPr wrap="square" rtlCol="0" anchor="t"/>
          <a:lstStyle/>
          <a:p>
            <a:pPr marL="0" indent="0">
              <a:buNone/>
            </a:pPr>
            <a:r>
              <a:rPr lang="en-US" sz="1200" b="1" dirty="0">
                <a:solidFill>
                  <a:srgbClr val="1F2A33"/>
                </a:solidFill>
                <a:latin typeface="Calibri" pitchFamily="34" charset="0"/>
                <a:ea typeface="Calibri" pitchFamily="34" charset="-122"/>
                <a:cs typeface="Calibri" pitchFamily="34" charset="-120"/>
              </a:rPr>
              <a:t>If it wins: </a:t>
            </a:r>
            <a:r>
              <a:rPr lang="en-US" sz="1200" dirty="0">
                <a:solidFill>
                  <a:srgbClr val="6B7280"/>
                </a:solidFill>
                <a:latin typeface="Calibri" pitchFamily="34" charset="0"/>
                <a:ea typeface="Calibri" pitchFamily="34" charset="-122"/>
                <a:cs typeface="Calibri" pitchFamily="34" charset="-120"/>
              </a:rPr>
              <a:t>Extend the same policy-consistency audit to shipping, sizing, and warranty language sitewide; feed the discount-credibility finding into a longer-term pricing-presentation redesign (LT1).</a:t>
            </a:r>
            <a:endParaRPr lang="en-US" sz="1200" dirty="0"/>
          </a:p>
        </p:txBody>
      </p:sp>
      <p:sp>
        <p:nvSpPr>
          <p:cNvPr id="15" name="Text 13"/>
          <p:cNvSpPr/>
          <p:nvPr/>
        </p:nvSpPr>
        <p:spPr>
          <a:xfrm>
            <a:off x="640080" y="5029200"/>
            <a:ext cx="10607040" cy="822960"/>
          </a:xfrm>
          <a:prstGeom prst="rect">
            <a:avLst/>
          </a:prstGeom>
          <a:noFill/>
          <a:ln/>
        </p:spPr>
        <p:txBody>
          <a:bodyPr wrap="square" rtlCol="0" anchor="t"/>
          <a:lstStyle/>
          <a:p>
            <a:pPr marL="0" indent="0">
              <a:buNone/>
            </a:pPr>
            <a:r>
              <a:rPr lang="en-US" sz="1200" b="1" dirty="0">
                <a:solidFill>
                  <a:srgbClr val="1F2A33"/>
                </a:solidFill>
                <a:latin typeface="Calibri" pitchFamily="34" charset="0"/>
                <a:ea typeface="Calibri" pitchFamily="34" charset="-122"/>
                <a:cs typeface="Calibri" pitchFamily="34" charset="-120"/>
              </a:rPr>
              <a:t>If it loses/flat: </a:t>
            </a:r>
            <a:r>
              <a:rPr lang="en-US" sz="1200" dirty="0">
                <a:solidFill>
                  <a:srgbClr val="6B7280"/>
                </a:solidFill>
                <a:latin typeface="Calibri" pitchFamily="34" charset="0"/>
                <a:ea typeface="Calibri" pitchFamily="34" charset="-122"/>
                <a:cs typeface="Calibri" pitchFamily="34" charset="-120"/>
              </a:rPr>
              <a:t>Don't conclude policy language doesn't matter — test whether the issue is visibility (buyers not seeing the policy) rather than trust, before shelving the fix.</a:t>
            </a:r>
            <a:endParaRPr lang="en-US" sz="1200" dirty="0"/>
          </a:p>
        </p:txBody>
      </p:sp>
      <p:sp>
        <p:nvSpPr>
          <p:cNvPr id="16" name="Text 14"/>
          <p:cNvSpPr/>
          <p:nvPr/>
        </p:nvSpPr>
        <p:spPr>
          <a:xfrm>
            <a:off x="640080" y="6537960"/>
            <a:ext cx="5486400" cy="274320"/>
          </a:xfrm>
          <a:prstGeom prst="rect">
            <a:avLst/>
          </a:prstGeom>
          <a:noFill/>
          <a:ln/>
        </p:spPr>
        <p:txBody>
          <a:bodyPr wrap="square" rtlCol="0" anchor="ctr"/>
          <a:lstStyle/>
          <a:p>
            <a:pPr marL="0" indent="0">
              <a:buNone/>
            </a:pPr>
            <a:r>
              <a:rPr lang="en-US" sz="800" dirty="0">
                <a:solidFill>
                  <a:srgbClr val="9AA5AA"/>
                </a:solidFill>
                <a:latin typeface="Calibri" pitchFamily="34" charset="0"/>
                <a:ea typeface="Calibri" pitchFamily="34" charset="-122"/>
                <a:cs typeface="Calibri" pitchFamily="34" charset="-120"/>
              </a:rPr>
              <a:t>Neeman's — Independent CRO Audit</a:t>
            </a:r>
            <a:endParaRPr lang="en-US" sz="800" dirty="0"/>
          </a:p>
        </p:txBody>
      </p:sp>
      <p:sp>
        <p:nvSpPr>
          <p:cNvPr id="17" name="Text 15"/>
          <p:cNvSpPr/>
          <p:nvPr/>
        </p:nvSpPr>
        <p:spPr>
          <a:xfrm>
            <a:off x="9601200" y="6537960"/>
            <a:ext cx="1920240" cy="274320"/>
          </a:xfrm>
          <a:prstGeom prst="rect">
            <a:avLst/>
          </a:prstGeom>
          <a:noFill/>
          <a:ln/>
        </p:spPr>
        <p:txBody>
          <a:bodyPr wrap="square" rtlCol="0" anchor="ctr"/>
          <a:lstStyle/>
          <a:p>
            <a:pPr marL="0" indent="0" algn="r">
              <a:buNone/>
            </a:pPr>
            <a:r>
              <a:rPr lang="en-US" sz="800" dirty="0">
                <a:solidFill>
                  <a:srgbClr val="9AA5AA"/>
                </a:solidFill>
                <a:latin typeface="Calibri" pitchFamily="34" charset="0"/>
                <a:ea typeface="Calibri" pitchFamily="34" charset="-122"/>
                <a:cs typeface="Calibri" pitchFamily="34" charset="-120"/>
              </a:rPr>
              <a:t>Slide 9 of 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827212" y="-1828800"/>
            <a:ext cx="5486400" cy="5486400"/>
          </a:xfrm>
          <a:prstGeom prst="ellipse">
            <a:avLst/>
          </a:prstGeom>
          <a:solidFill>
            <a:srgbClr val="028090">
              <a:alpha val="28000"/>
            </a:srgbClr>
          </a:solidFill>
          <a:ln/>
        </p:spPr>
        <p:txBody>
          <a:bodyPr/>
          <a:lstStyle/>
          <a:p>
            <a:endParaRPr lang="en-IN"/>
          </a:p>
        </p:txBody>
      </p:sp>
      <p:sp>
        <p:nvSpPr>
          <p:cNvPr id="3" name="Text 1"/>
          <p:cNvSpPr/>
          <p:nvPr/>
        </p:nvSpPr>
        <p:spPr>
          <a:xfrm>
            <a:off x="824548" y="2560320"/>
            <a:ext cx="9144000" cy="914400"/>
          </a:xfrm>
          <a:prstGeom prst="rect">
            <a:avLst/>
          </a:prstGeom>
          <a:noFill/>
          <a:ln/>
        </p:spPr>
        <p:txBody>
          <a:bodyPr wrap="square" rtlCol="0" anchor="ctr"/>
          <a:lstStyle/>
          <a:p>
            <a:r>
              <a:rPr lang="en-US" sz="3800" b="1" dirty="0">
                <a:latin typeface="Cambria" pitchFamily="34" charset="0"/>
                <a:ea typeface="Cambria" pitchFamily="34" charset="-122"/>
                <a:cs typeface="Cambria" pitchFamily="34" charset="-120"/>
              </a:rPr>
              <a:t>Let's keep converting.</a:t>
            </a:r>
            <a:br>
              <a:rPr lang="en-US" sz="3800" b="1" dirty="0">
                <a:latin typeface="Cambria" pitchFamily="34" charset="0"/>
                <a:ea typeface="Cambria" pitchFamily="34" charset="-122"/>
                <a:cs typeface="Cambria" pitchFamily="34" charset="-120"/>
              </a:rPr>
            </a:br>
            <a:r>
              <a:rPr lang="en-US" sz="1100" i="1" dirty="0">
                <a:latin typeface="Cambria" pitchFamily="34" charset="0"/>
                <a:ea typeface="Cambria" pitchFamily="34" charset="-122"/>
                <a:cs typeface="Cambria" pitchFamily="34" charset="-120"/>
              </a:rPr>
              <a:t>Turn browsers into buyers at every step of the journey.</a:t>
            </a:r>
            <a:endParaRPr lang="en-US" sz="3800" i="1" dirty="0"/>
          </a:p>
        </p:txBody>
      </p:sp>
      <p:sp>
        <p:nvSpPr>
          <p:cNvPr id="4" name="Text 2"/>
          <p:cNvSpPr/>
          <p:nvPr/>
        </p:nvSpPr>
        <p:spPr>
          <a:xfrm>
            <a:off x="824548" y="3429000"/>
            <a:ext cx="8961120" cy="822960"/>
          </a:xfrm>
          <a:prstGeom prst="rect">
            <a:avLst/>
          </a:prstGeom>
          <a:noFill/>
          <a:ln/>
        </p:spPr>
        <p:txBody>
          <a:bodyPr wrap="square" rtlCol="0" anchor="ctr"/>
          <a:lstStyle/>
          <a:p>
            <a:r>
              <a:rPr lang="en-US" sz="1400" dirty="0">
                <a:latin typeface="Calibri" pitchFamily="34" charset="0"/>
                <a:ea typeface="Calibri" pitchFamily="34" charset="-122"/>
                <a:cs typeface="Calibri" pitchFamily="34" charset="-120"/>
              </a:rPr>
              <a:t>Thank you for the opportunity to walk through this. I'd love to bring this same rigor — sense, structured reasoning, business acumen, hypothesize, prioritize, test, learn — to OptiPhoenix's client programs.</a:t>
            </a:r>
            <a:endParaRPr lang="en-US" sz="1400" dirty="0"/>
          </a:p>
        </p:txBody>
      </p:sp>
      <p:sp>
        <p:nvSpPr>
          <p:cNvPr id="5" name="Text 3"/>
          <p:cNvSpPr/>
          <p:nvPr/>
        </p:nvSpPr>
        <p:spPr>
          <a:xfrm>
            <a:off x="824548" y="6126480"/>
            <a:ext cx="9144000" cy="365760"/>
          </a:xfrm>
          <a:prstGeom prst="rect">
            <a:avLst/>
          </a:prstGeom>
          <a:noFill/>
          <a:ln/>
        </p:spPr>
        <p:txBody>
          <a:bodyPr wrap="square" rtlCol="0" anchor="ctr"/>
          <a:lstStyle/>
          <a:p>
            <a:r>
              <a:rPr lang="en-US" sz="1100" b="1" dirty="0">
                <a:solidFill>
                  <a:srgbClr val="7C9997"/>
                </a:solidFill>
                <a:latin typeface="Calibri" pitchFamily="34" charset="0"/>
                <a:ea typeface="Calibri" pitchFamily="34" charset="-122"/>
                <a:cs typeface="Calibri" pitchFamily="34" charset="-120"/>
              </a:rPr>
              <a:t>Kemi Ghetia   •   kemighetia@gmail.com   •   +91-7016210932   • </a:t>
            </a:r>
            <a:r>
              <a:rPr lang="en-US" sz="1100" b="1" dirty="0">
                <a:solidFill>
                  <a:srgbClr val="7C9997"/>
                </a:solidFill>
                <a:latin typeface="Calibri" pitchFamily="34" charset="0"/>
                <a:ea typeface="Calibri" pitchFamily="34" charset="-122"/>
                <a:cs typeface="Calibri" pitchFamily="34" charset="-120"/>
                <a:hlinkClick r:id="rId3"/>
              </a:rPr>
              <a:t>https://www.linkedin.com/in/kemi-ghetia-4968a4263</a:t>
            </a:r>
            <a:endParaRPr lang="en-US" sz="11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2184</Words>
  <Application>Microsoft Office PowerPoint</Application>
  <PresentationFormat>Widescreen</PresentationFormat>
  <Paragraphs>157</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Kemi Ghetia</cp:lastModifiedBy>
  <cp:revision>9</cp:revision>
  <dcterms:created xsi:type="dcterms:W3CDTF">2026-07-28T09:48:30Z</dcterms:created>
  <dcterms:modified xsi:type="dcterms:W3CDTF">2026-07-28T11:53:13Z</dcterms:modified>
</cp:coreProperties>
</file>