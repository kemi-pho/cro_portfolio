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6" r:id="rId4"/>
    <p:sldId id="270" r:id="rId5"/>
    <p:sldId id="272" r:id="rId6"/>
    <p:sldId id="271" r:id="rId7"/>
    <p:sldId id="269" r:id="rId8"/>
    <p:sldId id="258" r:id="rId9"/>
    <p:sldId id="259" r:id="rId10"/>
    <p:sldId id="260" r:id="rId11"/>
    <p:sldId id="261" r:id="rId12"/>
    <p:sldId id="262" r:id="rId13"/>
    <p:sldId id="263" r:id="rId14"/>
    <p:sldId id="264"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93"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3468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1BE61-C168-DB7A-6ABB-340CAD21B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793BCD-AE70-A9EC-E5EB-4E2CDEBDA2A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881957F-9583-330C-4498-94410B83BF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F6DE88-EB18-58DD-1C21-5CD42009016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417883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iva.co/"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www.linkedin.com/in/kemi-ghetia-4968a4263"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chemeClr val="accent6">
              <a:lumMod val="20000"/>
              <a:lumOff val="80000"/>
              <a:alpha val="28000"/>
            </a:schemeClr>
          </a:solidFill>
          <a:ln/>
        </p:spPr>
      </p:sp>
      <p:sp>
        <p:nvSpPr>
          <p:cNvPr id="3" name="Text 1"/>
          <p:cNvSpPr/>
          <p:nvPr/>
        </p:nvSpPr>
        <p:spPr>
          <a:xfrm>
            <a:off x="741998" y="2103120"/>
            <a:ext cx="9144000" cy="365760"/>
          </a:xfrm>
          <a:prstGeom prst="rect">
            <a:avLst/>
          </a:prstGeom>
          <a:noFill/>
          <a:ln/>
        </p:spPr>
        <p:txBody>
          <a:bodyPr wrap="square" rtlCol="0" anchor="ctr"/>
          <a:lstStyle/>
          <a:p>
            <a:pPr marL="0" indent="0">
              <a:buNone/>
            </a:pPr>
            <a:r>
              <a:rPr lang="en-US" sz="1300" b="1" kern="0" spc="300" dirty="0">
                <a:solidFill>
                  <a:srgbClr val="02C39A"/>
                </a:solidFill>
                <a:latin typeface="Calibri" pitchFamily="34" charset="0"/>
                <a:ea typeface="Calibri" pitchFamily="34" charset="-122"/>
                <a:cs typeface="Calibri" pitchFamily="34" charset="-120"/>
              </a:rPr>
              <a:t>INDEPENDENT CRO AUDIT REPORT</a:t>
            </a:r>
            <a:endParaRPr lang="en-US" sz="1300" dirty="0"/>
          </a:p>
        </p:txBody>
      </p:sp>
      <p:sp>
        <p:nvSpPr>
          <p:cNvPr id="4" name="Text 2"/>
          <p:cNvSpPr/>
          <p:nvPr/>
        </p:nvSpPr>
        <p:spPr>
          <a:xfrm>
            <a:off x="777240" y="2468880"/>
            <a:ext cx="100584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hlinkClick r:id="rId3"/>
              </a:rPr>
              <a:t>GIVA</a:t>
            </a:r>
            <a:endParaRPr lang="en-US" sz="4400" dirty="0"/>
          </a:p>
        </p:txBody>
      </p:sp>
      <p:sp>
        <p:nvSpPr>
          <p:cNvPr id="5" name="Text 3"/>
          <p:cNvSpPr/>
          <p:nvPr/>
        </p:nvSpPr>
        <p:spPr>
          <a:xfrm>
            <a:off x="741998" y="3429000"/>
            <a:ext cx="8686800" cy="640080"/>
          </a:xfrm>
          <a:prstGeom prst="rect">
            <a:avLst/>
          </a:prstGeom>
          <a:noFill/>
          <a:ln/>
        </p:spPr>
        <p:txBody>
          <a:bodyPr wrap="square" rtlCol="0" anchor="ctr"/>
          <a:lstStyle/>
          <a:p>
            <a:pPr marL="0" indent="0">
              <a:buNone/>
            </a:pPr>
            <a:r>
              <a:rPr lang="en-US" sz="1400" dirty="0">
                <a:solidFill>
                  <a:srgbClr val="CADCDC"/>
                </a:solidFill>
                <a:latin typeface="Calibri" pitchFamily="34" charset="0"/>
                <a:ea typeface="Calibri" pitchFamily="34" charset="-122"/>
                <a:cs typeface="Calibri" pitchFamily="34" charset="-120"/>
              </a:rPr>
              <a:t>925 silver &amp; gold D2C jewelry brand — independent conversion audit of the homepage and category discovery experience.</a:t>
            </a:r>
            <a:endParaRPr lang="en-US" sz="1400" dirty="0"/>
          </a:p>
        </p:txBody>
      </p:sp>
      <p:sp>
        <p:nvSpPr>
          <p:cNvPr id="6" name="Shape 4"/>
          <p:cNvSpPr/>
          <p:nvPr/>
        </p:nvSpPr>
        <p:spPr>
          <a:xfrm>
            <a:off x="822960" y="5394960"/>
            <a:ext cx="8686800" cy="0"/>
          </a:xfrm>
          <a:prstGeom prst="line">
            <a:avLst/>
          </a:prstGeom>
          <a:noFill/>
          <a:ln w="12700">
            <a:solidFill>
              <a:srgbClr val="1E3A3F"/>
            </a:solidFill>
            <a:prstDash val="solid"/>
          </a:ln>
        </p:spPr>
      </p:sp>
      <p:sp>
        <p:nvSpPr>
          <p:cNvPr id="7" name="Text 5"/>
          <p:cNvSpPr/>
          <p:nvPr/>
        </p:nvSpPr>
        <p:spPr>
          <a:xfrm>
            <a:off x="822960" y="5486400"/>
            <a:ext cx="8869680" cy="822960"/>
          </a:xfrm>
          <a:prstGeom prst="rect">
            <a:avLst/>
          </a:prstGeom>
          <a:noFill/>
          <a:ln/>
        </p:spPr>
        <p:txBody>
          <a:bodyPr wrap="square" rtlCol="0" anchor="t"/>
          <a:lstStyle/>
          <a:p>
            <a:pPr marL="0" indent="0">
              <a:buNone/>
            </a:pPr>
            <a:r>
              <a:rPr lang="en-US" sz="950" i="1" dirty="0">
                <a:solidFill>
                  <a:srgbClr val="9FB8B6"/>
                </a:solidFill>
                <a:latin typeface="Calibri" pitchFamily="34" charset="0"/>
                <a:ea typeface="Calibri" pitchFamily="34" charset="-122"/>
                <a:cs typeface="Calibri" pitchFamily="34" charset="-120"/>
              </a:rPr>
              <a:t>This is independent, outside-in research based only on publicly visible pages on giva.co. It does not draw on any insider knowledge of GIVA's actual CRO program, prior test results, or internal data, and any specific figures cited are illustrative estimates, not measured outcomes.</a:t>
            </a:r>
            <a:endParaRPr lang="en-US" sz="950" dirty="0"/>
          </a:p>
        </p:txBody>
      </p:sp>
      <p:sp>
        <p:nvSpPr>
          <p:cNvPr id="8" name="Text 6"/>
          <p:cNvSpPr/>
          <p:nvPr/>
        </p:nvSpPr>
        <p:spPr>
          <a:xfrm>
            <a:off x="822960" y="6446520"/>
            <a:ext cx="9144000" cy="320040"/>
          </a:xfrm>
          <a:prstGeom prst="rect">
            <a:avLst/>
          </a:prstGeom>
          <a:noFill/>
          <a:ln/>
        </p:spPr>
        <p:txBody>
          <a:bodyPr wrap="square" rtlCol="0" anchor="ctr"/>
          <a:lstStyle/>
          <a:p>
            <a:r>
              <a:rPr lang="en-US" sz="1000" dirty="0">
                <a:solidFill>
                  <a:schemeClr val="bg1"/>
                </a:solidFill>
                <a:latin typeface="Calibri" pitchFamily="34" charset="0"/>
                <a:ea typeface="Calibri" pitchFamily="34" charset="-122"/>
                <a:cs typeface="Calibri" pitchFamily="34" charset="-120"/>
              </a:rPr>
              <a:t>Prepared by Kemi Ghetia  •  CRO Growth Analyst  •  July 2026</a:t>
            </a:r>
            <a:endParaRPr lang="en-US" sz="1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01 — EXECUTIVE SUMMARY</a:t>
            </a:r>
            <a:endParaRPr lang="en-US" sz="1100" dirty="0"/>
          </a:p>
        </p:txBody>
      </p:sp>
      <p:sp>
        <p:nvSpPr>
          <p:cNvPr id="3" name="Text 1"/>
          <p:cNvSpPr/>
          <p:nvPr/>
        </p:nvSpPr>
        <p:spPr>
          <a:xfrm>
            <a:off x="640080" y="685800"/>
            <a:ext cx="91440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Diagnosis</a:t>
            </a:r>
            <a:endParaRPr lang="en-US" sz="26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Most websites leak 10-20% of potential revenue through friction, simple gaps &amp; silent leakage points — this audit locates where that's most likely happening for GIVA.</a:t>
            </a:r>
            <a:endParaRPr lang="en-US" sz="1200" dirty="0"/>
          </a:p>
        </p:txBody>
      </p:sp>
      <p:sp>
        <p:nvSpPr>
          <p:cNvPr id="5" name="Text 3"/>
          <p:cNvSpPr/>
          <p:nvPr/>
        </p:nvSpPr>
        <p:spPr>
          <a:xfrm>
            <a:off x="640080" y="1783080"/>
            <a:ext cx="10881360" cy="1463040"/>
          </a:xfrm>
          <a:prstGeom prst="rect">
            <a:avLst/>
          </a:prstGeom>
          <a:noFill/>
          <a:ln/>
        </p:spPr>
        <p:txBody>
          <a:bodyPr wrap="square" rtlCol="0" anchor="t"/>
          <a:lstStyle/>
          <a:p>
            <a:pPr marL="0" indent="0">
              <a:buNone/>
            </a:pPr>
            <a:r>
              <a:rPr lang="en-US" sz="1250" dirty="0">
                <a:solidFill>
                  <a:srgbClr val="1F2A33"/>
                </a:solidFill>
                <a:latin typeface="Calibri" pitchFamily="34" charset="0"/>
                <a:ea typeface="Calibri" pitchFamily="34" charset="-122"/>
                <a:cs typeface="Calibri" pitchFamily="34" charset="-120"/>
              </a:rPr>
              <a:t>GIVA's core proposition is strong: accessible 925 silver jewelry starting at Rs.599, hallmarking and a certificate of authenticity on every purchase, and a rich occasion-led brand story (gifting for a birthday, anniversary, promotion). But the site asks a first-time visitor to choose a material (Silver / Gold / Lab-Grown Diamonds) before it helps them find a gift for an occasion or a budget — which is backwards for how most jewelry gifting decisions actually start. A second issue: the strongest new-customer incentive (flat 15% off first order) is gated behind an app install, adding a channel-switch step for web-converting traffic. Works well for app downloads and user acquisition, but could also impact high bounce or low-intent customers leaving, leading to lower engagement rate.</a:t>
            </a:r>
            <a:endParaRPr lang="en-US" sz="1250" dirty="0"/>
          </a:p>
        </p:txBody>
      </p:sp>
      <p:sp>
        <p:nvSpPr>
          <p:cNvPr id="6" name="Shape 4"/>
          <p:cNvSpPr/>
          <p:nvPr/>
        </p:nvSpPr>
        <p:spPr>
          <a:xfrm>
            <a:off x="640080" y="3429000"/>
            <a:ext cx="2606040" cy="1371600"/>
          </a:xfrm>
          <a:prstGeom prst="roundRect">
            <a:avLst>
              <a:gd name="adj" fmla="val 5333"/>
            </a:avLst>
          </a:prstGeom>
          <a:solidFill>
            <a:srgbClr val="028090"/>
          </a:solidFill>
          <a:ln/>
        </p:spPr>
      </p:sp>
      <p:sp>
        <p:nvSpPr>
          <p:cNvPr id="7" name="Text 5"/>
          <p:cNvSpPr/>
          <p:nvPr/>
        </p:nvSpPr>
        <p:spPr>
          <a:xfrm>
            <a:off x="777240" y="3547872"/>
            <a:ext cx="2331720" cy="5486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₹599</a:t>
            </a:r>
            <a:endParaRPr lang="en-US" sz="2000" dirty="0"/>
          </a:p>
        </p:txBody>
      </p:sp>
      <p:sp>
        <p:nvSpPr>
          <p:cNvPr id="8" name="Text 6"/>
          <p:cNvSpPr/>
          <p:nvPr/>
        </p:nvSpPr>
        <p:spPr>
          <a:xfrm>
            <a:off x="777240" y="4069080"/>
            <a:ext cx="2331720" cy="640080"/>
          </a:xfrm>
          <a:prstGeom prst="rect">
            <a:avLst/>
          </a:prstGeom>
          <a:noFill/>
          <a:ln/>
        </p:spPr>
        <p:txBody>
          <a:bodyPr wrap="square" rtlCol="0" anchor="t"/>
          <a:lstStyle/>
          <a:p>
            <a:pPr marL="0" indent="0">
              <a:buNone/>
            </a:pPr>
            <a:r>
              <a:rPr lang="en-US" sz="950" dirty="0">
                <a:solidFill>
                  <a:srgbClr val="E4F6F4"/>
                </a:solidFill>
                <a:latin typeface="Calibri" pitchFamily="34" charset="0"/>
                <a:ea typeface="Calibri" pitchFamily="34" charset="-122"/>
                <a:cs typeface="Calibri" pitchFamily="34" charset="-120"/>
              </a:rPr>
              <a:t>Entry price point for silver jewelry</a:t>
            </a:r>
            <a:endParaRPr lang="en-US" sz="950" dirty="0"/>
          </a:p>
        </p:txBody>
      </p:sp>
      <p:sp>
        <p:nvSpPr>
          <p:cNvPr id="9" name="Shape 7"/>
          <p:cNvSpPr/>
          <p:nvPr/>
        </p:nvSpPr>
        <p:spPr>
          <a:xfrm>
            <a:off x="3410712" y="3429000"/>
            <a:ext cx="2606040" cy="1371600"/>
          </a:xfrm>
          <a:prstGeom prst="roundRect">
            <a:avLst>
              <a:gd name="adj" fmla="val 5333"/>
            </a:avLst>
          </a:prstGeom>
          <a:solidFill>
            <a:srgbClr val="028090"/>
          </a:solidFill>
          <a:ln/>
        </p:spPr>
      </p:sp>
      <p:sp>
        <p:nvSpPr>
          <p:cNvPr id="10" name="Text 8"/>
          <p:cNvSpPr/>
          <p:nvPr/>
        </p:nvSpPr>
        <p:spPr>
          <a:xfrm>
            <a:off x="3547872" y="3547872"/>
            <a:ext cx="2331720" cy="5486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1" name="Text 9"/>
          <p:cNvSpPr/>
          <p:nvPr/>
        </p:nvSpPr>
        <p:spPr>
          <a:xfrm>
            <a:off x="3547872" y="4069080"/>
            <a:ext cx="2331720" cy="640080"/>
          </a:xfrm>
          <a:prstGeom prst="rect">
            <a:avLst/>
          </a:prstGeom>
          <a:noFill/>
          <a:ln/>
        </p:spPr>
        <p:txBody>
          <a:bodyPr wrap="square" rtlCol="0" anchor="t"/>
          <a:lstStyle/>
          <a:p>
            <a:pPr marL="0" indent="0">
              <a:buNone/>
            </a:pPr>
            <a:r>
              <a:rPr lang="en-US" sz="950" dirty="0">
                <a:solidFill>
                  <a:srgbClr val="E4F6F4"/>
                </a:solidFill>
                <a:latin typeface="Calibri" pitchFamily="34" charset="0"/>
                <a:ea typeface="Calibri" pitchFamily="34" charset="-122"/>
                <a:cs typeface="Calibri" pitchFamily="34" charset="-120"/>
              </a:rPr>
              <a:t>Parallel material lines: Silver / Gold / Lab-Grown Diamond</a:t>
            </a:r>
            <a:endParaRPr lang="en-US" sz="950" dirty="0"/>
          </a:p>
        </p:txBody>
      </p:sp>
      <p:sp>
        <p:nvSpPr>
          <p:cNvPr id="12" name="Shape 10"/>
          <p:cNvSpPr/>
          <p:nvPr/>
        </p:nvSpPr>
        <p:spPr>
          <a:xfrm>
            <a:off x="6181344" y="3429000"/>
            <a:ext cx="2606040" cy="1371600"/>
          </a:xfrm>
          <a:prstGeom prst="roundRect">
            <a:avLst>
              <a:gd name="adj" fmla="val 5333"/>
            </a:avLst>
          </a:prstGeom>
          <a:solidFill>
            <a:srgbClr val="028090"/>
          </a:solidFill>
          <a:ln/>
        </p:spPr>
      </p:sp>
      <p:sp>
        <p:nvSpPr>
          <p:cNvPr id="13" name="Text 11"/>
          <p:cNvSpPr/>
          <p:nvPr/>
        </p:nvSpPr>
        <p:spPr>
          <a:xfrm>
            <a:off x="6318504" y="3547872"/>
            <a:ext cx="2331720" cy="5486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15% off</a:t>
            </a:r>
            <a:endParaRPr lang="en-US" sz="2000" dirty="0"/>
          </a:p>
        </p:txBody>
      </p:sp>
      <p:sp>
        <p:nvSpPr>
          <p:cNvPr id="14" name="Text 12"/>
          <p:cNvSpPr/>
          <p:nvPr/>
        </p:nvSpPr>
        <p:spPr>
          <a:xfrm>
            <a:off x="6318504" y="4069080"/>
            <a:ext cx="2331720" cy="640080"/>
          </a:xfrm>
          <a:prstGeom prst="rect">
            <a:avLst/>
          </a:prstGeom>
          <a:noFill/>
          <a:ln/>
        </p:spPr>
        <p:txBody>
          <a:bodyPr wrap="square" rtlCol="0" anchor="t"/>
          <a:lstStyle/>
          <a:p>
            <a:pPr marL="0" indent="0">
              <a:buNone/>
            </a:pPr>
            <a:r>
              <a:rPr lang="en-US" sz="950" dirty="0">
                <a:solidFill>
                  <a:srgbClr val="E4F6F4"/>
                </a:solidFill>
                <a:latin typeface="Calibri" pitchFamily="34" charset="0"/>
                <a:ea typeface="Calibri" pitchFamily="34" charset="-122"/>
                <a:cs typeface="Calibri" pitchFamily="34" charset="-120"/>
              </a:rPr>
              <a:t>First-order incentive — app-only</a:t>
            </a:r>
            <a:endParaRPr lang="en-US" sz="950" dirty="0"/>
          </a:p>
        </p:txBody>
      </p:sp>
      <p:sp>
        <p:nvSpPr>
          <p:cNvPr id="15" name="Shape 13"/>
          <p:cNvSpPr/>
          <p:nvPr/>
        </p:nvSpPr>
        <p:spPr>
          <a:xfrm>
            <a:off x="8951976" y="3429000"/>
            <a:ext cx="2606040" cy="1371600"/>
          </a:xfrm>
          <a:prstGeom prst="roundRect">
            <a:avLst>
              <a:gd name="adj" fmla="val 5333"/>
            </a:avLst>
          </a:prstGeom>
          <a:solidFill>
            <a:srgbClr val="028090"/>
          </a:solidFill>
          <a:ln/>
        </p:spPr>
      </p:sp>
      <p:sp>
        <p:nvSpPr>
          <p:cNvPr id="16" name="Text 14"/>
          <p:cNvSpPr/>
          <p:nvPr/>
        </p:nvSpPr>
        <p:spPr>
          <a:xfrm>
            <a:off x="9089136" y="3547872"/>
            <a:ext cx="2331720" cy="5486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9089136" y="4069080"/>
            <a:ext cx="2331720" cy="640080"/>
          </a:xfrm>
          <a:prstGeom prst="rect">
            <a:avLst/>
          </a:prstGeom>
          <a:noFill/>
          <a:ln/>
        </p:spPr>
        <p:txBody>
          <a:bodyPr wrap="square" rtlCol="0" anchor="t"/>
          <a:lstStyle/>
          <a:p>
            <a:pPr marL="0" indent="0">
              <a:buNone/>
            </a:pPr>
            <a:r>
              <a:rPr lang="en-US" sz="950" dirty="0">
                <a:solidFill>
                  <a:srgbClr val="E4F6F4"/>
                </a:solidFill>
                <a:latin typeface="Calibri" pitchFamily="34" charset="0"/>
                <a:ea typeface="Calibri" pitchFamily="34" charset="-122"/>
                <a:cs typeface="Calibri" pitchFamily="34" charset="-120"/>
              </a:rPr>
              <a:t>Separate GIVA-branded domains found</a:t>
            </a:r>
            <a:endParaRPr lang="en-US" sz="950" dirty="0"/>
          </a:p>
        </p:txBody>
      </p:sp>
      <p:sp>
        <p:nvSpPr>
          <p:cNvPr id="18" name="Shape 16"/>
          <p:cNvSpPr/>
          <p:nvPr/>
        </p:nvSpPr>
        <p:spPr>
          <a:xfrm>
            <a:off x="640080" y="5074920"/>
            <a:ext cx="10881360" cy="1188720"/>
          </a:xfrm>
          <a:prstGeom prst="roundRect">
            <a:avLst>
              <a:gd name="adj" fmla="val 6154"/>
            </a:avLst>
          </a:prstGeom>
          <a:solidFill>
            <a:srgbClr val="EAF4F3"/>
          </a:solidFill>
          <a:ln w="12700">
            <a:solidFill>
              <a:srgbClr val="EAF4F3"/>
            </a:solidFill>
            <a:prstDash val="solid"/>
          </a:ln>
        </p:spPr>
      </p:sp>
      <p:sp>
        <p:nvSpPr>
          <p:cNvPr id="19" name="Text 17"/>
          <p:cNvSpPr/>
          <p:nvPr/>
        </p:nvSpPr>
        <p:spPr>
          <a:xfrm>
            <a:off x="822960" y="5193792"/>
            <a:ext cx="10058400" cy="320040"/>
          </a:xfrm>
          <a:prstGeom prst="rect">
            <a:avLst/>
          </a:prstGeom>
          <a:noFill/>
          <a:ln/>
        </p:spPr>
        <p:txBody>
          <a:bodyPr wrap="square" rtlCol="0" anchor="ctr"/>
          <a:lstStyle/>
          <a:p>
            <a:pPr marL="0" indent="0">
              <a:buNone/>
            </a:pPr>
            <a:r>
              <a:rPr lang="en-US" sz="1200" b="1" dirty="0">
                <a:solidFill>
                  <a:srgbClr val="1F2A33"/>
                </a:solidFill>
                <a:latin typeface="Calibri" pitchFamily="34" charset="0"/>
                <a:ea typeface="Calibri" pitchFamily="34" charset="-122"/>
                <a:cs typeface="Calibri" pitchFamily="34" charset="-120"/>
              </a:rPr>
              <a:t>Top-line recommendation</a:t>
            </a:r>
            <a:endParaRPr lang="en-US" sz="1200" dirty="0"/>
          </a:p>
        </p:txBody>
      </p:sp>
      <p:sp>
        <p:nvSpPr>
          <p:cNvPr id="20" name="Text 18"/>
          <p:cNvSpPr/>
          <p:nvPr/>
        </p:nvSpPr>
        <p:spPr>
          <a:xfrm>
            <a:off x="822960" y="5504688"/>
            <a:ext cx="10332720" cy="685800"/>
          </a:xfrm>
          <a:prstGeom prst="rect">
            <a:avLst/>
          </a:prstGeom>
          <a:noFill/>
          <a:ln/>
        </p:spPr>
        <p:txBody>
          <a:bodyPr wrap="square" rtlCol="0" anchor="t"/>
          <a:lstStyle/>
          <a:p>
            <a:pPr marL="0" indent="0">
              <a:buNone/>
            </a:pPr>
            <a:r>
              <a:rPr lang="en-US" sz="1150" dirty="0">
                <a:solidFill>
                  <a:srgbClr val="1F2A33"/>
                </a:solidFill>
                <a:latin typeface="Calibri" pitchFamily="34" charset="0"/>
                <a:ea typeface="Calibri" pitchFamily="34" charset="-122"/>
                <a:cs typeface="Calibri" pitchFamily="34" charset="-120"/>
              </a:rPr>
              <a:t>Add an occasion/budget-first entry point above the material-type split, and remove the app-only gate from the strongest new-customer discount.</a:t>
            </a:r>
            <a:endParaRPr lang="en-US" sz="1150" dirty="0"/>
          </a:p>
        </p:txBody>
      </p:sp>
      <p:sp>
        <p:nvSpPr>
          <p:cNvPr id="21" name="Text 19"/>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GIVA — Independent CRO Audit</a:t>
            </a:r>
            <a:endParaRPr lang="en-US" sz="800" dirty="0"/>
          </a:p>
        </p:txBody>
      </p:sp>
      <p:sp>
        <p:nvSpPr>
          <p:cNvPr id="22" name="Text 20"/>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2 of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41591B-F517-00B5-2E57-A6895B9EF45A}"/>
              </a:ext>
            </a:extLst>
          </p:cNvPr>
          <p:cNvPicPr>
            <a:picLocks noChangeAspect="1"/>
          </p:cNvPicPr>
          <p:nvPr/>
        </p:nvPicPr>
        <p:blipFill>
          <a:blip r:embed="rId2"/>
          <a:stretch>
            <a:fillRect/>
          </a:stretch>
        </p:blipFill>
        <p:spPr>
          <a:xfrm>
            <a:off x="5426972" y="542925"/>
            <a:ext cx="6320127" cy="2528887"/>
          </a:xfrm>
          <a:prstGeom prst="rect">
            <a:avLst/>
          </a:prstGeom>
        </p:spPr>
      </p:pic>
      <p:pic>
        <p:nvPicPr>
          <p:cNvPr id="5" name="Picture 4">
            <a:extLst>
              <a:ext uri="{FF2B5EF4-FFF2-40B4-BE49-F238E27FC236}">
                <a16:creationId xmlns:a16="http://schemas.microsoft.com/office/drawing/2014/main" id="{E9B7DE45-EBCF-28E5-2EDB-3CD3AB66B37A}"/>
              </a:ext>
            </a:extLst>
          </p:cNvPr>
          <p:cNvPicPr>
            <a:picLocks noChangeAspect="1"/>
          </p:cNvPicPr>
          <p:nvPr/>
        </p:nvPicPr>
        <p:blipFill>
          <a:blip r:embed="rId3"/>
          <a:stretch>
            <a:fillRect/>
          </a:stretch>
        </p:blipFill>
        <p:spPr>
          <a:xfrm>
            <a:off x="637165" y="3585355"/>
            <a:ext cx="6342316" cy="2783502"/>
          </a:xfrm>
          <a:prstGeom prst="rect">
            <a:avLst/>
          </a:prstGeom>
        </p:spPr>
      </p:pic>
      <p:sp>
        <p:nvSpPr>
          <p:cNvPr id="9" name="TextBox 8">
            <a:extLst>
              <a:ext uri="{FF2B5EF4-FFF2-40B4-BE49-F238E27FC236}">
                <a16:creationId xmlns:a16="http://schemas.microsoft.com/office/drawing/2014/main" id="{AE3B563B-34FB-C4F9-B0B3-E7BEA867B274}"/>
              </a:ext>
            </a:extLst>
          </p:cNvPr>
          <p:cNvSpPr txBox="1"/>
          <p:nvPr/>
        </p:nvSpPr>
        <p:spPr>
          <a:xfrm>
            <a:off x="7061705" y="4572919"/>
            <a:ext cx="5305996" cy="646331"/>
          </a:xfrm>
          <a:prstGeom prst="rect">
            <a:avLst/>
          </a:prstGeom>
          <a:noFill/>
        </p:spPr>
        <p:txBody>
          <a:bodyPr wrap="square">
            <a:spAutoFit/>
          </a:bodyPr>
          <a:lstStyle/>
          <a:p>
            <a:r>
              <a:rPr lang="en-IN" dirty="0"/>
              <a:t>Inconsistent UX and whitespace gap not serving the intended purpose of highlighting Bestsellers</a:t>
            </a:r>
          </a:p>
        </p:txBody>
      </p:sp>
      <p:sp>
        <p:nvSpPr>
          <p:cNvPr id="13" name="TextBox 12">
            <a:extLst>
              <a:ext uri="{FF2B5EF4-FFF2-40B4-BE49-F238E27FC236}">
                <a16:creationId xmlns:a16="http://schemas.microsoft.com/office/drawing/2014/main" id="{67820BDA-0FF3-39B5-A0F7-B1676A77FF3E}"/>
              </a:ext>
            </a:extLst>
          </p:cNvPr>
          <p:cNvSpPr txBox="1"/>
          <p:nvPr/>
        </p:nvSpPr>
        <p:spPr>
          <a:xfrm>
            <a:off x="637165" y="1692990"/>
            <a:ext cx="4867422" cy="369332"/>
          </a:xfrm>
          <a:prstGeom prst="rect">
            <a:avLst/>
          </a:prstGeom>
          <a:noFill/>
        </p:spPr>
        <p:txBody>
          <a:bodyPr wrap="square">
            <a:spAutoFit/>
          </a:bodyPr>
          <a:lstStyle/>
          <a:p>
            <a:r>
              <a:rPr lang="en-IN" dirty="0"/>
              <a:t>Inconsistent CTAs: “ATC, “Choose Options” on HP</a:t>
            </a:r>
          </a:p>
        </p:txBody>
      </p:sp>
    </p:spTree>
    <p:extLst>
      <p:ext uri="{BB962C8B-B14F-4D97-AF65-F5344CB8AC3E}">
        <p14:creationId xmlns:p14="http://schemas.microsoft.com/office/powerpoint/2010/main" val="3611037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1668" y="251226"/>
            <a:ext cx="9601200" cy="640080"/>
          </a:xfrm>
          <a:prstGeom prst="rect">
            <a:avLst/>
          </a:prstGeom>
          <a:noFill/>
          <a:ln/>
        </p:spPr>
        <p:txBody>
          <a:bodyPr wrap="square" rtlCol="0" anchor="ctr"/>
          <a:lstStyle/>
          <a:p>
            <a:r>
              <a:rPr lang="en-US" sz="2800" b="1" dirty="0">
                <a:solidFill>
                  <a:srgbClr val="1F2A33"/>
                </a:solidFill>
                <a:latin typeface="Cambria" pitchFamily="34" charset="0"/>
                <a:ea typeface="Cambria" pitchFamily="34" charset="-122"/>
                <a:cs typeface="Cambria" pitchFamily="34" charset="-120"/>
              </a:rPr>
              <a:t>What I Found: Friction Points</a:t>
            </a:r>
            <a:endParaRPr lang="en-US" sz="2800" dirty="0"/>
          </a:p>
        </p:txBody>
      </p:sp>
      <p:sp>
        <p:nvSpPr>
          <p:cNvPr id="3" name="Text 1"/>
          <p:cNvSpPr/>
          <p:nvPr/>
        </p:nvSpPr>
        <p:spPr>
          <a:xfrm>
            <a:off x="641668" y="845586"/>
            <a:ext cx="10058400" cy="365760"/>
          </a:xfrm>
          <a:prstGeom prst="rect">
            <a:avLst/>
          </a:prstGeom>
          <a:noFill/>
          <a:ln/>
        </p:spPr>
        <p:txBody>
          <a:bodyPr wrap="square" rtlCol="0" anchor="ctr"/>
          <a:lstStyle/>
          <a:p>
            <a:r>
              <a:rPr lang="en-US" sz="1300" i="1" dirty="0">
                <a:solidFill>
                  <a:srgbClr val="6B7280"/>
                </a:solidFill>
                <a:latin typeface="Calibri" pitchFamily="34" charset="0"/>
                <a:ea typeface="Calibri" pitchFamily="34" charset="-122"/>
                <a:cs typeface="Calibri" pitchFamily="34" charset="-120"/>
              </a:rPr>
              <a:t>Heuristic + behavioural-signal review of homepage &amp; navigation (mobile + desktop)</a:t>
            </a:r>
            <a:endParaRPr lang="en-US" sz="1300" dirty="0"/>
          </a:p>
        </p:txBody>
      </p:sp>
      <p:sp>
        <p:nvSpPr>
          <p:cNvPr id="4" name="Shape 2"/>
          <p:cNvSpPr/>
          <p:nvPr/>
        </p:nvSpPr>
        <p:spPr>
          <a:xfrm>
            <a:off x="582637" y="1353195"/>
            <a:ext cx="502920" cy="502920"/>
          </a:xfrm>
          <a:prstGeom prst="roundRect">
            <a:avLst>
              <a:gd name="adj" fmla="val 14545"/>
            </a:avLst>
          </a:prstGeom>
          <a:solidFill>
            <a:srgbClr val="028090"/>
          </a:solidFill>
          <a:ln/>
        </p:spPr>
        <p:txBody>
          <a:bodyPr/>
          <a:lstStyle/>
          <a:p>
            <a:endParaRPr lang="en-IN"/>
          </a:p>
        </p:txBody>
      </p:sp>
      <p:sp>
        <p:nvSpPr>
          <p:cNvPr id="5" name="Text 3"/>
          <p:cNvSpPr/>
          <p:nvPr/>
        </p:nvSpPr>
        <p:spPr>
          <a:xfrm>
            <a:off x="582637" y="1353195"/>
            <a:ext cx="502920" cy="502920"/>
          </a:xfrm>
          <a:prstGeom prst="rect">
            <a:avLst/>
          </a:prstGeom>
          <a:noFill/>
          <a:ln/>
        </p:spPr>
        <p:txBody>
          <a:bodyPr wrap="square" lIns="0" tIns="0" rIns="0" bIns="0" rtlCol="0" anchor="ctr"/>
          <a:lstStyle/>
          <a:p>
            <a:pPr algn="ct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268437" y="1307475"/>
            <a:ext cx="9966960" cy="320040"/>
          </a:xfrm>
          <a:prstGeom prst="rect">
            <a:avLst/>
          </a:prstGeom>
          <a:noFill/>
          <a:ln/>
        </p:spPr>
        <p:txBody>
          <a:bodyPr wrap="square" rtlCol="0" anchor="ctr"/>
          <a:lstStyle/>
          <a:p>
            <a:r>
              <a:rPr lang="en-IN" sz="1400" b="1" dirty="0"/>
              <a:t>Homepage — Hero Prioritizes Brand Campaign Over Shopper Intent </a:t>
            </a:r>
            <a:r>
              <a:rPr lang="en-IN" sz="1400" dirty="0"/>
              <a:t>(LIFT: Relevance / Value Proposition)</a:t>
            </a:r>
            <a:endParaRPr lang="en-US" sz="1400" dirty="0"/>
          </a:p>
        </p:txBody>
      </p:sp>
      <p:sp>
        <p:nvSpPr>
          <p:cNvPr id="25" name="Shape 16">
            <a:extLst>
              <a:ext uri="{FF2B5EF4-FFF2-40B4-BE49-F238E27FC236}">
                <a16:creationId xmlns:a16="http://schemas.microsoft.com/office/drawing/2014/main" id="{0F8A6FD9-FF0B-A631-4FD4-B3A51EC20353}"/>
              </a:ext>
            </a:extLst>
          </p:cNvPr>
          <p:cNvSpPr/>
          <p:nvPr/>
        </p:nvSpPr>
        <p:spPr>
          <a:xfrm>
            <a:off x="1181271" y="1583437"/>
            <a:ext cx="10107637" cy="2382832"/>
          </a:xfrm>
          <a:prstGeom prst="roundRect">
            <a:avLst>
              <a:gd name="adj" fmla="val 6154"/>
            </a:avLst>
          </a:prstGeom>
          <a:solidFill>
            <a:srgbClr val="EAF4F3"/>
          </a:solidFill>
          <a:ln w="12700">
            <a:solidFill>
              <a:srgbClr val="EAF4F3"/>
            </a:solidFill>
            <a:prstDash val="solid"/>
          </a:ln>
        </p:spPr>
        <p:txBody>
          <a:bodyPr/>
          <a:lstStyle/>
          <a:p>
            <a:endParaRPr lang="en-IN"/>
          </a:p>
        </p:txBody>
      </p:sp>
      <p:sp>
        <p:nvSpPr>
          <p:cNvPr id="27" name="Text 5">
            <a:extLst>
              <a:ext uri="{FF2B5EF4-FFF2-40B4-BE49-F238E27FC236}">
                <a16:creationId xmlns:a16="http://schemas.microsoft.com/office/drawing/2014/main" id="{C0FE1691-EAF3-BA81-E1FE-9F0394563F1F}"/>
              </a:ext>
            </a:extLst>
          </p:cNvPr>
          <p:cNvSpPr/>
          <p:nvPr/>
        </p:nvSpPr>
        <p:spPr>
          <a:xfrm>
            <a:off x="1268436" y="1645802"/>
            <a:ext cx="10116185" cy="1799961"/>
          </a:xfrm>
          <a:prstGeom prst="rect">
            <a:avLst/>
          </a:prstGeom>
          <a:noFill/>
          <a:ln/>
        </p:spPr>
        <p:txBody>
          <a:bodyPr wrap="square" rtlCol="0" anchor="t"/>
          <a:lstStyle/>
          <a:p>
            <a:r>
              <a:rPr lang="en-IN" sz="1200" b="1" dirty="0"/>
              <a:t>Issue:</a:t>
            </a:r>
            <a:r>
              <a:rPr lang="en-IN" sz="1200" dirty="0"/>
              <a:t> The homepage hero heavily promotes GIVA's latest campaign and collections, but a first-time visitor looking for a gift has to scroll before discovering practical purchase paths like Shop by Occasion, Shop by Recipient, or Gift Under ₹999. The brand speaks first, while customer hasn't yet identified what to buy.</a:t>
            </a:r>
            <a:br>
              <a:rPr lang="en-IN" sz="1200" dirty="0"/>
            </a:br>
            <a:endParaRPr lang="en-IN" sz="1200" dirty="0"/>
          </a:p>
          <a:p>
            <a:r>
              <a:rPr lang="en-IN" sz="1200" b="1" dirty="0"/>
              <a:t>Fix:</a:t>
            </a:r>
            <a:r>
              <a:rPr lang="en-IN" sz="1200" dirty="0"/>
              <a:t> Introduce a shopper-first decision module immediately below the hero with quick-entry paths like Shop for Occasion - Birthday Gifts, Anniversary Gifts, Office Wear, Everyday Silver, and Gifts Under ₹999 / ₹1,999. Keep campaign banners lower in the hierarchy.</a:t>
            </a:r>
            <a:br>
              <a:rPr lang="en-IN" sz="1200" dirty="0"/>
            </a:br>
            <a:endParaRPr lang="en-IN" sz="1200" dirty="0"/>
          </a:p>
          <a:p>
            <a:r>
              <a:rPr lang="en-IN" sz="1200" b="1" dirty="0"/>
              <a:t>Logic:</a:t>
            </a:r>
            <a:r>
              <a:rPr lang="en-IN" sz="1200" dirty="0"/>
              <a:t> The homepage should minimize decision effort, not maximize exploration. This improves Relevance by matching how shoppers naturally begin jewellery purchases ("Who am I buying for?" rather than "Which collection do I want?"), while strengthening perceived Value Proposition through faster product discovery.</a:t>
            </a:r>
            <a:br>
              <a:rPr lang="en-IN" sz="1200" dirty="0"/>
            </a:br>
            <a:endParaRPr lang="en-IN" sz="1200" dirty="0"/>
          </a:p>
          <a:p>
            <a:r>
              <a:rPr lang="en-IN" sz="1200" b="1" dirty="0"/>
              <a:t>Impact:</a:t>
            </a:r>
            <a:r>
              <a:rPr lang="en-IN" sz="1200" dirty="0"/>
              <a:t> Expected to improve Homepage → Collection CTR and Add to Cart Rate. Guardrail: ensure campaign engagement and premium collection traffic don't decline disproportionately.</a:t>
            </a:r>
          </a:p>
        </p:txBody>
      </p:sp>
      <p:pic>
        <p:nvPicPr>
          <p:cNvPr id="13" name="Picture 12">
            <a:extLst>
              <a:ext uri="{FF2B5EF4-FFF2-40B4-BE49-F238E27FC236}">
                <a16:creationId xmlns:a16="http://schemas.microsoft.com/office/drawing/2014/main" id="{B0426FCD-E3E4-D7CA-8559-8F327A1DD37F}"/>
              </a:ext>
            </a:extLst>
          </p:cNvPr>
          <p:cNvPicPr>
            <a:picLocks noChangeAspect="1"/>
          </p:cNvPicPr>
          <p:nvPr/>
        </p:nvPicPr>
        <p:blipFill>
          <a:blip r:embed="rId3"/>
          <a:stretch>
            <a:fillRect/>
          </a:stretch>
        </p:blipFill>
        <p:spPr>
          <a:xfrm>
            <a:off x="3047545" y="4124353"/>
            <a:ext cx="5695595" cy="23004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6">
            <a:extLst>
              <a:ext uri="{FF2B5EF4-FFF2-40B4-BE49-F238E27FC236}">
                <a16:creationId xmlns:a16="http://schemas.microsoft.com/office/drawing/2014/main" id="{DF51C094-FA97-063A-CCA6-17432AA49FF4}"/>
              </a:ext>
            </a:extLst>
          </p:cNvPr>
          <p:cNvSpPr/>
          <p:nvPr/>
        </p:nvSpPr>
        <p:spPr>
          <a:xfrm>
            <a:off x="641668" y="826947"/>
            <a:ext cx="502920" cy="502920"/>
          </a:xfrm>
          <a:prstGeom prst="roundRect">
            <a:avLst>
              <a:gd name="adj" fmla="val 14545"/>
            </a:avLst>
          </a:prstGeom>
          <a:solidFill>
            <a:srgbClr val="00A896"/>
          </a:solidFill>
          <a:ln/>
        </p:spPr>
        <p:txBody>
          <a:bodyPr/>
          <a:lstStyle/>
          <a:p>
            <a:endParaRPr lang="en-IN"/>
          </a:p>
        </p:txBody>
      </p:sp>
      <p:sp>
        <p:nvSpPr>
          <p:cNvPr id="5" name="Text 7">
            <a:extLst>
              <a:ext uri="{FF2B5EF4-FFF2-40B4-BE49-F238E27FC236}">
                <a16:creationId xmlns:a16="http://schemas.microsoft.com/office/drawing/2014/main" id="{75921951-D50C-2A8B-FDB8-78DFA7BC2842}"/>
              </a:ext>
            </a:extLst>
          </p:cNvPr>
          <p:cNvSpPr/>
          <p:nvPr/>
        </p:nvSpPr>
        <p:spPr>
          <a:xfrm>
            <a:off x="641668" y="826947"/>
            <a:ext cx="502920" cy="502920"/>
          </a:xfrm>
          <a:prstGeom prst="rect">
            <a:avLst/>
          </a:prstGeom>
          <a:noFill/>
          <a:ln/>
        </p:spPr>
        <p:txBody>
          <a:bodyPr wrap="square" lIns="0" tIns="0" rIns="0" bIns="0" rtlCol="0" anchor="ctr"/>
          <a:lstStyle/>
          <a:p>
            <a:pPr algn="ct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7" name="Text 8">
            <a:extLst>
              <a:ext uri="{FF2B5EF4-FFF2-40B4-BE49-F238E27FC236}">
                <a16:creationId xmlns:a16="http://schemas.microsoft.com/office/drawing/2014/main" id="{014D34AA-2F14-9EBA-FCD1-DB1A942F2F53}"/>
              </a:ext>
            </a:extLst>
          </p:cNvPr>
          <p:cNvSpPr/>
          <p:nvPr/>
        </p:nvSpPr>
        <p:spPr>
          <a:xfrm>
            <a:off x="1327468" y="781227"/>
            <a:ext cx="9966960" cy="320040"/>
          </a:xfrm>
          <a:prstGeom prst="rect">
            <a:avLst/>
          </a:prstGeom>
          <a:noFill/>
          <a:ln/>
        </p:spPr>
        <p:txBody>
          <a:bodyPr wrap="square" rtlCol="0" anchor="ctr"/>
          <a:lstStyle/>
          <a:p>
            <a:r>
              <a:rPr lang="en-IN" sz="1400" b="1" dirty="0"/>
              <a:t>Product Listing Page — Limited Merchandising Context Forces Product-by-Product Evaluation </a:t>
            </a:r>
            <a:r>
              <a:rPr lang="en-IN" sz="1400" dirty="0"/>
              <a:t>(LIFT: Clarity / Relevance)</a:t>
            </a:r>
            <a:endParaRPr lang="en-US" sz="1400" dirty="0"/>
          </a:p>
        </p:txBody>
      </p:sp>
      <p:sp>
        <p:nvSpPr>
          <p:cNvPr id="9" name="Shape 16">
            <a:extLst>
              <a:ext uri="{FF2B5EF4-FFF2-40B4-BE49-F238E27FC236}">
                <a16:creationId xmlns:a16="http://schemas.microsoft.com/office/drawing/2014/main" id="{83C5DA1C-DA40-C636-C6F3-D87B2F4D7016}"/>
              </a:ext>
            </a:extLst>
          </p:cNvPr>
          <p:cNvSpPr/>
          <p:nvPr/>
        </p:nvSpPr>
        <p:spPr>
          <a:xfrm>
            <a:off x="1268437" y="1101267"/>
            <a:ext cx="10107637" cy="2142040"/>
          </a:xfrm>
          <a:prstGeom prst="roundRect">
            <a:avLst>
              <a:gd name="adj" fmla="val 6154"/>
            </a:avLst>
          </a:prstGeom>
          <a:solidFill>
            <a:srgbClr val="EAF4F3"/>
          </a:solidFill>
          <a:ln w="12700">
            <a:solidFill>
              <a:srgbClr val="EAF4F3"/>
            </a:solidFill>
            <a:prstDash val="solid"/>
          </a:ln>
        </p:spPr>
        <p:txBody>
          <a:bodyPr/>
          <a:lstStyle/>
          <a:p>
            <a:endParaRPr lang="en-IN"/>
          </a:p>
        </p:txBody>
      </p:sp>
      <p:sp>
        <p:nvSpPr>
          <p:cNvPr id="11" name="Text 9">
            <a:extLst>
              <a:ext uri="{FF2B5EF4-FFF2-40B4-BE49-F238E27FC236}">
                <a16:creationId xmlns:a16="http://schemas.microsoft.com/office/drawing/2014/main" id="{86B631FB-1F85-229B-ECF7-DD41038802F6}"/>
              </a:ext>
            </a:extLst>
          </p:cNvPr>
          <p:cNvSpPr/>
          <p:nvPr/>
        </p:nvSpPr>
        <p:spPr>
          <a:xfrm>
            <a:off x="1327468" y="1119554"/>
            <a:ext cx="9966960" cy="1848729"/>
          </a:xfrm>
          <a:prstGeom prst="rect">
            <a:avLst/>
          </a:prstGeom>
          <a:noFill/>
          <a:ln/>
        </p:spPr>
        <p:txBody>
          <a:bodyPr wrap="square" rtlCol="0" anchor="t"/>
          <a:lstStyle/>
          <a:p>
            <a:r>
              <a:rPr lang="en-IN" sz="1200" b="1" dirty="0"/>
              <a:t>Issue:</a:t>
            </a:r>
            <a:r>
              <a:rPr lang="en-IN" sz="1200" dirty="0"/>
              <a:t> Collection pages primarily present products as visual grids, but key purchase information (best seller status, gifting suitability, craftsmanship highlights, review counts, or limited inventory) is not consistently surfaced at card level. Users often need to open multiple PDPs before comparing options.</a:t>
            </a:r>
            <a:br>
              <a:rPr lang="en-IN" sz="1200" dirty="0"/>
            </a:br>
            <a:endParaRPr lang="en-IN" sz="1200" dirty="0"/>
          </a:p>
          <a:p>
            <a:r>
              <a:rPr lang="en-IN" sz="1200" b="1" dirty="0"/>
              <a:t>Fix:</a:t>
            </a:r>
            <a:r>
              <a:rPr lang="en-IN" sz="1200" dirty="0"/>
              <a:t> Enrich product cards with lightweight decision cues such as </a:t>
            </a:r>
            <a:r>
              <a:rPr lang="en-IN" sz="1200" b="1" dirty="0"/>
              <a:t>Best Seller</a:t>
            </a:r>
            <a:r>
              <a:rPr lang="en-IN" sz="1200" dirty="0"/>
              <a:t>, </a:t>
            </a:r>
            <a:r>
              <a:rPr lang="en-IN" sz="1200" b="1" dirty="0"/>
              <a:t>Most Gifted, 925 Certified</a:t>
            </a:r>
            <a:r>
              <a:rPr lang="en-IN" sz="1200" dirty="0"/>
              <a:t>, and </a:t>
            </a:r>
            <a:r>
              <a:rPr lang="en-IN" sz="1200" b="1" dirty="0"/>
              <a:t>Limited Stock</a:t>
            </a:r>
            <a:r>
              <a:rPr lang="en-IN" sz="1200" dirty="0"/>
              <a:t> where applicable. Keep pricing and discounts visually secondary to trust signals.</a:t>
            </a:r>
            <a:br>
              <a:rPr lang="en-IN" sz="1200" dirty="0"/>
            </a:br>
            <a:endParaRPr lang="en-IN" sz="1200" dirty="0"/>
          </a:p>
          <a:p>
            <a:r>
              <a:rPr lang="en-IN" sz="1200" b="1" dirty="0"/>
              <a:t>Logic:</a:t>
            </a:r>
            <a:r>
              <a:rPr lang="en-IN" sz="1200" dirty="0"/>
              <a:t> Every additional PDP click introduces friction. Providing comparison-ready information directly on the listing improves </a:t>
            </a:r>
            <a:r>
              <a:rPr lang="en-IN" sz="1200" b="1" dirty="0"/>
              <a:t>Clarity</a:t>
            </a:r>
            <a:r>
              <a:rPr lang="en-IN" sz="1200" dirty="0"/>
              <a:t> and </a:t>
            </a:r>
            <a:r>
              <a:rPr lang="en-IN" sz="1200" b="1" dirty="0"/>
              <a:t>Relevance</a:t>
            </a:r>
            <a:r>
              <a:rPr lang="en-IN" sz="1200" dirty="0"/>
              <a:t>, allowing shoppers to shortlist products without repeatedly leaving the collection page.</a:t>
            </a:r>
            <a:br>
              <a:rPr lang="en-IN" sz="1200" dirty="0"/>
            </a:br>
            <a:endParaRPr lang="en-IN" sz="1200" dirty="0"/>
          </a:p>
          <a:p>
            <a:r>
              <a:rPr lang="en-IN" sz="1200" b="1" dirty="0"/>
              <a:t>Impact:</a:t>
            </a:r>
            <a:r>
              <a:rPr lang="en-IN" sz="1200" dirty="0"/>
              <a:t> Expected to improve </a:t>
            </a:r>
            <a:r>
              <a:rPr lang="en-IN" sz="1200" b="1" dirty="0"/>
              <a:t>PLP → PDP CTR</a:t>
            </a:r>
            <a:r>
              <a:rPr lang="en-IN" sz="1200" dirty="0"/>
              <a:t>, </a:t>
            </a:r>
            <a:r>
              <a:rPr lang="en-IN" sz="1200" b="1" dirty="0"/>
              <a:t>Add-to-Cart Rate</a:t>
            </a:r>
            <a:r>
              <a:rPr lang="en-IN" sz="1200" dirty="0"/>
              <a:t>, and reduce unnecessary browsing friction. Guardrail: monitor </a:t>
            </a:r>
            <a:r>
              <a:rPr lang="en-IN" sz="1200" b="1" dirty="0"/>
              <a:t>page load speed</a:t>
            </a:r>
            <a:r>
              <a:rPr lang="en-IN" sz="1200" dirty="0"/>
              <a:t> and </a:t>
            </a:r>
            <a:r>
              <a:rPr lang="en-IN" sz="1200" b="1" dirty="0"/>
              <a:t>scroll performance</a:t>
            </a:r>
            <a:r>
              <a:rPr lang="en-IN" sz="1200" dirty="0"/>
              <a:t> after adding richer merchandising elements.</a:t>
            </a:r>
          </a:p>
        </p:txBody>
      </p:sp>
      <p:pic>
        <p:nvPicPr>
          <p:cNvPr id="13" name="Picture 12">
            <a:extLst>
              <a:ext uri="{FF2B5EF4-FFF2-40B4-BE49-F238E27FC236}">
                <a16:creationId xmlns:a16="http://schemas.microsoft.com/office/drawing/2014/main" id="{B6A946EA-883F-DE7D-3858-2087C271581B}"/>
              </a:ext>
            </a:extLst>
          </p:cNvPr>
          <p:cNvPicPr>
            <a:picLocks noChangeAspect="1"/>
          </p:cNvPicPr>
          <p:nvPr/>
        </p:nvPicPr>
        <p:blipFill>
          <a:blip r:embed="rId2"/>
          <a:stretch>
            <a:fillRect/>
          </a:stretch>
        </p:blipFill>
        <p:spPr>
          <a:xfrm>
            <a:off x="213044" y="3627219"/>
            <a:ext cx="5447616" cy="2449554"/>
          </a:xfrm>
          <a:prstGeom prst="rect">
            <a:avLst/>
          </a:prstGeom>
        </p:spPr>
      </p:pic>
      <p:pic>
        <p:nvPicPr>
          <p:cNvPr id="15" name="Picture 14">
            <a:extLst>
              <a:ext uri="{FF2B5EF4-FFF2-40B4-BE49-F238E27FC236}">
                <a16:creationId xmlns:a16="http://schemas.microsoft.com/office/drawing/2014/main" id="{1A5171FC-3292-163D-B8A6-1404C641D2AC}"/>
              </a:ext>
            </a:extLst>
          </p:cNvPr>
          <p:cNvPicPr>
            <a:picLocks noChangeAspect="1"/>
          </p:cNvPicPr>
          <p:nvPr/>
        </p:nvPicPr>
        <p:blipFill>
          <a:blip r:embed="rId3"/>
          <a:stretch>
            <a:fillRect/>
          </a:stretch>
        </p:blipFill>
        <p:spPr>
          <a:xfrm>
            <a:off x="5788713" y="3762861"/>
            <a:ext cx="6190243" cy="2178269"/>
          </a:xfrm>
          <a:prstGeom prst="rect">
            <a:avLst/>
          </a:prstGeom>
        </p:spPr>
      </p:pic>
    </p:spTree>
    <p:extLst>
      <p:ext uri="{BB962C8B-B14F-4D97-AF65-F5344CB8AC3E}">
        <p14:creationId xmlns:p14="http://schemas.microsoft.com/office/powerpoint/2010/main" val="3949611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74BC6-ABE0-547A-EED8-7D1A06103B62}"/>
            </a:ext>
          </a:extLst>
        </p:cNvPr>
        <p:cNvGrpSpPr/>
        <p:nvPr/>
      </p:nvGrpSpPr>
      <p:grpSpPr>
        <a:xfrm>
          <a:off x="0" y="0"/>
          <a:ext cx="0" cy="0"/>
          <a:chOff x="0" y="0"/>
          <a:chExt cx="0" cy="0"/>
        </a:xfrm>
      </p:grpSpPr>
      <p:sp>
        <p:nvSpPr>
          <p:cNvPr id="10" name="Text 8">
            <a:extLst>
              <a:ext uri="{FF2B5EF4-FFF2-40B4-BE49-F238E27FC236}">
                <a16:creationId xmlns:a16="http://schemas.microsoft.com/office/drawing/2014/main" id="{C85F8791-CCB2-1595-EF00-32529AD17973}"/>
              </a:ext>
            </a:extLst>
          </p:cNvPr>
          <p:cNvSpPr/>
          <p:nvPr/>
        </p:nvSpPr>
        <p:spPr>
          <a:xfrm>
            <a:off x="1296573" y="700602"/>
            <a:ext cx="9966960" cy="320040"/>
          </a:xfrm>
          <a:prstGeom prst="rect">
            <a:avLst/>
          </a:prstGeom>
          <a:noFill/>
          <a:ln/>
        </p:spPr>
        <p:txBody>
          <a:bodyPr wrap="square" rtlCol="0" anchor="ctr"/>
          <a:lstStyle/>
          <a:p>
            <a:r>
              <a:rPr lang="en-IN" sz="1400" b="1" dirty="0"/>
              <a:t>Cart — Discount Messaging Dominates More Than Purchase Assurance</a:t>
            </a:r>
            <a:r>
              <a:rPr lang="en-IN" sz="1400" dirty="0"/>
              <a:t> (LIFT: Anxiety / Clarity)</a:t>
            </a:r>
            <a:endParaRPr lang="en-US" sz="1400" dirty="0"/>
          </a:p>
        </p:txBody>
      </p:sp>
      <p:sp>
        <p:nvSpPr>
          <p:cNvPr id="21" name="Shape 16">
            <a:extLst>
              <a:ext uri="{FF2B5EF4-FFF2-40B4-BE49-F238E27FC236}">
                <a16:creationId xmlns:a16="http://schemas.microsoft.com/office/drawing/2014/main" id="{519F164A-EF99-DA49-4379-F0C0C3EA2DC0}"/>
              </a:ext>
            </a:extLst>
          </p:cNvPr>
          <p:cNvSpPr/>
          <p:nvPr/>
        </p:nvSpPr>
        <p:spPr>
          <a:xfrm>
            <a:off x="1237542" y="1020642"/>
            <a:ext cx="10107637" cy="2332158"/>
          </a:xfrm>
          <a:prstGeom prst="roundRect">
            <a:avLst>
              <a:gd name="adj" fmla="val 6154"/>
            </a:avLst>
          </a:prstGeom>
          <a:solidFill>
            <a:srgbClr val="EAF4F3"/>
          </a:solidFill>
          <a:ln w="12700">
            <a:solidFill>
              <a:srgbClr val="EAF4F3"/>
            </a:solidFill>
            <a:prstDash val="solid"/>
          </a:ln>
        </p:spPr>
        <p:txBody>
          <a:bodyPr/>
          <a:lstStyle/>
          <a:p>
            <a:endParaRPr lang="en-IN"/>
          </a:p>
        </p:txBody>
      </p:sp>
      <p:sp>
        <p:nvSpPr>
          <p:cNvPr id="23" name="Text 9">
            <a:extLst>
              <a:ext uri="{FF2B5EF4-FFF2-40B4-BE49-F238E27FC236}">
                <a16:creationId xmlns:a16="http://schemas.microsoft.com/office/drawing/2014/main" id="{EB9FD3C4-8F4D-09D8-909E-93D0F80D75A9}"/>
              </a:ext>
            </a:extLst>
          </p:cNvPr>
          <p:cNvSpPr/>
          <p:nvPr/>
        </p:nvSpPr>
        <p:spPr>
          <a:xfrm>
            <a:off x="1296573" y="1038929"/>
            <a:ext cx="9966960" cy="1848729"/>
          </a:xfrm>
          <a:prstGeom prst="rect">
            <a:avLst/>
          </a:prstGeom>
          <a:noFill/>
          <a:ln/>
        </p:spPr>
        <p:txBody>
          <a:bodyPr wrap="square" rtlCol="0" anchor="t"/>
          <a:lstStyle/>
          <a:p>
            <a:r>
              <a:rPr lang="en-IN" sz="1200" b="1" dirty="0"/>
              <a:t>Issue:</a:t>
            </a:r>
            <a:r>
              <a:rPr lang="en-IN" sz="1200" dirty="0"/>
              <a:t> The cart places significant visual emphasis on available promotional offers and coupon codes, while confidence-building information (secure checkout, certified materials, return policy, warranty, delivery commitment) receives comparatively less prominence near the checkout CTA. At the highest-intent stage, shoppers are reminded how to save more before being reminded why they can buy confidently.</a:t>
            </a:r>
            <a:br>
              <a:rPr lang="en-IN" sz="1200" dirty="0"/>
            </a:br>
            <a:endParaRPr lang="en-IN" sz="1200" dirty="0"/>
          </a:p>
          <a:p>
            <a:r>
              <a:rPr lang="en-IN" sz="1200" b="1" dirty="0"/>
              <a:t>Fix:</a:t>
            </a:r>
            <a:r>
              <a:rPr lang="en-IN" sz="1200" dirty="0"/>
              <a:t> Introduce a compact reassurance panel directly above or adjacent to the checkout button containing 3–4 trust signals, while collapsing secondary promotional messaging into an expandable section after a coupon has already been applied.</a:t>
            </a:r>
            <a:br>
              <a:rPr lang="en-IN" sz="1200" dirty="0"/>
            </a:br>
            <a:endParaRPr lang="en-IN" sz="1200" dirty="0"/>
          </a:p>
          <a:p>
            <a:r>
              <a:rPr lang="en-IN" sz="1200" b="1" dirty="0"/>
              <a:t>Logic:</a:t>
            </a:r>
            <a:r>
              <a:rPr lang="en-IN" sz="1200" dirty="0"/>
              <a:t> During checkout, reducing perceived purchase risk often has greater impact than introducing additional promotional complexity. This primarily addresses </a:t>
            </a:r>
            <a:r>
              <a:rPr lang="en-IN" sz="1200" b="1" dirty="0"/>
              <a:t>Anxiety</a:t>
            </a:r>
            <a:r>
              <a:rPr lang="en-IN" sz="1200" dirty="0"/>
              <a:t> while improving </a:t>
            </a:r>
            <a:r>
              <a:rPr lang="en-IN" sz="1200" b="1" dirty="0"/>
              <a:t>Clarity</a:t>
            </a:r>
            <a:r>
              <a:rPr lang="en-IN" sz="1200" dirty="0"/>
              <a:t> around the overall purchase experience.</a:t>
            </a:r>
            <a:br>
              <a:rPr lang="en-IN" sz="1200" dirty="0"/>
            </a:br>
            <a:endParaRPr lang="en-IN" sz="1200" dirty="0"/>
          </a:p>
          <a:p>
            <a:r>
              <a:rPr lang="en-IN" sz="1200" b="1" dirty="0"/>
              <a:t>Impact:</a:t>
            </a:r>
            <a:r>
              <a:rPr lang="en-IN" sz="1200" dirty="0"/>
              <a:t> Expected to improve </a:t>
            </a:r>
            <a:r>
              <a:rPr lang="en-IN" sz="1200" b="1" dirty="0"/>
              <a:t>Cart → Checkout Conversion</a:t>
            </a:r>
            <a:r>
              <a:rPr lang="en-IN" sz="1200" dirty="0"/>
              <a:t> and reduce abandonment. Guardrail: monitor </a:t>
            </a:r>
            <a:r>
              <a:rPr lang="en-IN" sz="1200" b="1" dirty="0"/>
              <a:t>coupon redemption rate</a:t>
            </a:r>
            <a:r>
              <a:rPr lang="en-IN" sz="1200" dirty="0"/>
              <a:t> to ensure promotional discoverability is not unintentionally reduced.</a:t>
            </a:r>
          </a:p>
        </p:txBody>
      </p:sp>
      <p:sp>
        <p:nvSpPr>
          <p:cNvPr id="13" name="Shape 2">
            <a:extLst>
              <a:ext uri="{FF2B5EF4-FFF2-40B4-BE49-F238E27FC236}">
                <a16:creationId xmlns:a16="http://schemas.microsoft.com/office/drawing/2014/main" id="{D27E38E4-AB65-95F8-B99B-918934E9BE1A}"/>
              </a:ext>
            </a:extLst>
          </p:cNvPr>
          <p:cNvSpPr/>
          <p:nvPr/>
        </p:nvSpPr>
        <p:spPr>
          <a:xfrm>
            <a:off x="595361" y="769182"/>
            <a:ext cx="502920" cy="502920"/>
          </a:xfrm>
          <a:prstGeom prst="roundRect">
            <a:avLst>
              <a:gd name="adj" fmla="val 14545"/>
            </a:avLst>
          </a:prstGeom>
          <a:solidFill>
            <a:srgbClr val="028090"/>
          </a:solidFill>
          <a:ln/>
        </p:spPr>
        <p:txBody>
          <a:bodyPr/>
          <a:lstStyle/>
          <a:p>
            <a:endParaRPr lang="en-IN"/>
          </a:p>
        </p:txBody>
      </p:sp>
      <p:sp>
        <p:nvSpPr>
          <p:cNvPr id="17" name="Text 7">
            <a:extLst>
              <a:ext uri="{FF2B5EF4-FFF2-40B4-BE49-F238E27FC236}">
                <a16:creationId xmlns:a16="http://schemas.microsoft.com/office/drawing/2014/main" id="{468CF8BB-AB8E-1DA1-31B3-336F9CA357D3}"/>
              </a:ext>
            </a:extLst>
          </p:cNvPr>
          <p:cNvSpPr/>
          <p:nvPr/>
        </p:nvSpPr>
        <p:spPr>
          <a:xfrm>
            <a:off x="610773" y="746322"/>
            <a:ext cx="502920" cy="502920"/>
          </a:xfrm>
          <a:prstGeom prst="rect">
            <a:avLst/>
          </a:prstGeom>
          <a:noFill/>
          <a:ln/>
        </p:spPr>
        <p:txBody>
          <a:bodyPr wrap="square" lIns="0" tIns="0" rIns="0" bIns="0" rtlCol="0" anchor="ctr"/>
          <a:lstStyle/>
          <a:p>
            <a:pPr algn="ctr"/>
            <a:r>
              <a:rPr lang="en-US" sz="2000" b="1" dirty="0">
                <a:solidFill>
                  <a:srgbClr val="FFFFFF"/>
                </a:solidFill>
                <a:latin typeface="Cambria" pitchFamily="34" charset="0"/>
                <a:ea typeface="Cambria" pitchFamily="34" charset="-122"/>
                <a:cs typeface="Cambria" pitchFamily="34" charset="-120"/>
              </a:rPr>
              <a:t>3</a:t>
            </a:r>
            <a:endParaRPr lang="en-US" sz="2000" dirty="0"/>
          </a:p>
        </p:txBody>
      </p:sp>
      <p:pic>
        <p:nvPicPr>
          <p:cNvPr id="19" name="Picture 18">
            <a:extLst>
              <a:ext uri="{FF2B5EF4-FFF2-40B4-BE49-F238E27FC236}">
                <a16:creationId xmlns:a16="http://schemas.microsoft.com/office/drawing/2014/main" id="{BC7FD2D7-0EC2-6D1E-D59B-1762F8A4EF77}"/>
              </a:ext>
            </a:extLst>
          </p:cNvPr>
          <p:cNvPicPr>
            <a:picLocks noChangeAspect="1"/>
          </p:cNvPicPr>
          <p:nvPr/>
        </p:nvPicPr>
        <p:blipFill>
          <a:blip r:embed="rId3"/>
          <a:stretch>
            <a:fillRect/>
          </a:stretch>
        </p:blipFill>
        <p:spPr>
          <a:xfrm>
            <a:off x="3123296" y="3468219"/>
            <a:ext cx="5214425" cy="2689179"/>
          </a:xfrm>
          <a:prstGeom prst="rect">
            <a:avLst/>
          </a:prstGeom>
        </p:spPr>
      </p:pic>
    </p:spTree>
    <p:extLst>
      <p:ext uri="{BB962C8B-B14F-4D97-AF65-F5344CB8AC3E}">
        <p14:creationId xmlns:p14="http://schemas.microsoft.com/office/powerpoint/2010/main" val="2594269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6">
            <a:extLst>
              <a:ext uri="{FF2B5EF4-FFF2-40B4-BE49-F238E27FC236}">
                <a16:creationId xmlns:a16="http://schemas.microsoft.com/office/drawing/2014/main" id="{6FC08F0A-6696-3C14-923A-DFC31ECFA725}"/>
              </a:ext>
            </a:extLst>
          </p:cNvPr>
          <p:cNvSpPr/>
          <p:nvPr/>
        </p:nvSpPr>
        <p:spPr>
          <a:xfrm>
            <a:off x="470096" y="545711"/>
            <a:ext cx="502920" cy="502920"/>
          </a:xfrm>
          <a:prstGeom prst="roundRect">
            <a:avLst>
              <a:gd name="adj" fmla="val 14545"/>
            </a:avLst>
          </a:prstGeom>
          <a:solidFill>
            <a:srgbClr val="00A896"/>
          </a:solidFill>
          <a:ln/>
        </p:spPr>
        <p:txBody>
          <a:bodyPr/>
          <a:lstStyle/>
          <a:p>
            <a:endParaRPr lang="en-IN" dirty="0"/>
          </a:p>
        </p:txBody>
      </p:sp>
      <p:sp>
        <p:nvSpPr>
          <p:cNvPr id="5" name="Text 7">
            <a:extLst>
              <a:ext uri="{FF2B5EF4-FFF2-40B4-BE49-F238E27FC236}">
                <a16:creationId xmlns:a16="http://schemas.microsoft.com/office/drawing/2014/main" id="{0751C2BB-6373-FD8A-1979-FCF91046EC27}"/>
              </a:ext>
            </a:extLst>
          </p:cNvPr>
          <p:cNvSpPr/>
          <p:nvPr/>
        </p:nvSpPr>
        <p:spPr>
          <a:xfrm>
            <a:off x="470096" y="545711"/>
            <a:ext cx="502920" cy="502920"/>
          </a:xfrm>
          <a:prstGeom prst="rect">
            <a:avLst/>
          </a:prstGeom>
          <a:noFill/>
          <a:ln/>
        </p:spPr>
        <p:txBody>
          <a:bodyPr wrap="square" lIns="0" tIns="0" rIns="0" bIns="0" rtlCol="0" anchor="ctr"/>
          <a:lstStyle/>
          <a:p>
            <a:pPr algn="ct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7" name="Text 8">
            <a:extLst>
              <a:ext uri="{FF2B5EF4-FFF2-40B4-BE49-F238E27FC236}">
                <a16:creationId xmlns:a16="http://schemas.microsoft.com/office/drawing/2014/main" id="{D1A47D14-B935-CA1F-F9DB-1117E6DCAB44}"/>
              </a:ext>
            </a:extLst>
          </p:cNvPr>
          <p:cNvSpPr/>
          <p:nvPr/>
        </p:nvSpPr>
        <p:spPr>
          <a:xfrm>
            <a:off x="1155896" y="499991"/>
            <a:ext cx="9966960" cy="320040"/>
          </a:xfrm>
          <a:prstGeom prst="rect">
            <a:avLst/>
          </a:prstGeom>
          <a:noFill/>
          <a:ln/>
        </p:spPr>
        <p:txBody>
          <a:bodyPr wrap="square" rtlCol="0" anchor="ctr"/>
          <a:lstStyle/>
          <a:p>
            <a:r>
              <a:rPr lang="en-IN" sz="1400" b="1" dirty="0"/>
              <a:t>Checkout — Multiple efforts for Customer Journey (LIFT: Reduce Effort, Anxiety, uplift Clarity)</a:t>
            </a:r>
          </a:p>
        </p:txBody>
      </p:sp>
      <p:sp>
        <p:nvSpPr>
          <p:cNvPr id="9" name="Shape 16">
            <a:extLst>
              <a:ext uri="{FF2B5EF4-FFF2-40B4-BE49-F238E27FC236}">
                <a16:creationId xmlns:a16="http://schemas.microsoft.com/office/drawing/2014/main" id="{028529B0-51EF-77CE-DF5F-4C2A2508825A}"/>
              </a:ext>
            </a:extLst>
          </p:cNvPr>
          <p:cNvSpPr/>
          <p:nvPr/>
        </p:nvSpPr>
        <p:spPr>
          <a:xfrm>
            <a:off x="1096865" y="820030"/>
            <a:ext cx="10107637" cy="3317629"/>
          </a:xfrm>
          <a:prstGeom prst="roundRect">
            <a:avLst>
              <a:gd name="adj" fmla="val 6154"/>
            </a:avLst>
          </a:prstGeom>
          <a:solidFill>
            <a:srgbClr val="EAF4F3"/>
          </a:solidFill>
          <a:ln w="12700">
            <a:solidFill>
              <a:srgbClr val="EAF4F3"/>
            </a:solidFill>
            <a:prstDash val="solid"/>
          </a:ln>
        </p:spPr>
        <p:txBody>
          <a:bodyPr/>
          <a:lstStyle/>
          <a:p>
            <a:endParaRPr lang="en-IN"/>
          </a:p>
        </p:txBody>
      </p:sp>
      <p:sp>
        <p:nvSpPr>
          <p:cNvPr id="11" name="Text 9">
            <a:extLst>
              <a:ext uri="{FF2B5EF4-FFF2-40B4-BE49-F238E27FC236}">
                <a16:creationId xmlns:a16="http://schemas.microsoft.com/office/drawing/2014/main" id="{B22D7327-83CC-35AC-0A57-D741161A2BDD}"/>
              </a:ext>
            </a:extLst>
          </p:cNvPr>
          <p:cNvSpPr/>
          <p:nvPr/>
        </p:nvSpPr>
        <p:spPr>
          <a:xfrm>
            <a:off x="1155896" y="838318"/>
            <a:ext cx="9966960" cy="1848729"/>
          </a:xfrm>
          <a:prstGeom prst="rect">
            <a:avLst/>
          </a:prstGeom>
          <a:noFill/>
          <a:ln/>
        </p:spPr>
        <p:txBody>
          <a:bodyPr wrap="square" rtlCol="0" anchor="t"/>
          <a:lstStyle/>
          <a:p>
            <a:r>
              <a:rPr lang="en-IN" sz="1200" b="1" dirty="0"/>
              <a:t>Issue:</a:t>
            </a:r>
            <a:r>
              <a:rPr lang="en-IN" sz="1200" dirty="0"/>
              <a:t> Critical conversion levers—including </a:t>
            </a:r>
            <a:r>
              <a:rPr lang="en-IN" sz="1200" b="1" dirty="0"/>
              <a:t>Guest Checkout availability, payment ordering, prepaid incentives, COD positioning, shipping-fee disclosure, and coupon </a:t>
            </a:r>
            <a:r>
              <a:rPr lang="en-IN" sz="1200" b="1" dirty="0" err="1"/>
              <a:t>behavior</a:t>
            </a:r>
            <a:r>
              <a:rPr lang="en-IN" sz="1200" dirty="0"/>
              <a:t>—are not prominently visible to nudges users towards prepaid or COD, address page likely a highest leakage point due to longer customer effort.</a:t>
            </a:r>
            <a:br>
              <a:rPr lang="en-IN" sz="1200" dirty="0"/>
            </a:br>
            <a:endParaRPr lang="en-IN" sz="1200" dirty="0"/>
          </a:p>
          <a:p>
            <a:r>
              <a:rPr lang="en-IN" sz="1200" b="1" dirty="0"/>
              <a:t>Fix:</a:t>
            </a:r>
            <a:r>
              <a:rPr lang="en-IN" sz="1200" dirty="0"/>
              <a:t> Simply the checkout journey with few simple steps and re-ensuring trust factors at checkout, provide a discounted purchase feel.</a:t>
            </a:r>
          </a:p>
          <a:p>
            <a:pPr marL="628650" lvl="1" indent="-171450">
              <a:buFont typeface="Arial" panose="020B0604020202020204" pitchFamily="34" charset="0"/>
              <a:buChar char="•"/>
            </a:pPr>
            <a:r>
              <a:rPr lang="en-IN" sz="1200" dirty="0"/>
              <a:t>Login screen</a:t>
            </a:r>
          </a:p>
          <a:p>
            <a:pPr marL="628650" lvl="1" indent="-171450">
              <a:buFont typeface="Arial" panose="020B0604020202020204" pitchFamily="34" charset="0"/>
              <a:buChar char="•"/>
            </a:pPr>
            <a:r>
              <a:rPr lang="en-IN" sz="1200" dirty="0"/>
              <a:t>Address step – autofill using </a:t>
            </a:r>
            <a:r>
              <a:rPr lang="en-IN" sz="1200" dirty="0" err="1"/>
              <a:t>geotracking</a:t>
            </a:r>
            <a:r>
              <a:rPr lang="en-IN" sz="1200" dirty="0"/>
              <a:t>/</a:t>
            </a:r>
            <a:r>
              <a:rPr lang="en-IN" sz="1200" dirty="0" err="1"/>
              <a:t>pincode</a:t>
            </a:r>
            <a:endParaRPr lang="en-IN" sz="1200" dirty="0"/>
          </a:p>
          <a:p>
            <a:pPr marL="628650" lvl="1" indent="-171450">
              <a:buFont typeface="Arial" panose="020B0604020202020204" pitchFamily="34" charset="0"/>
              <a:buChar char="•"/>
            </a:pPr>
            <a:r>
              <a:rPr lang="en-IN" sz="1200" dirty="0"/>
              <a:t>Payment method ordering </a:t>
            </a:r>
          </a:p>
          <a:p>
            <a:pPr marL="628650" lvl="1" indent="-171450">
              <a:buFont typeface="Arial" panose="020B0604020202020204" pitchFamily="34" charset="0"/>
              <a:buChar char="•"/>
            </a:pPr>
            <a:r>
              <a:rPr lang="en-IN" sz="1200" dirty="0"/>
              <a:t>COD vs. prepaid messaging (one click purchase)</a:t>
            </a:r>
          </a:p>
          <a:p>
            <a:pPr marL="628650" lvl="1" indent="-171450">
              <a:buFont typeface="Arial" panose="020B0604020202020204" pitchFamily="34" charset="0"/>
              <a:buChar char="•"/>
            </a:pPr>
            <a:r>
              <a:rPr lang="en-IN" sz="1200" dirty="0"/>
              <a:t>Coupon application behaviour </a:t>
            </a:r>
          </a:p>
          <a:p>
            <a:pPr marL="628650" lvl="1" indent="-171450">
              <a:buFont typeface="Arial" panose="020B0604020202020204" pitchFamily="34" charset="0"/>
              <a:buChar char="•"/>
            </a:pPr>
            <a:r>
              <a:rPr lang="en-IN" sz="1200" dirty="0"/>
              <a:t>Shipping charges before payment </a:t>
            </a:r>
          </a:p>
          <a:p>
            <a:pPr marL="628650" lvl="1" indent="-171450">
              <a:buFont typeface="Arial" panose="020B0604020202020204" pitchFamily="34" charset="0"/>
              <a:buChar char="•"/>
            </a:pPr>
            <a:r>
              <a:rPr lang="en-IN" sz="1200" dirty="0"/>
              <a:t>Final order summary </a:t>
            </a:r>
            <a:br>
              <a:rPr lang="en-IN" sz="1200" dirty="0"/>
            </a:br>
            <a:endParaRPr lang="en-IN" sz="1200" dirty="0"/>
          </a:p>
          <a:p>
            <a:r>
              <a:rPr lang="en-IN" sz="1200" b="1" dirty="0"/>
              <a:t>Logic:</a:t>
            </a:r>
            <a:r>
              <a:rPr lang="en-IN" sz="1200" dirty="0"/>
              <a:t> Checkout optimization produces the highest revenue impact, making assumptions about payment flows weakens credibility at critical touchpoint.</a:t>
            </a:r>
            <a:br>
              <a:rPr lang="en-IN" sz="1200" dirty="0"/>
            </a:br>
            <a:endParaRPr lang="en-IN" sz="1200" dirty="0"/>
          </a:p>
          <a:p>
            <a:r>
              <a:rPr lang="en-IN" sz="1200" b="1" dirty="0"/>
              <a:t>Impact:</a:t>
            </a:r>
            <a:r>
              <a:rPr lang="en-IN" sz="1200" dirty="0"/>
              <a:t> Potentially influences </a:t>
            </a:r>
            <a:r>
              <a:rPr lang="en-IN" sz="1200" b="1" dirty="0"/>
              <a:t>Checkout Completion Rate</a:t>
            </a:r>
            <a:r>
              <a:rPr lang="en-IN" sz="1200" dirty="0"/>
              <a:t> and </a:t>
            </a:r>
            <a:r>
              <a:rPr lang="en-IN" sz="1200" b="1" dirty="0"/>
              <a:t>Payment Success Rate</a:t>
            </a:r>
            <a:r>
              <a:rPr lang="en-IN" sz="1200" dirty="0"/>
              <a:t>, depending on observed friction. Guardrail: ensure any payment optimization does not increase </a:t>
            </a:r>
            <a:r>
              <a:rPr lang="en-IN" sz="1200" b="1" dirty="0"/>
              <a:t>payment failures</a:t>
            </a:r>
            <a:r>
              <a:rPr lang="en-IN" sz="1200" dirty="0"/>
              <a:t> or reduce overall conversion.</a:t>
            </a:r>
          </a:p>
        </p:txBody>
      </p:sp>
      <p:pic>
        <p:nvPicPr>
          <p:cNvPr id="13" name="Picture 12">
            <a:extLst>
              <a:ext uri="{FF2B5EF4-FFF2-40B4-BE49-F238E27FC236}">
                <a16:creationId xmlns:a16="http://schemas.microsoft.com/office/drawing/2014/main" id="{84417CC9-2184-8B7D-E293-00E0F2B7A16F}"/>
              </a:ext>
            </a:extLst>
          </p:cNvPr>
          <p:cNvPicPr>
            <a:picLocks noChangeAspect="1"/>
          </p:cNvPicPr>
          <p:nvPr/>
        </p:nvPicPr>
        <p:blipFill>
          <a:blip r:embed="rId2"/>
          <a:stretch>
            <a:fillRect/>
          </a:stretch>
        </p:blipFill>
        <p:spPr>
          <a:xfrm>
            <a:off x="3443286" y="4209536"/>
            <a:ext cx="5005561" cy="2543174"/>
          </a:xfrm>
          <a:prstGeom prst="rect">
            <a:avLst/>
          </a:prstGeom>
        </p:spPr>
      </p:pic>
    </p:spTree>
    <p:extLst>
      <p:ext uri="{BB962C8B-B14F-4D97-AF65-F5344CB8AC3E}">
        <p14:creationId xmlns:p14="http://schemas.microsoft.com/office/powerpoint/2010/main" val="360208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02 — METHODOLOGY</a:t>
            </a:r>
            <a:endParaRPr lang="en-US" sz="1100" dirty="0"/>
          </a:p>
        </p:txBody>
      </p:sp>
      <p:sp>
        <p:nvSpPr>
          <p:cNvPr id="3" name="Text 1"/>
          <p:cNvSpPr/>
          <p:nvPr/>
        </p:nvSpPr>
        <p:spPr>
          <a:xfrm>
            <a:off x="640080" y="685800"/>
            <a:ext cx="91440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How this audit was built</a:t>
            </a:r>
            <a:endParaRPr lang="en-US" sz="26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Quantitative + qualitative + heuristic — the same three-pronged approach used in a structured CRO program</a:t>
            </a:r>
            <a:endParaRPr lang="en-US" sz="1200" dirty="0"/>
          </a:p>
        </p:txBody>
      </p:sp>
      <p:sp>
        <p:nvSpPr>
          <p:cNvPr id="5" name="Shape 3"/>
          <p:cNvSpPr/>
          <p:nvPr/>
        </p:nvSpPr>
        <p:spPr>
          <a:xfrm>
            <a:off x="640080" y="1828800"/>
            <a:ext cx="10881360" cy="1051560"/>
          </a:xfrm>
          <a:prstGeom prst="roundRect">
            <a:avLst>
              <a:gd name="adj" fmla="val 6957"/>
            </a:avLst>
          </a:prstGeom>
          <a:solidFill>
            <a:srgbClr val="EAF4F3"/>
          </a:solidFill>
          <a:ln w="12700">
            <a:solidFill>
              <a:srgbClr val="EAF4F3"/>
            </a:solidFill>
            <a:prstDash val="solid"/>
          </a:ln>
        </p:spPr>
      </p:sp>
      <p:sp>
        <p:nvSpPr>
          <p:cNvPr id="6" name="Text 4"/>
          <p:cNvSpPr/>
          <p:nvPr/>
        </p:nvSpPr>
        <p:spPr>
          <a:xfrm>
            <a:off x="822960" y="1920240"/>
            <a:ext cx="10058400" cy="274320"/>
          </a:xfrm>
          <a:prstGeom prst="rect">
            <a:avLst/>
          </a:prstGeom>
          <a:noFill/>
          <a:ln/>
        </p:spPr>
        <p:txBody>
          <a:bodyPr wrap="square" rtlCol="0" anchor="ctr"/>
          <a:lstStyle/>
          <a:p>
            <a:pPr marL="0" indent="0">
              <a:buNone/>
            </a:pPr>
            <a:r>
              <a:rPr lang="en-US" sz="1200" b="1" dirty="0">
                <a:solidFill>
                  <a:srgbClr val="1F2A33"/>
                </a:solidFill>
                <a:latin typeface="Calibri" pitchFamily="34" charset="0"/>
                <a:ea typeface="Calibri" pitchFamily="34" charset="-122"/>
                <a:cs typeface="Calibri" pitchFamily="34" charset="-120"/>
              </a:rPr>
              <a:t>Quantitative lens</a:t>
            </a:r>
            <a:endParaRPr lang="en-US" sz="1200" dirty="0"/>
          </a:p>
        </p:txBody>
      </p:sp>
      <p:sp>
        <p:nvSpPr>
          <p:cNvPr id="7" name="Text 5"/>
          <p:cNvSpPr/>
          <p:nvPr/>
        </p:nvSpPr>
        <p:spPr>
          <a:xfrm>
            <a:off x="822960" y="2212848"/>
            <a:ext cx="10332720" cy="59436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No direct GA4 access for this audit — in a live engagement this stage would compare drop-off between an occasion-led entry path and a material-led entry path directly. Here, the site's own navigation hierarchy and CTA structure stand in as a proxy signal for where a first-time visitor is likely to hesitate.</a:t>
            </a:r>
            <a:endParaRPr lang="en-US" sz="1050" dirty="0"/>
          </a:p>
        </p:txBody>
      </p:sp>
      <p:sp>
        <p:nvSpPr>
          <p:cNvPr id="8" name="Shape 6"/>
          <p:cNvSpPr/>
          <p:nvPr/>
        </p:nvSpPr>
        <p:spPr>
          <a:xfrm>
            <a:off x="640080" y="3017520"/>
            <a:ext cx="10881360" cy="1051560"/>
          </a:xfrm>
          <a:prstGeom prst="roundRect">
            <a:avLst>
              <a:gd name="adj" fmla="val 6957"/>
            </a:avLst>
          </a:prstGeom>
          <a:solidFill>
            <a:srgbClr val="EAF4F3"/>
          </a:solidFill>
          <a:ln w="12700">
            <a:solidFill>
              <a:srgbClr val="EAF4F3"/>
            </a:solidFill>
            <a:prstDash val="solid"/>
          </a:ln>
        </p:spPr>
      </p:sp>
      <p:sp>
        <p:nvSpPr>
          <p:cNvPr id="9" name="Text 7"/>
          <p:cNvSpPr/>
          <p:nvPr/>
        </p:nvSpPr>
        <p:spPr>
          <a:xfrm>
            <a:off x="822960" y="3108960"/>
            <a:ext cx="10058400" cy="274320"/>
          </a:xfrm>
          <a:prstGeom prst="rect">
            <a:avLst/>
          </a:prstGeom>
          <a:noFill/>
          <a:ln/>
        </p:spPr>
        <p:txBody>
          <a:bodyPr wrap="square" rtlCol="0" anchor="ctr"/>
          <a:lstStyle/>
          <a:p>
            <a:pPr marL="0" indent="0">
              <a:buNone/>
            </a:pPr>
            <a:r>
              <a:rPr lang="en-US" sz="1200" b="1" dirty="0">
                <a:solidFill>
                  <a:srgbClr val="1F2A33"/>
                </a:solidFill>
                <a:latin typeface="Calibri" pitchFamily="34" charset="0"/>
                <a:ea typeface="Calibri" pitchFamily="34" charset="-122"/>
                <a:cs typeface="Calibri" pitchFamily="34" charset="-120"/>
              </a:rPr>
              <a:t>Qualitative lens</a:t>
            </a:r>
            <a:endParaRPr lang="en-US" sz="1200" dirty="0"/>
          </a:p>
        </p:txBody>
      </p:sp>
      <p:sp>
        <p:nvSpPr>
          <p:cNvPr id="10" name="Text 8"/>
          <p:cNvSpPr/>
          <p:nvPr/>
        </p:nvSpPr>
        <p:spPr>
          <a:xfrm>
            <a:off x="822960" y="3401568"/>
            <a:ext cx="10332720" cy="59436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Simulated a first-time gift-shopper path (someone shopping for 'a gift under Rs.1500' with no fixed material preference) across the homepage, the Silver/Gold/Lab-Grown Diamond navigation, and the app-install prompt flow.</a:t>
            </a:r>
            <a:endParaRPr lang="en-US" sz="1050" dirty="0"/>
          </a:p>
        </p:txBody>
      </p:sp>
      <p:sp>
        <p:nvSpPr>
          <p:cNvPr id="11" name="Shape 9"/>
          <p:cNvSpPr/>
          <p:nvPr/>
        </p:nvSpPr>
        <p:spPr>
          <a:xfrm>
            <a:off x="640080" y="4206240"/>
            <a:ext cx="10881360" cy="1051560"/>
          </a:xfrm>
          <a:prstGeom prst="roundRect">
            <a:avLst>
              <a:gd name="adj" fmla="val 6957"/>
            </a:avLst>
          </a:prstGeom>
          <a:solidFill>
            <a:srgbClr val="EAF4F3"/>
          </a:solidFill>
          <a:ln w="12700">
            <a:solidFill>
              <a:srgbClr val="EAF4F3"/>
            </a:solidFill>
            <a:prstDash val="solid"/>
          </a:ln>
        </p:spPr>
      </p:sp>
      <p:sp>
        <p:nvSpPr>
          <p:cNvPr id="12" name="Text 10"/>
          <p:cNvSpPr/>
          <p:nvPr/>
        </p:nvSpPr>
        <p:spPr>
          <a:xfrm>
            <a:off x="822960" y="4297680"/>
            <a:ext cx="10058400" cy="274320"/>
          </a:xfrm>
          <a:prstGeom prst="rect">
            <a:avLst/>
          </a:prstGeom>
          <a:noFill/>
          <a:ln/>
        </p:spPr>
        <p:txBody>
          <a:bodyPr wrap="square" rtlCol="0" anchor="ctr"/>
          <a:lstStyle/>
          <a:p>
            <a:pPr marL="0" indent="0">
              <a:buNone/>
            </a:pPr>
            <a:r>
              <a:rPr lang="en-US" sz="1200" b="1" dirty="0">
                <a:solidFill>
                  <a:srgbClr val="1F2A33"/>
                </a:solidFill>
                <a:latin typeface="Calibri" pitchFamily="34" charset="0"/>
                <a:ea typeface="Calibri" pitchFamily="34" charset="-122"/>
                <a:cs typeface="Calibri" pitchFamily="34" charset="-120"/>
              </a:rPr>
              <a:t>Heuristic lens — the LIFT Model</a:t>
            </a:r>
            <a:endParaRPr lang="en-US" sz="1200" dirty="0"/>
          </a:p>
        </p:txBody>
      </p:sp>
      <p:sp>
        <p:nvSpPr>
          <p:cNvPr id="13" name="Text 11"/>
          <p:cNvSpPr/>
          <p:nvPr/>
        </p:nvSpPr>
        <p:spPr>
          <a:xfrm>
            <a:off x="822960" y="4590288"/>
            <a:ext cx="10332720" cy="59436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Every page was scored against WiderFunnel's LIFT Model: Value Proposition, Relevance, Clarity, Anxiety, Distraction, and Urgency — the same framework used industry-wide to structure heuristic CRO evaluations.</a:t>
            </a:r>
            <a:endParaRPr lang="en-US" sz="1050" dirty="0"/>
          </a:p>
        </p:txBody>
      </p:sp>
      <p:sp>
        <p:nvSpPr>
          <p:cNvPr id="14" name="Shape 12"/>
          <p:cNvSpPr/>
          <p:nvPr/>
        </p:nvSpPr>
        <p:spPr>
          <a:xfrm>
            <a:off x="640080" y="5394960"/>
            <a:ext cx="10881360" cy="960120"/>
          </a:xfrm>
          <a:prstGeom prst="roundRect">
            <a:avLst>
              <a:gd name="adj" fmla="val 7619"/>
            </a:avLst>
          </a:prstGeom>
          <a:solidFill>
            <a:srgbClr val="FFF8E8"/>
          </a:solidFill>
          <a:ln w="12700">
            <a:solidFill>
              <a:srgbClr val="F0D98C"/>
            </a:solidFill>
            <a:prstDash val="solid"/>
          </a:ln>
        </p:spPr>
      </p:sp>
      <p:sp>
        <p:nvSpPr>
          <p:cNvPr id="15" name="Text 13"/>
          <p:cNvSpPr/>
          <p:nvPr/>
        </p:nvSpPr>
        <p:spPr>
          <a:xfrm>
            <a:off x="822960" y="5486400"/>
            <a:ext cx="10058400" cy="274320"/>
          </a:xfrm>
          <a:prstGeom prst="rect">
            <a:avLst/>
          </a:prstGeom>
          <a:noFill/>
          <a:ln/>
        </p:spPr>
        <p:txBody>
          <a:bodyPr wrap="square" rtlCol="0" anchor="ctr"/>
          <a:lstStyle/>
          <a:p>
            <a:pPr marL="0" indent="0">
              <a:buNone/>
            </a:pPr>
            <a:r>
              <a:rPr lang="en-US" sz="1200" b="1" dirty="0">
                <a:solidFill>
                  <a:srgbClr val="8A6D1D"/>
                </a:solidFill>
                <a:latin typeface="Calibri" pitchFamily="34" charset="0"/>
                <a:ea typeface="Calibri" pitchFamily="34" charset="-122"/>
                <a:cs typeface="Calibri" pitchFamily="34" charset="-120"/>
              </a:rPr>
              <a:t>Scope note</a:t>
            </a:r>
            <a:endParaRPr lang="en-US" sz="1200" dirty="0"/>
          </a:p>
        </p:txBody>
      </p:sp>
      <p:sp>
        <p:nvSpPr>
          <p:cNvPr id="16" name="Text 14"/>
          <p:cNvSpPr/>
          <p:nvPr/>
        </p:nvSpPr>
        <p:spPr>
          <a:xfrm>
            <a:off x="822960" y="5779008"/>
            <a:ext cx="10332720" cy="50292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This was built by walking through giva.co as a first-time shopper would — there's no access to GIVA's actual account or funnel data behind this, so treat the estimates as a starting hypothesis, not a measured baseline.</a:t>
            </a:r>
            <a:endParaRPr lang="en-US" sz="1050" dirty="0"/>
          </a:p>
        </p:txBody>
      </p:sp>
      <p:sp>
        <p:nvSpPr>
          <p:cNvPr id="17" name="Text 15"/>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GIVA — Independent CRO Audit</a:t>
            </a:r>
            <a:endParaRPr lang="en-US" sz="800" dirty="0"/>
          </a:p>
        </p:txBody>
      </p:sp>
      <p:sp>
        <p:nvSpPr>
          <p:cNvPr id="18" name="Text 16"/>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3 of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03 — HEURISTIC EVALUATION</a:t>
            </a:r>
            <a:endParaRPr lang="en-US" sz="1100" dirty="0"/>
          </a:p>
        </p:txBody>
      </p:sp>
      <p:sp>
        <p:nvSpPr>
          <p:cNvPr id="3" name="Text 1"/>
          <p:cNvSpPr/>
          <p:nvPr/>
        </p:nvSpPr>
        <p:spPr>
          <a:xfrm>
            <a:off x="640080" y="685800"/>
            <a:ext cx="91440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LIFT Model Scorecard</a:t>
            </a:r>
            <a:endParaRPr lang="en-US" sz="26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Average score: 6.3/10 — scored the same way across all audits for comparability</a:t>
            </a:r>
            <a:endParaRPr lang="en-US" sz="1200" dirty="0"/>
          </a:p>
        </p:txBody>
      </p:sp>
      <p:sp>
        <p:nvSpPr>
          <p:cNvPr id="5" name="Shape 3"/>
          <p:cNvSpPr/>
          <p:nvPr/>
        </p:nvSpPr>
        <p:spPr>
          <a:xfrm>
            <a:off x="822960" y="1892808"/>
            <a:ext cx="1554480" cy="384048"/>
          </a:xfrm>
          <a:prstGeom prst="roundRect">
            <a:avLst>
              <a:gd name="adj" fmla="val 14286"/>
            </a:avLst>
          </a:prstGeom>
          <a:solidFill>
            <a:srgbClr val="028090"/>
          </a:solidFill>
          <a:ln/>
        </p:spPr>
      </p:sp>
      <p:sp>
        <p:nvSpPr>
          <p:cNvPr id="6" name="Text 4"/>
          <p:cNvSpPr/>
          <p:nvPr/>
        </p:nvSpPr>
        <p:spPr>
          <a:xfrm>
            <a:off x="822960" y="1892808"/>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8/10</a:t>
            </a:r>
            <a:endParaRPr lang="en-US" sz="1200" dirty="0"/>
          </a:p>
        </p:txBody>
      </p:sp>
      <p:sp>
        <p:nvSpPr>
          <p:cNvPr id="7" name="Text 5"/>
          <p:cNvSpPr/>
          <p:nvPr/>
        </p:nvSpPr>
        <p:spPr>
          <a:xfrm>
            <a:off x="2514600" y="1874520"/>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Value Proposition</a:t>
            </a:r>
            <a:endParaRPr lang="en-US" sz="1200" dirty="0"/>
          </a:p>
        </p:txBody>
      </p:sp>
      <p:sp>
        <p:nvSpPr>
          <p:cNvPr id="8" name="Text 6"/>
          <p:cNvSpPr/>
          <p:nvPr/>
        </p:nvSpPr>
        <p:spPr>
          <a:xfrm>
            <a:off x="4892040" y="1874520"/>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Accessible entry price, hallmarking, and a certificate of authenticity per purchase together make a clear, credible value proposition for online jewelry — a category where trust is usually the biggest barrier.</a:t>
            </a:r>
            <a:endParaRPr lang="en-US" sz="1050" dirty="0"/>
          </a:p>
        </p:txBody>
      </p:sp>
      <p:sp>
        <p:nvSpPr>
          <p:cNvPr id="9" name="Shape 7"/>
          <p:cNvSpPr/>
          <p:nvPr/>
        </p:nvSpPr>
        <p:spPr>
          <a:xfrm>
            <a:off x="822960" y="2651760"/>
            <a:ext cx="1554480" cy="384048"/>
          </a:xfrm>
          <a:prstGeom prst="roundRect">
            <a:avLst>
              <a:gd name="adj" fmla="val 14286"/>
            </a:avLst>
          </a:prstGeom>
          <a:solidFill>
            <a:srgbClr val="028090"/>
          </a:solidFill>
          <a:ln/>
        </p:spPr>
      </p:sp>
      <p:sp>
        <p:nvSpPr>
          <p:cNvPr id="10" name="Text 8"/>
          <p:cNvSpPr/>
          <p:nvPr/>
        </p:nvSpPr>
        <p:spPr>
          <a:xfrm>
            <a:off x="822960" y="2651760"/>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5/10</a:t>
            </a:r>
            <a:endParaRPr lang="en-US" sz="1200" dirty="0"/>
          </a:p>
        </p:txBody>
      </p:sp>
      <p:sp>
        <p:nvSpPr>
          <p:cNvPr id="11" name="Text 9"/>
          <p:cNvSpPr/>
          <p:nvPr/>
        </p:nvSpPr>
        <p:spPr>
          <a:xfrm>
            <a:off x="2514600" y="2633472"/>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Relevance</a:t>
            </a:r>
            <a:endParaRPr lang="en-US" sz="1200" dirty="0"/>
          </a:p>
        </p:txBody>
      </p:sp>
      <p:sp>
        <p:nvSpPr>
          <p:cNvPr id="12" name="Text 10"/>
          <p:cNvSpPr/>
          <p:nvPr/>
        </p:nvSpPr>
        <p:spPr>
          <a:xfrm>
            <a:off x="4892040" y="2633472"/>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The primary navigation splits by material (Silver/Gold/Diamond) first, but most gifting shoppers start from an occasion or a budget, not a metal preference.</a:t>
            </a:r>
            <a:endParaRPr lang="en-US" sz="1050" dirty="0"/>
          </a:p>
        </p:txBody>
      </p:sp>
      <p:sp>
        <p:nvSpPr>
          <p:cNvPr id="13" name="Shape 11"/>
          <p:cNvSpPr/>
          <p:nvPr/>
        </p:nvSpPr>
        <p:spPr>
          <a:xfrm>
            <a:off x="822960" y="3410712"/>
            <a:ext cx="1554480" cy="384048"/>
          </a:xfrm>
          <a:prstGeom prst="roundRect">
            <a:avLst>
              <a:gd name="adj" fmla="val 14286"/>
            </a:avLst>
          </a:prstGeom>
          <a:solidFill>
            <a:srgbClr val="028090"/>
          </a:solidFill>
          <a:ln/>
        </p:spPr>
      </p:sp>
      <p:sp>
        <p:nvSpPr>
          <p:cNvPr id="14" name="Text 12"/>
          <p:cNvSpPr/>
          <p:nvPr/>
        </p:nvSpPr>
        <p:spPr>
          <a:xfrm>
            <a:off x="822960" y="3410712"/>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6/10</a:t>
            </a:r>
            <a:endParaRPr lang="en-US" sz="1200" dirty="0"/>
          </a:p>
        </p:txBody>
      </p:sp>
      <p:sp>
        <p:nvSpPr>
          <p:cNvPr id="15" name="Text 13"/>
          <p:cNvSpPr/>
          <p:nvPr/>
        </p:nvSpPr>
        <p:spPr>
          <a:xfrm>
            <a:off x="2514600" y="3392424"/>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Clarity</a:t>
            </a:r>
            <a:endParaRPr lang="en-US" sz="1200" dirty="0"/>
          </a:p>
        </p:txBody>
      </p:sp>
      <p:sp>
        <p:nvSpPr>
          <p:cNvPr id="16" name="Text 14"/>
          <p:cNvSpPr/>
          <p:nvPr/>
        </p:nvSpPr>
        <p:spPr>
          <a:xfrm>
            <a:off x="4892040" y="3392424"/>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Three product lines are each well organized internally, but there's no single 'start here' path for a shopper who doesn't yet know which line applies to them.</a:t>
            </a:r>
            <a:endParaRPr lang="en-US" sz="1050" dirty="0"/>
          </a:p>
        </p:txBody>
      </p:sp>
      <p:sp>
        <p:nvSpPr>
          <p:cNvPr id="17" name="Shape 15"/>
          <p:cNvSpPr/>
          <p:nvPr/>
        </p:nvSpPr>
        <p:spPr>
          <a:xfrm>
            <a:off x="822960" y="4169664"/>
            <a:ext cx="1554480" cy="384048"/>
          </a:xfrm>
          <a:prstGeom prst="roundRect">
            <a:avLst>
              <a:gd name="adj" fmla="val 14286"/>
            </a:avLst>
          </a:prstGeom>
          <a:solidFill>
            <a:srgbClr val="028090"/>
          </a:solidFill>
          <a:ln/>
        </p:spPr>
      </p:sp>
      <p:sp>
        <p:nvSpPr>
          <p:cNvPr id="18" name="Text 16"/>
          <p:cNvSpPr/>
          <p:nvPr/>
        </p:nvSpPr>
        <p:spPr>
          <a:xfrm>
            <a:off x="822960" y="4169664"/>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6/10</a:t>
            </a:r>
            <a:endParaRPr lang="en-US" sz="1200" dirty="0"/>
          </a:p>
        </p:txBody>
      </p:sp>
      <p:sp>
        <p:nvSpPr>
          <p:cNvPr id="19" name="Text 17"/>
          <p:cNvSpPr/>
          <p:nvPr/>
        </p:nvSpPr>
        <p:spPr>
          <a:xfrm>
            <a:off x="2514600" y="4151376"/>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Anxiety</a:t>
            </a:r>
            <a:endParaRPr lang="en-US" sz="1200" dirty="0"/>
          </a:p>
        </p:txBody>
      </p:sp>
      <p:sp>
        <p:nvSpPr>
          <p:cNvPr id="20" name="Text 18"/>
          <p:cNvSpPr/>
          <p:nvPr/>
        </p:nvSpPr>
        <p:spPr>
          <a:xfrm>
            <a:off x="4892040" y="4151376"/>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Multiple GIVA-branded domains could raise 'which one is official?' hesitation for a first-time buyer arriving from a search result or ad.</a:t>
            </a:r>
            <a:endParaRPr lang="en-US" sz="1050" dirty="0"/>
          </a:p>
        </p:txBody>
      </p:sp>
      <p:sp>
        <p:nvSpPr>
          <p:cNvPr id="21" name="Shape 19"/>
          <p:cNvSpPr/>
          <p:nvPr/>
        </p:nvSpPr>
        <p:spPr>
          <a:xfrm>
            <a:off x="822960" y="4928616"/>
            <a:ext cx="1554480" cy="384048"/>
          </a:xfrm>
          <a:prstGeom prst="roundRect">
            <a:avLst>
              <a:gd name="adj" fmla="val 14286"/>
            </a:avLst>
          </a:prstGeom>
          <a:solidFill>
            <a:srgbClr val="028090"/>
          </a:solidFill>
          <a:ln/>
        </p:spPr>
      </p:sp>
      <p:sp>
        <p:nvSpPr>
          <p:cNvPr id="22" name="Text 20"/>
          <p:cNvSpPr/>
          <p:nvPr/>
        </p:nvSpPr>
        <p:spPr>
          <a:xfrm>
            <a:off x="822960" y="4928616"/>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7/10</a:t>
            </a:r>
            <a:endParaRPr lang="en-US" sz="1200" dirty="0"/>
          </a:p>
        </p:txBody>
      </p:sp>
      <p:sp>
        <p:nvSpPr>
          <p:cNvPr id="23" name="Text 21"/>
          <p:cNvSpPr/>
          <p:nvPr/>
        </p:nvSpPr>
        <p:spPr>
          <a:xfrm>
            <a:off x="2514600" y="4910328"/>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Distraction</a:t>
            </a:r>
            <a:endParaRPr lang="en-US" sz="1200" dirty="0"/>
          </a:p>
        </p:txBody>
      </p:sp>
      <p:sp>
        <p:nvSpPr>
          <p:cNvPr id="24" name="Text 22"/>
          <p:cNvSpPr/>
          <p:nvPr/>
        </p:nvSpPr>
        <p:spPr>
          <a:xfrm>
            <a:off x="4892040" y="4910328"/>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Homepage storytelling (occasions, gifting scenarios) is rich without feeling cluttered.</a:t>
            </a:r>
            <a:endParaRPr lang="en-US" sz="1050" dirty="0"/>
          </a:p>
        </p:txBody>
      </p:sp>
      <p:sp>
        <p:nvSpPr>
          <p:cNvPr id="25" name="Shape 23"/>
          <p:cNvSpPr/>
          <p:nvPr/>
        </p:nvSpPr>
        <p:spPr>
          <a:xfrm>
            <a:off x="822960" y="5687568"/>
            <a:ext cx="1554480" cy="384048"/>
          </a:xfrm>
          <a:prstGeom prst="roundRect">
            <a:avLst>
              <a:gd name="adj" fmla="val 14286"/>
            </a:avLst>
          </a:prstGeom>
          <a:solidFill>
            <a:srgbClr val="028090"/>
          </a:solidFill>
          <a:ln/>
        </p:spPr>
      </p:sp>
      <p:sp>
        <p:nvSpPr>
          <p:cNvPr id="26" name="Text 24"/>
          <p:cNvSpPr/>
          <p:nvPr/>
        </p:nvSpPr>
        <p:spPr>
          <a:xfrm>
            <a:off x="822960" y="5687568"/>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6/10</a:t>
            </a:r>
            <a:endParaRPr lang="en-US" sz="1200" dirty="0"/>
          </a:p>
        </p:txBody>
      </p:sp>
      <p:sp>
        <p:nvSpPr>
          <p:cNvPr id="27" name="Text 25"/>
          <p:cNvSpPr/>
          <p:nvPr/>
        </p:nvSpPr>
        <p:spPr>
          <a:xfrm>
            <a:off x="2514600" y="5669280"/>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Urgency</a:t>
            </a:r>
            <a:endParaRPr lang="en-US" sz="1200" dirty="0"/>
          </a:p>
        </p:txBody>
      </p:sp>
      <p:sp>
        <p:nvSpPr>
          <p:cNvPr id="28" name="Text 26"/>
          <p:cNvSpPr/>
          <p:nvPr/>
        </p:nvSpPr>
        <p:spPr>
          <a:xfrm>
            <a:off x="4892040" y="5669280"/>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The app-only 15% first-order discount creates some urgency to install, but at the cost of interrupting an already-warm web session.</a:t>
            </a:r>
            <a:endParaRPr lang="en-US" sz="1050" dirty="0"/>
          </a:p>
        </p:txBody>
      </p:sp>
      <p:sp>
        <p:nvSpPr>
          <p:cNvPr id="29" name="Text 27"/>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GIVA — Independent CRO Audit</a:t>
            </a:r>
            <a:endParaRPr lang="en-US" sz="800" dirty="0"/>
          </a:p>
        </p:txBody>
      </p:sp>
      <p:sp>
        <p:nvSpPr>
          <p:cNvPr id="30" name="Text 28"/>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4 of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04 — KEY FINDINGS</a:t>
            </a:r>
            <a:endParaRPr lang="en-US" sz="1100" dirty="0"/>
          </a:p>
        </p:txBody>
      </p:sp>
      <p:sp>
        <p:nvSpPr>
          <p:cNvPr id="3" name="Text 1"/>
          <p:cNvSpPr/>
          <p:nvPr/>
        </p:nvSpPr>
        <p:spPr>
          <a:xfrm>
            <a:off x="640080" y="685800"/>
            <a:ext cx="91440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Friction Points</a:t>
            </a:r>
            <a:endParaRPr lang="en-US" sz="26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Tied back to the LIFT factor each one violates</a:t>
            </a:r>
            <a:endParaRPr lang="en-US" sz="1200" dirty="0"/>
          </a:p>
        </p:txBody>
      </p:sp>
      <p:sp>
        <p:nvSpPr>
          <p:cNvPr id="5" name="Shape 3"/>
          <p:cNvSpPr/>
          <p:nvPr/>
        </p:nvSpPr>
        <p:spPr>
          <a:xfrm>
            <a:off x="640080" y="1828800"/>
            <a:ext cx="365760" cy="365760"/>
          </a:xfrm>
          <a:prstGeom prst="roundRect">
            <a:avLst>
              <a:gd name="adj" fmla="val 15000"/>
            </a:avLst>
          </a:prstGeom>
          <a:solidFill>
            <a:srgbClr val="00A896"/>
          </a:solidFill>
          <a:ln/>
        </p:spPr>
      </p:sp>
      <p:sp>
        <p:nvSpPr>
          <p:cNvPr id="6" name="Text 4"/>
          <p:cNvSpPr/>
          <p:nvPr/>
        </p:nvSpPr>
        <p:spPr>
          <a:xfrm>
            <a:off x="640080" y="18288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783080"/>
            <a:ext cx="7863840" cy="320040"/>
          </a:xfrm>
          <a:prstGeom prst="rect">
            <a:avLst/>
          </a:prstGeom>
          <a:noFill/>
          <a:ln/>
        </p:spPr>
        <p:txBody>
          <a:bodyPr wrap="square" rtlCol="0" anchor="ctr"/>
          <a:lstStyle/>
          <a:p>
            <a:pPr marL="0" indent="0">
              <a:buNone/>
            </a:pPr>
            <a:r>
              <a:rPr lang="en-US" sz="1250" b="1" dirty="0">
                <a:solidFill>
                  <a:srgbClr val="1F2A33"/>
                </a:solidFill>
                <a:latin typeface="Calibri" pitchFamily="34" charset="0"/>
                <a:ea typeface="Calibri" pitchFamily="34" charset="-122"/>
                <a:cs typeface="Calibri" pitchFamily="34" charset="-120"/>
              </a:rPr>
              <a:t>Material-first navigation doesn't match how gifting decisions actually start</a:t>
            </a:r>
            <a:endParaRPr lang="en-US" sz="1250" dirty="0"/>
          </a:p>
        </p:txBody>
      </p:sp>
      <p:sp>
        <p:nvSpPr>
          <p:cNvPr id="8" name="Shape 6"/>
          <p:cNvSpPr/>
          <p:nvPr/>
        </p:nvSpPr>
        <p:spPr>
          <a:xfrm>
            <a:off x="9098280" y="1810512"/>
            <a:ext cx="2423160" cy="292608"/>
          </a:xfrm>
          <a:prstGeom prst="roundRect">
            <a:avLst>
              <a:gd name="adj" fmla="val 43750"/>
            </a:avLst>
          </a:prstGeom>
          <a:solidFill>
            <a:srgbClr val="E4F4F2"/>
          </a:solidFill>
          <a:ln/>
        </p:spPr>
      </p:sp>
      <p:sp>
        <p:nvSpPr>
          <p:cNvPr id="9" name="Text 7"/>
          <p:cNvSpPr/>
          <p:nvPr/>
        </p:nvSpPr>
        <p:spPr>
          <a:xfrm>
            <a:off x="9098280" y="1810512"/>
            <a:ext cx="2423160" cy="292608"/>
          </a:xfrm>
          <a:prstGeom prst="rect">
            <a:avLst/>
          </a:prstGeom>
          <a:noFill/>
          <a:ln/>
        </p:spPr>
        <p:txBody>
          <a:bodyPr wrap="square" lIns="0" tIns="0" rIns="0" bIns="0" rtlCol="0" anchor="ctr"/>
          <a:lstStyle/>
          <a:p>
            <a:pPr marL="0" indent="0" algn="ctr">
              <a:buNone/>
            </a:pPr>
            <a:r>
              <a:rPr lang="en-US" sz="850" b="1" dirty="0">
                <a:solidFill>
                  <a:srgbClr val="028090"/>
                </a:solidFill>
                <a:latin typeface="Calibri" pitchFamily="34" charset="0"/>
                <a:ea typeface="Calibri" pitchFamily="34" charset="-122"/>
                <a:cs typeface="Calibri" pitchFamily="34" charset="-120"/>
              </a:rPr>
              <a:t>RELEVANCE</a:t>
            </a:r>
            <a:endParaRPr lang="en-US" sz="850" dirty="0"/>
          </a:p>
        </p:txBody>
      </p:sp>
      <p:sp>
        <p:nvSpPr>
          <p:cNvPr id="10" name="Text 8"/>
          <p:cNvSpPr/>
          <p:nvPr/>
        </p:nvSpPr>
        <p:spPr>
          <a:xfrm>
            <a:off x="1143000" y="2121408"/>
            <a:ext cx="10332720" cy="77724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The homepage's primary path asks a visitor to choose between Silver, Gold (Heer by GIVA), and Lab-Grown Diamonds before showing them anything else. But most gifting occasions — a birthday, an anniversary, a promotion — start from 'what's a good gift at this budget', not 'which metal do I want'. Material-first navigation puts a decision the visitor isn't ready to make first.</a:t>
            </a:r>
            <a:endParaRPr lang="en-US" sz="1050" dirty="0"/>
          </a:p>
        </p:txBody>
      </p:sp>
      <p:sp>
        <p:nvSpPr>
          <p:cNvPr id="11" name="Shape 9"/>
          <p:cNvSpPr/>
          <p:nvPr/>
        </p:nvSpPr>
        <p:spPr>
          <a:xfrm>
            <a:off x="640080" y="2999232"/>
            <a:ext cx="365760" cy="365760"/>
          </a:xfrm>
          <a:prstGeom prst="roundRect">
            <a:avLst>
              <a:gd name="adj" fmla="val 15000"/>
            </a:avLst>
          </a:prstGeom>
          <a:solidFill>
            <a:srgbClr val="00A896"/>
          </a:solidFill>
          <a:ln/>
        </p:spPr>
      </p:sp>
      <p:sp>
        <p:nvSpPr>
          <p:cNvPr id="12" name="Text 10"/>
          <p:cNvSpPr/>
          <p:nvPr/>
        </p:nvSpPr>
        <p:spPr>
          <a:xfrm>
            <a:off x="640080" y="29992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143000" y="2953512"/>
            <a:ext cx="7863840" cy="320040"/>
          </a:xfrm>
          <a:prstGeom prst="rect">
            <a:avLst/>
          </a:prstGeom>
          <a:noFill/>
          <a:ln/>
        </p:spPr>
        <p:txBody>
          <a:bodyPr wrap="square" rtlCol="0" anchor="ctr"/>
          <a:lstStyle/>
          <a:p>
            <a:pPr marL="0" indent="0">
              <a:buNone/>
            </a:pPr>
            <a:r>
              <a:rPr lang="en-US" sz="1250" b="1" dirty="0">
                <a:solidFill>
                  <a:srgbClr val="1F2A33"/>
                </a:solidFill>
                <a:latin typeface="Calibri" pitchFamily="34" charset="0"/>
                <a:ea typeface="Calibri" pitchFamily="34" charset="-122"/>
                <a:cs typeface="Calibri" pitchFamily="34" charset="-120"/>
              </a:rPr>
              <a:t>The single strongest new-customer incentive is gated behind an app install</a:t>
            </a:r>
            <a:endParaRPr lang="en-US" sz="1250" dirty="0"/>
          </a:p>
        </p:txBody>
      </p:sp>
      <p:sp>
        <p:nvSpPr>
          <p:cNvPr id="14" name="Shape 12"/>
          <p:cNvSpPr/>
          <p:nvPr/>
        </p:nvSpPr>
        <p:spPr>
          <a:xfrm>
            <a:off x="9098280" y="2980944"/>
            <a:ext cx="2423160" cy="292608"/>
          </a:xfrm>
          <a:prstGeom prst="roundRect">
            <a:avLst>
              <a:gd name="adj" fmla="val 43750"/>
            </a:avLst>
          </a:prstGeom>
          <a:solidFill>
            <a:srgbClr val="E4F4F2"/>
          </a:solidFill>
          <a:ln/>
        </p:spPr>
      </p:sp>
      <p:sp>
        <p:nvSpPr>
          <p:cNvPr id="15" name="Text 13"/>
          <p:cNvSpPr/>
          <p:nvPr/>
        </p:nvSpPr>
        <p:spPr>
          <a:xfrm>
            <a:off x="9098280" y="2980944"/>
            <a:ext cx="2423160" cy="292608"/>
          </a:xfrm>
          <a:prstGeom prst="rect">
            <a:avLst/>
          </a:prstGeom>
          <a:noFill/>
          <a:ln/>
        </p:spPr>
        <p:txBody>
          <a:bodyPr wrap="square" lIns="0" tIns="0" rIns="0" bIns="0" rtlCol="0" anchor="ctr"/>
          <a:lstStyle/>
          <a:p>
            <a:pPr marL="0" indent="0" algn="ctr">
              <a:buNone/>
            </a:pPr>
            <a:r>
              <a:rPr lang="en-US" sz="850" b="1" dirty="0">
                <a:solidFill>
                  <a:srgbClr val="028090"/>
                </a:solidFill>
                <a:latin typeface="Calibri" pitchFamily="34" charset="0"/>
                <a:ea typeface="Calibri" pitchFamily="34" charset="-122"/>
                <a:cs typeface="Calibri" pitchFamily="34" charset="-120"/>
              </a:rPr>
              <a:t>URGENCY / ANXIETY</a:t>
            </a:r>
            <a:endParaRPr lang="en-US" sz="850" dirty="0"/>
          </a:p>
        </p:txBody>
      </p:sp>
      <p:sp>
        <p:nvSpPr>
          <p:cNvPr id="16" name="Text 14"/>
          <p:cNvSpPr/>
          <p:nvPr/>
        </p:nvSpPr>
        <p:spPr>
          <a:xfrm>
            <a:off x="1143000" y="3291840"/>
            <a:ext cx="10332720" cy="77724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The flat 15% off first-order offer is presented as an app-exclusive incentive. A visitor who is ready to buy on web is asked to install an app first to unlock it — introducing a full channel switch at the exact moment intent is highest. That's usually where you lose people, not gain them.</a:t>
            </a:r>
            <a:endParaRPr lang="en-US" sz="1050" dirty="0"/>
          </a:p>
        </p:txBody>
      </p:sp>
      <p:sp>
        <p:nvSpPr>
          <p:cNvPr id="17" name="Shape 15"/>
          <p:cNvSpPr/>
          <p:nvPr/>
        </p:nvSpPr>
        <p:spPr>
          <a:xfrm>
            <a:off x="640080" y="4169664"/>
            <a:ext cx="365760" cy="365760"/>
          </a:xfrm>
          <a:prstGeom prst="roundRect">
            <a:avLst>
              <a:gd name="adj" fmla="val 15000"/>
            </a:avLst>
          </a:prstGeom>
          <a:solidFill>
            <a:srgbClr val="00A896"/>
          </a:solidFill>
          <a:ln/>
        </p:spPr>
      </p:sp>
      <p:sp>
        <p:nvSpPr>
          <p:cNvPr id="18" name="Text 16"/>
          <p:cNvSpPr/>
          <p:nvPr/>
        </p:nvSpPr>
        <p:spPr>
          <a:xfrm>
            <a:off x="640080" y="41696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143000" y="4123944"/>
            <a:ext cx="7863840" cy="320040"/>
          </a:xfrm>
          <a:prstGeom prst="rect">
            <a:avLst/>
          </a:prstGeom>
          <a:noFill/>
          <a:ln/>
        </p:spPr>
        <p:txBody>
          <a:bodyPr wrap="square" rtlCol="0" anchor="ctr"/>
          <a:lstStyle/>
          <a:p>
            <a:pPr marL="0" indent="0">
              <a:buNone/>
            </a:pPr>
            <a:r>
              <a:rPr lang="en-US" sz="1250" b="1" dirty="0">
                <a:solidFill>
                  <a:srgbClr val="1F2A33"/>
                </a:solidFill>
                <a:latin typeface="Calibri" pitchFamily="34" charset="0"/>
                <a:ea typeface="Calibri" pitchFamily="34" charset="-122"/>
                <a:cs typeface="Calibri" pitchFamily="34" charset="-120"/>
              </a:rPr>
              <a:t>Multiple GIVA-branded domains could raise first-time trust questions</a:t>
            </a:r>
            <a:endParaRPr lang="en-US" sz="1250" dirty="0"/>
          </a:p>
        </p:txBody>
      </p:sp>
      <p:sp>
        <p:nvSpPr>
          <p:cNvPr id="20" name="Shape 18"/>
          <p:cNvSpPr/>
          <p:nvPr/>
        </p:nvSpPr>
        <p:spPr>
          <a:xfrm>
            <a:off x="9098280" y="4151376"/>
            <a:ext cx="2423160" cy="292608"/>
          </a:xfrm>
          <a:prstGeom prst="roundRect">
            <a:avLst>
              <a:gd name="adj" fmla="val 43750"/>
            </a:avLst>
          </a:prstGeom>
          <a:solidFill>
            <a:srgbClr val="E4F4F2"/>
          </a:solidFill>
          <a:ln/>
        </p:spPr>
      </p:sp>
      <p:sp>
        <p:nvSpPr>
          <p:cNvPr id="21" name="Text 19"/>
          <p:cNvSpPr/>
          <p:nvPr/>
        </p:nvSpPr>
        <p:spPr>
          <a:xfrm>
            <a:off x="9098280" y="4151376"/>
            <a:ext cx="2423160" cy="292608"/>
          </a:xfrm>
          <a:prstGeom prst="rect">
            <a:avLst/>
          </a:prstGeom>
          <a:noFill/>
          <a:ln/>
        </p:spPr>
        <p:txBody>
          <a:bodyPr wrap="square" lIns="0" tIns="0" rIns="0" bIns="0" rtlCol="0" anchor="ctr"/>
          <a:lstStyle/>
          <a:p>
            <a:pPr marL="0" indent="0" algn="ctr">
              <a:buNone/>
            </a:pPr>
            <a:r>
              <a:rPr lang="en-US" sz="850" b="1" dirty="0">
                <a:solidFill>
                  <a:srgbClr val="028090"/>
                </a:solidFill>
                <a:latin typeface="Calibri" pitchFamily="34" charset="0"/>
                <a:ea typeface="Calibri" pitchFamily="34" charset="-122"/>
                <a:cs typeface="Calibri" pitchFamily="34" charset="-120"/>
              </a:rPr>
              <a:t>ANXIETY</a:t>
            </a:r>
            <a:endParaRPr lang="en-US" sz="850" dirty="0"/>
          </a:p>
        </p:txBody>
      </p:sp>
      <p:sp>
        <p:nvSpPr>
          <p:cNvPr id="22" name="Text 20"/>
          <p:cNvSpPr/>
          <p:nvPr/>
        </p:nvSpPr>
        <p:spPr>
          <a:xfrm>
            <a:off x="1143000" y="4462272"/>
            <a:ext cx="10332720" cy="77724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giva.co, givajewelry.com, and giva-us.com all present as GIVA's own properties. For an unfamiliar visitor arriving via search or a shared link, encountering more than one branded domain can raise a 'is this the real site' hesitation.</a:t>
            </a:r>
            <a:endParaRPr lang="en-US" sz="1050" dirty="0"/>
          </a:p>
        </p:txBody>
      </p:sp>
      <p:sp>
        <p:nvSpPr>
          <p:cNvPr id="23" name="Shape 21"/>
          <p:cNvSpPr/>
          <p:nvPr/>
        </p:nvSpPr>
        <p:spPr>
          <a:xfrm>
            <a:off x="640080" y="5385816"/>
            <a:ext cx="10881360" cy="868680"/>
          </a:xfrm>
          <a:prstGeom prst="roundRect">
            <a:avLst>
              <a:gd name="adj" fmla="val 8421"/>
            </a:avLst>
          </a:prstGeom>
          <a:solidFill>
            <a:srgbClr val="EAF4F3"/>
          </a:solidFill>
          <a:ln w="12700">
            <a:solidFill>
              <a:srgbClr val="EAF4F3"/>
            </a:solidFill>
            <a:prstDash val="solid"/>
          </a:ln>
        </p:spPr>
      </p:sp>
      <p:sp>
        <p:nvSpPr>
          <p:cNvPr id="24" name="Text 22"/>
          <p:cNvSpPr/>
          <p:nvPr/>
        </p:nvSpPr>
        <p:spPr>
          <a:xfrm>
            <a:off x="822960" y="5477256"/>
            <a:ext cx="10058400" cy="274320"/>
          </a:xfrm>
          <a:prstGeom prst="rect">
            <a:avLst/>
          </a:prstGeom>
          <a:noFill/>
          <a:ln/>
        </p:spPr>
        <p:txBody>
          <a:bodyPr wrap="square" rtlCol="0" anchor="ctr"/>
          <a:lstStyle/>
          <a:p>
            <a:pPr marL="0" indent="0">
              <a:buNone/>
            </a:pPr>
            <a:r>
              <a:rPr lang="en-US" sz="1150" b="1" dirty="0">
                <a:solidFill>
                  <a:srgbClr val="1F2A33"/>
                </a:solidFill>
                <a:latin typeface="Calibri" pitchFamily="34" charset="0"/>
                <a:ea typeface="Calibri" pitchFamily="34" charset="-122"/>
                <a:cs typeface="Calibri" pitchFamily="34" charset="-120"/>
              </a:rPr>
              <a:t>What's already working</a:t>
            </a:r>
            <a:endParaRPr lang="en-US" sz="1150" dirty="0"/>
          </a:p>
        </p:txBody>
      </p:sp>
      <p:sp>
        <p:nvSpPr>
          <p:cNvPr id="25" name="Text 23"/>
          <p:cNvSpPr/>
          <p:nvPr/>
        </p:nvSpPr>
        <p:spPr>
          <a:xfrm>
            <a:off x="822960" y="5769864"/>
            <a:ext cx="10332720" cy="457200"/>
          </a:xfrm>
          <a:prstGeom prst="rect">
            <a:avLst/>
          </a:prstGeom>
          <a:noFill/>
          <a:ln/>
        </p:spPr>
        <p:txBody>
          <a:bodyPr wrap="square" rtlCol="0" anchor="t"/>
          <a:lstStyle/>
          <a:p>
            <a:pPr marL="0" indent="0">
              <a:buNone/>
            </a:pPr>
            <a:r>
              <a:rPr lang="en-US" sz="1000" dirty="0">
                <a:solidFill>
                  <a:srgbClr val="1F2A33"/>
                </a:solidFill>
                <a:latin typeface="Calibri" pitchFamily="34" charset="0"/>
                <a:ea typeface="Calibri" pitchFamily="34" charset="-122"/>
                <a:cs typeface="Calibri" pitchFamily="34" charset="-120"/>
              </a:rPr>
              <a:t>The trust-building fundamentals — BIS hallmarking, a certificate of authenticity with every purchase, and an accessible Rs.599 entry price — directly answer the two biggest objections to buying jewelry online (is it real, can I afford to try it).</a:t>
            </a:r>
            <a:endParaRPr lang="en-US" sz="1000" dirty="0"/>
          </a:p>
        </p:txBody>
      </p:sp>
      <p:sp>
        <p:nvSpPr>
          <p:cNvPr id="26" name="Text 24"/>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GIVA — Independent CRO Audit</a:t>
            </a:r>
            <a:endParaRPr lang="en-US" sz="800" dirty="0"/>
          </a:p>
        </p:txBody>
      </p:sp>
      <p:sp>
        <p:nvSpPr>
          <p:cNvPr id="27" name="Text 25"/>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5 of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05 — CATEGORY BENCHMARK</a:t>
            </a:r>
            <a:endParaRPr lang="en-US" sz="1100" dirty="0"/>
          </a:p>
        </p:txBody>
      </p:sp>
      <p:sp>
        <p:nvSpPr>
          <p:cNvPr id="3" name="Text 1"/>
          <p:cNvSpPr/>
          <p:nvPr/>
        </p:nvSpPr>
        <p:spPr>
          <a:xfrm>
            <a:off x="640080" y="685800"/>
            <a:ext cx="96012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How severe is this, really?</a:t>
            </a:r>
            <a:endParaRPr lang="en-US" sz="26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Contextualizing findings against public industry benchmarks — not competitor-specific data</a:t>
            </a:r>
            <a:endParaRPr lang="en-US" sz="1200" dirty="0"/>
          </a:p>
        </p:txBody>
      </p:sp>
      <p:sp>
        <p:nvSpPr>
          <p:cNvPr id="5" name="Text 3"/>
          <p:cNvSpPr/>
          <p:nvPr/>
        </p:nvSpPr>
        <p:spPr>
          <a:xfrm>
            <a:off x="640080" y="1874520"/>
            <a:ext cx="10881360" cy="1645920"/>
          </a:xfrm>
          <a:prstGeom prst="rect">
            <a:avLst/>
          </a:prstGeom>
          <a:noFill/>
          <a:ln/>
        </p:spPr>
        <p:txBody>
          <a:bodyPr wrap="square" rtlCol="0" anchor="t"/>
          <a:lstStyle/>
          <a:p>
            <a:pPr marL="0" indent="0">
              <a:buNone/>
            </a:pPr>
            <a:r>
              <a:rPr lang="en-US" sz="1250" dirty="0">
                <a:solidFill>
                  <a:srgbClr val="1F2A33"/>
                </a:solidFill>
                <a:latin typeface="Calibri" pitchFamily="34" charset="0"/>
                <a:ea typeface="Calibri" pitchFamily="34" charset="-122"/>
                <a:cs typeface="Calibri" pitchFamily="34" charset="-120"/>
              </a:rPr>
              <a:t>Online jewelry conversion rates typically sit below general e-commerce averages (often in the 1-2% range) because of high perceived risk (authenticity, gifting-occasion pressure, higher average order values than most D2C categories). Category benchmarks in gifting-led verticals consistently show that occasion-based and budget-based entry points outperform attribute-first navigation for first-time visitors.</a:t>
            </a:r>
            <a:endParaRPr lang="en-US" sz="1250" dirty="0"/>
          </a:p>
        </p:txBody>
      </p:sp>
      <p:sp>
        <p:nvSpPr>
          <p:cNvPr id="6" name="Shape 4"/>
          <p:cNvSpPr/>
          <p:nvPr/>
        </p:nvSpPr>
        <p:spPr>
          <a:xfrm>
            <a:off x="640080" y="3749040"/>
            <a:ext cx="10881360" cy="1371600"/>
          </a:xfrm>
          <a:prstGeom prst="roundRect">
            <a:avLst>
              <a:gd name="adj" fmla="val 5333"/>
            </a:avLst>
          </a:prstGeom>
          <a:solidFill>
            <a:srgbClr val="EAF4F3"/>
          </a:solidFill>
          <a:ln w="12700">
            <a:solidFill>
              <a:srgbClr val="EAF4F3"/>
            </a:solidFill>
            <a:prstDash val="solid"/>
          </a:ln>
        </p:spPr>
      </p:sp>
      <p:sp>
        <p:nvSpPr>
          <p:cNvPr id="7" name="Text 5"/>
          <p:cNvSpPr/>
          <p:nvPr/>
        </p:nvSpPr>
        <p:spPr>
          <a:xfrm>
            <a:off x="822960" y="3886200"/>
            <a:ext cx="10058400" cy="320040"/>
          </a:xfrm>
          <a:prstGeom prst="rect">
            <a:avLst/>
          </a:prstGeom>
          <a:noFill/>
          <a:ln/>
        </p:spPr>
        <p:txBody>
          <a:bodyPr wrap="square" rtlCol="0" anchor="ctr"/>
          <a:lstStyle/>
          <a:p>
            <a:pPr marL="0" indent="0">
              <a:buNone/>
            </a:pPr>
            <a:r>
              <a:rPr lang="en-US" sz="1200" b="1" dirty="0">
                <a:solidFill>
                  <a:srgbClr val="1F2A33"/>
                </a:solidFill>
                <a:latin typeface="Calibri" pitchFamily="34" charset="0"/>
                <a:ea typeface="Calibri" pitchFamily="34" charset="-122"/>
                <a:cs typeface="Calibri" pitchFamily="34" charset="-120"/>
              </a:rPr>
              <a:t>Why this matters here specifically</a:t>
            </a:r>
            <a:endParaRPr lang="en-US" sz="1200" dirty="0"/>
          </a:p>
        </p:txBody>
      </p:sp>
      <p:sp>
        <p:nvSpPr>
          <p:cNvPr id="8" name="Text 6"/>
          <p:cNvSpPr/>
          <p:nvPr/>
        </p:nvSpPr>
        <p:spPr>
          <a:xfrm>
            <a:off x="822960" y="4251960"/>
            <a:ext cx="10332720" cy="777240"/>
          </a:xfrm>
          <a:prstGeom prst="rect">
            <a:avLst/>
          </a:prstGeom>
          <a:noFill/>
          <a:ln/>
        </p:spPr>
        <p:txBody>
          <a:bodyPr wrap="square" rtlCol="0" anchor="t"/>
          <a:lstStyle/>
          <a:p>
            <a:pPr marL="0" indent="0">
              <a:buNone/>
            </a:pPr>
            <a:r>
              <a:rPr lang="en-US" sz="1150" dirty="0">
                <a:solidFill>
                  <a:srgbClr val="1F2A33"/>
                </a:solidFill>
                <a:latin typeface="Calibri" pitchFamily="34" charset="0"/>
                <a:ea typeface="Calibri" pitchFamily="34" charset="-122"/>
                <a:cs typeface="Calibri" pitchFamily="34" charset="-120"/>
              </a:rPr>
              <a:t>Because jewelry is more often a gifting purchase than most D2C categories, the mismatch between GIVA's material-first navigation and an occasion-first buyer intent likely matters more here than it would for footwear or skincare, where the buyer is usually shopping for themselves.</a:t>
            </a:r>
            <a:endParaRPr lang="en-US" sz="1150" dirty="0"/>
          </a:p>
        </p:txBody>
      </p:sp>
      <p:sp>
        <p:nvSpPr>
          <p:cNvPr id="9" name="Text 7"/>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GIVA — Independent CRO Audit</a:t>
            </a:r>
            <a:endParaRPr lang="en-US" sz="800" dirty="0"/>
          </a:p>
        </p:txBody>
      </p:sp>
      <p:sp>
        <p:nvSpPr>
          <p:cNvPr id="10" name="Text 8"/>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6 of 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06 — PRIORITIZED BACKLOG</a:t>
            </a:r>
            <a:endParaRPr lang="en-US" sz="1100" dirty="0"/>
          </a:p>
        </p:txBody>
      </p:sp>
      <p:sp>
        <p:nvSpPr>
          <p:cNvPr id="3" name="Text 1"/>
          <p:cNvSpPr/>
          <p:nvPr/>
        </p:nvSpPr>
        <p:spPr>
          <a:xfrm>
            <a:off x="640080" y="685800"/>
            <a:ext cx="10881360" cy="548640"/>
          </a:xfrm>
          <a:prstGeom prst="rect">
            <a:avLst/>
          </a:prstGeom>
          <a:noFill/>
          <a:ln/>
        </p:spPr>
        <p:txBody>
          <a:bodyPr wrap="square" rtlCol="0" anchor="ctr"/>
          <a:lstStyle/>
          <a:p>
            <a:pPr marL="0" indent="0">
              <a:buNone/>
            </a:pPr>
            <a:r>
              <a:rPr lang="en-US" sz="2400" b="1" dirty="0">
                <a:solidFill>
                  <a:srgbClr val="1F2A33"/>
                </a:solidFill>
                <a:latin typeface="Cambria" pitchFamily="34" charset="0"/>
                <a:ea typeface="Cambria" pitchFamily="34" charset="-122"/>
                <a:cs typeface="Cambria" pitchFamily="34" charset="-120"/>
              </a:rPr>
              <a:t>Quick Wins vs. Long-Term Experiment Backlog</a:t>
            </a:r>
            <a:endParaRPr lang="en-US" sz="24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ICE = (Impact + Confidence + Ease) / 3 — scored consistently across all audits</a:t>
            </a:r>
            <a:endParaRPr lang="en-US" sz="1200" dirty="0"/>
          </a:p>
        </p:txBody>
      </p:sp>
      <p:sp>
        <p:nvSpPr>
          <p:cNvPr id="5" name="Shape 3"/>
          <p:cNvSpPr/>
          <p:nvPr/>
        </p:nvSpPr>
        <p:spPr>
          <a:xfrm>
            <a:off x="640080" y="1828800"/>
            <a:ext cx="5257800" cy="365760"/>
          </a:xfrm>
          <a:prstGeom prst="roundRect">
            <a:avLst>
              <a:gd name="adj" fmla="val 12500"/>
            </a:avLst>
          </a:prstGeom>
          <a:solidFill>
            <a:srgbClr val="028090"/>
          </a:solidFill>
          <a:ln/>
        </p:spPr>
      </p:sp>
      <p:sp>
        <p:nvSpPr>
          <p:cNvPr id="6" name="Text 4"/>
          <p:cNvSpPr/>
          <p:nvPr/>
        </p:nvSpPr>
        <p:spPr>
          <a:xfrm>
            <a:off x="640080" y="1828800"/>
            <a:ext cx="5257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QUICK WINS — ship within 1 sprint</a:t>
            </a:r>
            <a:endParaRPr lang="en-US" sz="1100" dirty="0"/>
          </a:p>
        </p:txBody>
      </p:sp>
      <p:sp>
        <p:nvSpPr>
          <p:cNvPr id="7" name="Shape 5"/>
          <p:cNvSpPr/>
          <p:nvPr/>
        </p:nvSpPr>
        <p:spPr>
          <a:xfrm>
            <a:off x="640080" y="2194560"/>
            <a:ext cx="5257800" cy="3931920"/>
          </a:xfrm>
          <a:prstGeom prst="roundRect">
            <a:avLst>
              <a:gd name="adj" fmla="val 1860"/>
            </a:avLst>
          </a:prstGeom>
          <a:solidFill>
            <a:srgbClr val="EAF4F3"/>
          </a:solidFill>
          <a:ln w="12700">
            <a:solidFill>
              <a:srgbClr val="EAF4F3"/>
            </a:solidFill>
            <a:prstDash val="solid"/>
          </a:ln>
        </p:spPr>
      </p:sp>
      <p:sp>
        <p:nvSpPr>
          <p:cNvPr id="8" name="Text 6"/>
          <p:cNvSpPr/>
          <p:nvPr/>
        </p:nvSpPr>
        <p:spPr>
          <a:xfrm>
            <a:off x="822960" y="2331720"/>
            <a:ext cx="4892040" cy="1371600"/>
          </a:xfrm>
          <a:prstGeom prst="rect">
            <a:avLst/>
          </a:prstGeom>
          <a:noFill/>
          <a:ln/>
        </p:spPr>
        <p:txBody>
          <a:bodyPr wrap="square" rtlCol="0" anchor="t"/>
          <a:lstStyle/>
          <a:p>
            <a:pPr marL="0" indent="0">
              <a:buNone/>
            </a:pPr>
            <a:r>
              <a:rPr lang="en-US" sz="1050" b="1" dirty="0">
                <a:solidFill>
                  <a:srgbClr val="1F2A33"/>
                </a:solidFill>
                <a:latin typeface="Calibri" pitchFamily="34" charset="0"/>
                <a:ea typeface="Calibri" pitchFamily="34" charset="-122"/>
                <a:cs typeface="Calibri" pitchFamily="34" charset="-120"/>
              </a:rPr>
              <a:t>QW1 — </a:t>
            </a:r>
            <a:r>
              <a:rPr lang="en-US" sz="1050" dirty="0">
                <a:solidFill>
                  <a:srgbClr val="1F2A33"/>
                </a:solidFill>
                <a:latin typeface="Calibri" pitchFamily="34" charset="0"/>
                <a:ea typeface="Calibri" pitchFamily="34" charset="-122"/>
                <a:cs typeface="Calibri" pitchFamily="34" charset="-120"/>
              </a:rPr>
              <a:t>Offer the 15% first-order discount on web checkout directly (not app-gated), with the app promoted as a secondary, optional benefit with additional % offer incentives from app on second purchase, rather than a requirement. Solves for both app downloads/user acquisition and retention/repeat purchase rate.</a:t>
            </a:r>
            <a:endParaRPr lang="en-US" sz="1050" dirty="0"/>
          </a:p>
        </p:txBody>
      </p:sp>
      <p:sp>
        <p:nvSpPr>
          <p:cNvPr id="9" name="Text 7"/>
          <p:cNvSpPr/>
          <p:nvPr/>
        </p:nvSpPr>
        <p:spPr>
          <a:xfrm>
            <a:off x="822960" y="3749040"/>
            <a:ext cx="4892040" cy="274320"/>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ICE 7.7</a:t>
            </a:r>
            <a:endParaRPr lang="en-US" sz="950" dirty="0"/>
          </a:p>
        </p:txBody>
      </p:sp>
      <p:sp>
        <p:nvSpPr>
          <p:cNvPr id="10" name="Text 8"/>
          <p:cNvSpPr/>
          <p:nvPr/>
        </p:nvSpPr>
        <p:spPr>
          <a:xfrm>
            <a:off x="822960" y="4160520"/>
            <a:ext cx="4892040" cy="1371600"/>
          </a:xfrm>
          <a:prstGeom prst="rect">
            <a:avLst/>
          </a:prstGeom>
          <a:noFill/>
          <a:ln/>
        </p:spPr>
        <p:txBody>
          <a:bodyPr wrap="square" rtlCol="0" anchor="t"/>
          <a:lstStyle/>
          <a:p>
            <a:pPr marL="0" indent="0">
              <a:buNone/>
            </a:pPr>
            <a:r>
              <a:rPr lang="en-US" sz="1050" b="1" dirty="0">
                <a:solidFill>
                  <a:srgbClr val="1F2A33"/>
                </a:solidFill>
                <a:latin typeface="Calibri" pitchFamily="34" charset="0"/>
                <a:ea typeface="Calibri" pitchFamily="34" charset="-122"/>
                <a:cs typeface="Calibri" pitchFamily="34" charset="-120"/>
              </a:rPr>
              <a:t>QW2 — </a:t>
            </a:r>
            <a:r>
              <a:rPr lang="en-US" sz="1050" dirty="0">
                <a:solidFill>
                  <a:srgbClr val="1F2A33"/>
                </a:solidFill>
                <a:latin typeface="Calibri" pitchFamily="34" charset="0"/>
                <a:ea typeface="Calibri" pitchFamily="34" charset="-122"/>
                <a:cs typeface="Calibri" pitchFamily="34" charset="-120"/>
              </a:rPr>
              <a:t>Add a single canonical link/banner clarifying domain relationships (e.g., 'Shopping from the US? Visit giva-us.com') so visitors don't have to guess which domain is authoritative.</a:t>
            </a:r>
            <a:endParaRPr lang="en-US" sz="1050" dirty="0"/>
          </a:p>
        </p:txBody>
      </p:sp>
      <p:sp>
        <p:nvSpPr>
          <p:cNvPr id="11" name="Text 9"/>
          <p:cNvSpPr/>
          <p:nvPr/>
        </p:nvSpPr>
        <p:spPr>
          <a:xfrm>
            <a:off x="822960" y="5577840"/>
            <a:ext cx="4892040" cy="274320"/>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ICE 6.7</a:t>
            </a:r>
            <a:endParaRPr lang="en-US" sz="950" dirty="0"/>
          </a:p>
        </p:txBody>
      </p:sp>
      <p:sp>
        <p:nvSpPr>
          <p:cNvPr id="12" name="Shape 10"/>
          <p:cNvSpPr/>
          <p:nvPr/>
        </p:nvSpPr>
        <p:spPr>
          <a:xfrm>
            <a:off x="6035040" y="1828800"/>
            <a:ext cx="5486400" cy="365760"/>
          </a:xfrm>
          <a:prstGeom prst="roundRect">
            <a:avLst>
              <a:gd name="adj" fmla="val 12500"/>
            </a:avLst>
          </a:prstGeom>
          <a:solidFill>
            <a:srgbClr val="0B1F2A"/>
          </a:solidFill>
          <a:ln/>
        </p:spPr>
      </p:sp>
      <p:sp>
        <p:nvSpPr>
          <p:cNvPr id="13" name="Text 11"/>
          <p:cNvSpPr/>
          <p:nvPr/>
        </p:nvSpPr>
        <p:spPr>
          <a:xfrm>
            <a:off x="6035040" y="1828800"/>
            <a:ext cx="54864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LONG-TERM BACKLOG — needs design/eng scoping</a:t>
            </a:r>
            <a:endParaRPr lang="en-US" sz="1100" dirty="0"/>
          </a:p>
        </p:txBody>
      </p:sp>
      <p:sp>
        <p:nvSpPr>
          <p:cNvPr id="14" name="Shape 12"/>
          <p:cNvSpPr/>
          <p:nvPr/>
        </p:nvSpPr>
        <p:spPr>
          <a:xfrm>
            <a:off x="6035040" y="2194560"/>
            <a:ext cx="5486400" cy="3931920"/>
          </a:xfrm>
          <a:prstGeom prst="roundRect">
            <a:avLst>
              <a:gd name="adj" fmla="val 1860"/>
            </a:avLst>
          </a:prstGeom>
          <a:solidFill>
            <a:srgbClr val="EAF4F3"/>
          </a:solidFill>
          <a:ln w="12700">
            <a:solidFill>
              <a:srgbClr val="EAF4F3"/>
            </a:solidFill>
            <a:prstDash val="solid"/>
          </a:ln>
        </p:spPr>
      </p:sp>
      <p:sp>
        <p:nvSpPr>
          <p:cNvPr id="15" name="Text 13"/>
          <p:cNvSpPr/>
          <p:nvPr/>
        </p:nvSpPr>
        <p:spPr>
          <a:xfrm>
            <a:off x="6217920" y="2331720"/>
            <a:ext cx="5120640" cy="1463040"/>
          </a:xfrm>
          <a:prstGeom prst="rect">
            <a:avLst/>
          </a:prstGeom>
          <a:noFill/>
          <a:ln/>
        </p:spPr>
        <p:txBody>
          <a:bodyPr wrap="square" rtlCol="0" anchor="t"/>
          <a:lstStyle/>
          <a:p>
            <a:pPr marL="0" indent="0">
              <a:buNone/>
            </a:pPr>
            <a:r>
              <a:rPr lang="en-US" sz="1050" b="1" dirty="0">
                <a:solidFill>
                  <a:srgbClr val="1F2A33"/>
                </a:solidFill>
                <a:latin typeface="Calibri" pitchFamily="34" charset="0"/>
                <a:ea typeface="Calibri" pitchFamily="34" charset="-122"/>
                <a:cs typeface="Calibri" pitchFamily="34" charset="-120"/>
              </a:rPr>
              <a:t>LT1 — </a:t>
            </a:r>
            <a:r>
              <a:rPr lang="en-US" sz="1050" dirty="0">
                <a:solidFill>
                  <a:srgbClr val="1F2A33"/>
                </a:solidFill>
                <a:latin typeface="Calibri" pitchFamily="34" charset="0"/>
                <a:ea typeface="Calibri" pitchFamily="34" charset="-122"/>
                <a:cs typeface="Calibri" pitchFamily="34" charset="-120"/>
              </a:rPr>
              <a:t>Add a 'Shop by Occasion' and 'Shop by Budget' entry point above the Silver/Gold/Diamond material split, so first-time gifting shoppers aren't forced to choose a material before they've chosen a gift.</a:t>
            </a:r>
            <a:endParaRPr lang="en-US" sz="1050" dirty="0"/>
          </a:p>
        </p:txBody>
      </p:sp>
      <p:sp>
        <p:nvSpPr>
          <p:cNvPr id="16" name="Text 14"/>
          <p:cNvSpPr/>
          <p:nvPr/>
        </p:nvSpPr>
        <p:spPr>
          <a:xfrm>
            <a:off x="6217920" y="3840480"/>
            <a:ext cx="5120640" cy="274320"/>
          </a:xfrm>
          <a:prstGeom prst="rect">
            <a:avLst/>
          </a:prstGeom>
          <a:noFill/>
          <a:ln/>
        </p:spPr>
        <p:txBody>
          <a:bodyPr wrap="square" rtlCol="0" anchor="ctr"/>
          <a:lstStyle/>
          <a:p>
            <a:pPr marL="0" indent="0">
              <a:buNone/>
            </a:pPr>
            <a:r>
              <a:rPr lang="en-US" sz="950" b="1" dirty="0">
                <a:solidFill>
                  <a:srgbClr val="0B1F2A"/>
                </a:solidFill>
                <a:latin typeface="Calibri" pitchFamily="34" charset="0"/>
                <a:ea typeface="Calibri" pitchFamily="34" charset="-122"/>
                <a:cs typeface="Calibri" pitchFamily="34" charset="-120"/>
              </a:rPr>
              <a:t>ICE 7.3</a:t>
            </a:r>
            <a:endParaRPr lang="en-US" sz="950" dirty="0"/>
          </a:p>
        </p:txBody>
      </p:sp>
      <p:sp>
        <p:nvSpPr>
          <p:cNvPr id="17" name="Text 15"/>
          <p:cNvSpPr/>
          <p:nvPr/>
        </p:nvSpPr>
        <p:spPr>
          <a:xfrm>
            <a:off x="6217920" y="4251960"/>
            <a:ext cx="5120640" cy="1463040"/>
          </a:xfrm>
          <a:prstGeom prst="rect">
            <a:avLst/>
          </a:prstGeom>
          <a:noFill/>
          <a:ln/>
        </p:spPr>
        <p:txBody>
          <a:bodyPr wrap="square" rtlCol="0" anchor="t"/>
          <a:lstStyle/>
          <a:p>
            <a:pPr marL="0" indent="0">
              <a:buNone/>
            </a:pPr>
            <a:r>
              <a:rPr lang="en-US" sz="1050" b="1" dirty="0">
                <a:solidFill>
                  <a:srgbClr val="1F2A33"/>
                </a:solidFill>
                <a:latin typeface="Calibri" pitchFamily="34" charset="0"/>
                <a:ea typeface="Calibri" pitchFamily="34" charset="-122"/>
                <a:cs typeface="Calibri" pitchFamily="34" charset="-120"/>
              </a:rPr>
              <a:t>LT2 — </a:t>
            </a:r>
            <a:r>
              <a:rPr lang="en-US" sz="1050" dirty="0">
                <a:solidFill>
                  <a:srgbClr val="1F2A33"/>
                </a:solidFill>
                <a:latin typeface="Calibri" pitchFamily="34" charset="0"/>
                <a:ea typeface="Calibri" pitchFamily="34" charset="-122"/>
                <a:cs typeface="Calibri" pitchFamily="34" charset="-120"/>
              </a:rPr>
              <a:t>Test a unified cross-domain account/cart system so a visitor who starts on one GIVA domain doesn't lose progress if redirected to another by geography.</a:t>
            </a:r>
            <a:endParaRPr lang="en-US" sz="1050" dirty="0"/>
          </a:p>
        </p:txBody>
      </p:sp>
      <p:sp>
        <p:nvSpPr>
          <p:cNvPr id="18" name="Text 16"/>
          <p:cNvSpPr/>
          <p:nvPr/>
        </p:nvSpPr>
        <p:spPr>
          <a:xfrm>
            <a:off x="6217920" y="5760720"/>
            <a:ext cx="5120640" cy="274320"/>
          </a:xfrm>
          <a:prstGeom prst="rect">
            <a:avLst/>
          </a:prstGeom>
          <a:noFill/>
          <a:ln/>
        </p:spPr>
        <p:txBody>
          <a:bodyPr wrap="square" rtlCol="0" anchor="ctr"/>
          <a:lstStyle/>
          <a:p>
            <a:pPr marL="0" indent="0">
              <a:buNone/>
            </a:pPr>
            <a:r>
              <a:rPr lang="en-US" sz="950" b="1" dirty="0">
                <a:solidFill>
                  <a:srgbClr val="0B1F2A"/>
                </a:solidFill>
                <a:latin typeface="Calibri" pitchFamily="34" charset="0"/>
                <a:ea typeface="Calibri" pitchFamily="34" charset="-122"/>
                <a:cs typeface="Calibri" pitchFamily="34" charset="-120"/>
              </a:rPr>
              <a:t>ICE 5.7</a:t>
            </a:r>
            <a:endParaRPr lang="en-US" sz="950" dirty="0"/>
          </a:p>
        </p:txBody>
      </p:sp>
      <p:sp>
        <p:nvSpPr>
          <p:cNvPr id="19" name="Text 17"/>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GIVA — Independent CRO Audit</a:t>
            </a:r>
            <a:endParaRPr lang="en-US" sz="800" dirty="0"/>
          </a:p>
        </p:txBody>
      </p:sp>
      <p:sp>
        <p:nvSpPr>
          <p:cNvPr id="20" name="Text 18"/>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7 of 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07 — TEST DESIGN</a:t>
            </a:r>
            <a:endParaRPr lang="en-US" sz="1100" dirty="0"/>
          </a:p>
        </p:txBody>
      </p:sp>
      <p:sp>
        <p:nvSpPr>
          <p:cNvPr id="3" name="Text 1"/>
          <p:cNvSpPr/>
          <p:nvPr/>
        </p:nvSpPr>
        <p:spPr>
          <a:xfrm>
            <a:off x="640080" y="685800"/>
            <a:ext cx="10698480" cy="548640"/>
          </a:xfrm>
          <a:prstGeom prst="rect">
            <a:avLst/>
          </a:prstGeom>
          <a:noFill/>
          <a:ln/>
        </p:spPr>
        <p:txBody>
          <a:bodyPr wrap="square" rtlCol="0" anchor="ctr"/>
          <a:lstStyle/>
          <a:p>
            <a:pPr marL="0" indent="0">
              <a:buNone/>
            </a:pPr>
            <a:r>
              <a:rPr lang="en-US" sz="2300" b="1" dirty="0">
                <a:solidFill>
                  <a:srgbClr val="1F2A33"/>
                </a:solidFill>
                <a:latin typeface="Cambria" pitchFamily="34" charset="0"/>
                <a:ea typeface="Cambria" pitchFamily="34" charset="-122"/>
                <a:cs typeface="Cambria" pitchFamily="34" charset="-120"/>
              </a:rPr>
              <a:t>Test Design — QW1: Web-Native First-Order Discount</a:t>
            </a:r>
            <a:endParaRPr lang="en-US" sz="2300" dirty="0"/>
          </a:p>
        </p:txBody>
      </p:sp>
      <p:sp>
        <p:nvSpPr>
          <p:cNvPr id="4" name="Text 2"/>
          <p:cNvSpPr/>
          <p:nvPr/>
        </p:nvSpPr>
        <p:spPr>
          <a:xfrm>
            <a:off x="640080" y="1234440"/>
            <a:ext cx="10881360" cy="3657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Highest ICE score (7.7) — removes a channel-switch step at peak intent</a:t>
            </a:r>
            <a:endParaRPr lang="en-US" sz="1200" dirty="0"/>
          </a:p>
        </p:txBody>
      </p:sp>
      <p:sp>
        <p:nvSpPr>
          <p:cNvPr id="5" name="Shape 3"/>
          <p:cNvSpPr/>
          <p:nvPr/>
        </p:nvSpPr>
        <p:spPr>
          <a:xfrm>
            <a:off x="640080" y="1737360"/>
            <a:ext cx="5212080" cy="2194560"/>
          </a:xfrm>
          <a:prstGeom prst="roundRect">
            <a:avLst>
              <a:gd name="adj" fmla="val 3333"/>
            </a:avLst>
          </a:prstGeom>
          <a:solidFill>
            <a:srgbClr val="F3F3F3"/>
          </a:solidFill>
          <a:ln w="12700">
            <a:solidFill>
              <a:srgbClr val="DADADA"/>
            </a:solidFill>
            <a:prstDash val="solid"/>
          </a:ln>
        </p:spPr>
      </p:sp>
      <p:sp>
        <p:nvSpPr>
          <p:cNvPr id="6" name="Text 4"/>
          <p:cNvSpPr/>
          <p:nvPr/>
        </p:nvSpPr>
        <p:spPr>
          <a:xfrm>
            <a:off x="822960" y="1874520"/>
            <a:ext cx="3657600" cy="274320"/>
          </a:xfrm>
          <a:prstGeom prst="rect">
            <a:avLst/>
          </a:prstGeom>
          <a:noFill/>
          <a:ln/>
        </p:spPr>
        <p:txBody>
          <a:bodyPr wrap="square" rtlCol="0" anchor="ctr"/>
          <a:lstStyle/>
          <a:p>
            <a:pPr marL="0" indent="0">
              <a:buNone/>
            </a:pPr>
            <a:r>
              <a:rPr lang="en-US" sz="1100" b="1" kern="0" spc="150" dirty="0">
                <a:solidFill>
                  <a:srgbClr val="6B7280"/>
                </a:solidFill>
                <a:latin typeface="Calibri" pitchFamily="34" charset="0"/>
                <a:ea typeface="Calibri" pitchFamily="34" charset="-122"/>
                <a:cs typeface="Calibri" pitchFamily="34" charset="-120"/>
              </a:rPr>
              <a:t>CONTROL</a:t>
            </a:r>
            <a:endParaRPr lang="en-US" sz="1100" dirty="0"/>
          </a:p>
        </p:txBody>
      </p:sp>
      <p:sp>
        <p:nvSpPr>
          <p:cNvPr id="7" name="Text 5"/>
          <p:cNvSpPr/>
          <p:nvPr/>
        </p:nvSpPr>
        <p:spPr>
          <a:xfrm>
            <a:off x="822960" y="2194560"/>
            <a:ext cx="4754880" cy="1645920"/>
          </a:xfrm>
          <a:prstGeom prst="rect">
            <a:avLst/>
          </a:prstGeom>
          <a:noFill/>
          <a:ln/>
        </p:spPr>
        <p:txBody>
          <a:bodyPr wrap="square" rtlCol="0" anchor="t"/>
          <a:lstStyle/>
          <a:p>
            <a:pPr marL="0" indent="0">
              <a:buNone/>
            </a:pPr>
            <a:r>
              <a:rPr lang="en-US" sz="1150" dirty="0">
                <a:solidFill>
                  <a:srgbClr val="1F2A33"/>
                </a:solidFill>
                <a:latin typeface="Calibri" pitchFamily="34" charset="0"/>
                <a:ea typeface="Calibri" pitchFamily="34" charset="-122"/>
                <a:cs typeface="Calibri" pitchFamily="34" charset="-120"/>
              </a:rPr>
              <a:t>Flat 15% off first order is presented as an app-exclusive incentive; web visitors are prompted to download the app to unlock it, interrupting checkout with an app-store redirect.</a:t>
            </a:r>
            <a:endParaRPr lang="en-US" sz="1150" dirty="0"/>
          </a:p>
        </p:txBody>
      </p:sp>
      <p:sp>
        <p:nvSpPr>
          <p:cNvPr id="8" name="Shape 6"/>
          <p:cNvSpPr/>
          <p:nvPr/>
        </p:nvSpPr>
        <p:spPr>
          <a:xfrm>
            <a:off x="6309360" y="1737360"/>
            <a:ext cx="5212080" cy="2194560"/>
          </a:xfrm>
          <a:prstGeom prst="roundRect">
            <a:avLst>
              <a:gd name="adj" fmla="val 3333"/>
            </a:avLst>
          </a:prstGeom>
          <a:solidFill>
            <a:srgbClr val="EAF4F3"/>
          </a:solidFill>
          <a:ln w="12700">
            <a:solidFill>
              <a:srgbClr val="028090"/>
            </a:solidFill>
            <a:prstDash val="solid"/>
          </a:ln>
        </p:spPr>
      </p:sp>
      <p:sp>
        <p:nvSpPr>
          <p:cNvPr id="9" name="Text 7"/>
          <p:cNvSpPr/>
          <p:nvPr/>
        </p:nvSpPr>
        <p:spPr>
          <a:xfrm>
            <a:off x="6492240" y="1874520"/>
            <a:ext cx="3657600" cy="274320"/>
          </a:xfrm>
          <a:prstGeom prst="rect">
            <a:avLst/>
          </a:prstGeom>
          <a:noFill/>
          <a:ln/>
        </p:spPr>
        <p:txBody>
          <a:bodyPr wrap="square" rtlCol="0" anchor="ctr"/>
          <a:lstStyle/>
          <a:p>
            <a:pPr marL="0" indent="0">
              <a:buNone/>
            </a:pPr>
            <a:r>
              <a:rPr lang="en-US" sz="1100" b="1" kern="0" spc="150" dirty="0">
                <a:solidFill>
                  <a:srgbClr val="028090"/>
                </a:solidFill>
                <a:latin typeface="Calibri" pitchFamily="34" charset="0"/>
                <a:ea typeface="Calibri" pitchFamily="34" charset="-122"/>
                <a:cs typeface="Calibri" pitchFamily="34" charset="-120"/>
              </a:rPr>
              <a:t>VARIANT</a:t>
            </a:r>
            <a:endParaRPr lang="en-US" sz="1100" dirty="0"/>
          </a:p>
        </p:txBody>
      </p:sp>
      <p:sp>
        <p:nvSpPr>
          <p:cNvPr id="10" name="Text 8"/>
          <p:cNvSpPr/>
          <p:nvPr/>
        </p:nvSpPr>
        <p:spPr>
          <a:xfrm>
            <a:off x="6492240" y="2194560"/>
            <a:ext cx="4754880" cy="1645920"/>
          </a:xfrm>
          <a:prstGeom prst="rect">
            <a:avLst/>
          </a:prstGeom>
          <a:noFill/>
          <a:ln/>
        </p:spPr>
        <p:txBody>
          <a:bodyPr wrap="square" rtlCol="0" anchor="t"/>
          <a:lstStyle/>
          <a:p>
            <a:pPr marL="0" indent="0">
              <a:buNone/>
            </a:pPr>
            <a:r>
              <a:rPr lang="en-US" sz="1150" dirty="0">
                <a:solidFill>
                  <a:srgbClr val="1F2A33"/>
                </a:solidFill>
                <a:latin typeface="Calibri" pitchFamily="34" charset="0"/>
                <a:ea typeface="Calibri" pitchFamily="34" charset="-122"/>
                <a:cs typeface="Calibri" pitchFamily="34" charset="-120"/>
              </a:rPr>
              <a:t>The same 15% first-order discount applies automatically at web checkout via a visible code/auto-apply; the app is offered afterward as an optional 'track your order and get future perks' upsell, not a checkout gate.</a:t>
            </a:r>
            <a:endParaRPr lang="en-US" sz="1150" dirty="0"/>
          </a:p>
        </p:txBody>
      </p:sp>
      <p:sp>
        <p:nvSpPr>
          <p:cNvPr id="11" name="Text 9"/>
          <p:cNvSpPr/>
          <p:nvPr/>
        </p:nvSpPr>
        <p:spPr>
          <a:xfrm>
            <a:off x="640080" y="4160520"/>
            <a:ext cx="2377440" cy="365760"/>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Primary metric</a:t>
            </a:r>
            <a:endParaRPr lang="en-US" sz="1150" dirty="0"/>
          </a:p>
        </p:txBody>
      </p:sp>
      <p:sp>
        <p:nvSpPr>
          <p:cNvPr id="12" name="Text 10"/>
          <p:cNvSpPr/>
          <p:nvPr/>
        </p:nvSpPr>
        <p:spPr>
          <a:xfrm>
            <a:off x="3108960" y="4160520"/>
            <a:ext cx="8412480" cy="457200"/>
          </a:xfrm>
          <a:prstGeom prst="rect">
            <a:avLst/>
          </a:prstGeom>
          <a:noFill/>
          <a:ln/>
        </p:spPr>
        <p:txBody>
          <a:bodyPr wrap="square" rtlCol="0" anchor="ctr"/>
          <a:lstStyle/>
          <a:p>
            <a:pPr marL="0" indent="0">
              <a:buNone/>
            </a:pPr>
            <a:r>
              <a:rPr lang="en-US" sz="1100" dirty="0">
                <a:solidFill>
                  <a:srgbClr val="1F2A33"/>
                </a:solidFill>
                <a:latin typeface="Calibri" pitchFamily="34" charset="0"/>
                <a:ea typeface="Calibri" pitchFamily="34" charset="-122"/>
                <a:cs typeface="Calibri" pitchFamily="34" charset="-120"/>
              </a:rPr>
              <a:t>Web checkout completion rate (first-time customers)</a:t>
            </a:r>
            <a:endParaRPr lang="en-US" sz="1100" dirty="0"/>
          </a:p>
        </p:txBody>
      </p:sp>
      <p:sp>
        <p:nvSpPr>
          <p:cNvPr id="13" name="Text 11"/>
          <p:cNvSpPr/>
          <p:nvPr/>
        </p:nvSpPr>
        <p:spPr>
          <a:xfrm>
            <a:off x="640080" y="4617720"/>
            <a:ext cx="2377440" cy="365760"/>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Secondary metrics</a:t>
            </a:r>
            <a:endParaRPr lang="en-US" sz="1150" dirty="0"/>
          </a:p>
        </p:txBody>
      </p:sp>
      <p:sp>
        <p:nvSpPr>
          <p:cNvPr id="14" name="Text 12"/>
          <p:cNvSpPr/>
          <p:nvPr/>
        </p:nvSpPr>
        <p:spPr>
          <a:xfrm>
            <a:off x="3108960" y="4617720"/>
            <a:ext cx="8412480" cy="457200"/>
          </a:xfrm>
          <a:prstGeom prst="rect">
            <a:avLst/>
          </a:prstGeom>
          <a:noFill/>
          <a:ln/>
        </p:spPr>
        <p:txBody>
          <a:bodyPr wrap="square" rtlCol="0" anchor="ctr"/>
          <a:lstStyle/>
          <a:p>
            <a:pPr marL="0" indent="0">
              <a:buNone/>
            </a:pPr>
            <a:r>
              <a:rPr lang="en-US" sz="1100" dirty="0">
                <a:solidFill>
                  <a:srgbClr val="1F2A33"/>
                </a:solidFill>
                <a:latin typeface="Calibri" pitchFamily="34" charset="0"/>
                <a:ea typeface="Calibri" pitchFamily="34" charset="-122"/>
                <a:cs typeface="Calibri" pitchFamily="34" charset="-120"/>
              </a:rPr>
              <a:t>Cart abandonment rate, app-install rate post-purchase</a:t>
            </a:r>
            <a:endParaRPr lang="en-US" sz="1100" dirty="0"/>
          </a:p>
        </p:txBody>
      </p:sp>
      <p:sp>
        <p:nvSpPr>
          <p:cNvPr id="15" name="Text 13"/>
          <p:cNvSpPr/>
          <p:nvPr/>
        </p:nvSpPr>
        <p:spPr>
          <a:xfrm>
            <a:off x="640080" y="5074920"/>
            <a:ext cx="2377440" cy="365760"/>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Guardrail metric</a:t>
            </a:r>
            <a:endParaRPr lang="en-US" sz="1150" dirty="0"/>
          </a:p>
        </p:txBody>
      </p:sp>
      <p:sp>
        <p:nvSpPr>
          <p:cNvPr id="16" name="Text 14"/>
          <p:cNvSpPr/>
          <p:nvPr/>
        </p:nvSpPr>
        <p:spPr>
          <a:xfrm>
            <a:off x="3108960" y="5074920"/>
            <a:ext cx="8412480" cy="457200"/>
          </a:xfrm>
          <a:prstGeom prst="rect">
            <a:avLst/>
          </a:prstGeom>
          <a:noFill/>
          <a:ln/>
        </p:spPr>
        <p:txBody>
          <a:bodyPr wrap="square" rtlCol="0" anchor="ctr"/>
          <a:lstStyle/>
          <a:p>
            <a:pPr marL="0" indent="0">
              <a:buNone/>
            </a:pPr>
            <a:r>
              <a:rPr lang="en-US" sz="1100" dirty="0">
                <a:solidFill>
                  <a:srgbClr val="1F2A33"/>
                </a:solidFill>
                <a:latin typeface="Calibri" pitchFamily="34" charset="0"/>
                <a:ea typeface="Calibri" pitchFamily="34" charset="-122"/>
                <a:cs typeface="Calibri" pitchFamily="34" charset="-120"/>
              </a:rPr>
              <a:t>App installs and app-attributed repeat purchase rate — must not collapse if the discount is no longer app-exclusive</a:t>
            </a:r>
            <a:endParaRPr lang="en-US" sz="1100" dirty="0"/>
          </a:p>
        </p:txBody>
      </p:sp>
      <p:sp>
        <p:nvSpPr>
          <p:cNvPr id="17" name="Text 15"/>
          <p:cNvSpPr/>
          <p:nvPr/>
        </p:nvSpPr>
        <p:spPr>
          <a:xfrm>
            <a:off x="640080" y="5532120"/>
            <a:ext cx="2377440" cy="365760"/>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Test type</a:t>
            </a:r>
            <a:endParaRPr lang="en-US" sz="1150" dirty="0"/>
          </a:p>
        </p:txBody>
      </p:sp>
      <p:sp>
        <p:nvSpPr>
          <p:cNvPr id="18" name="Text 16"/>
          <p:cNvSpPr/>
          <p:nvPr/>
        </p:nvSpPr>
        <p:spPr>
          <a:xfrm>
            <a:off x="3108960" y="5532120"/>
            <a:ext cx="8412480" cy="457200"/>
          </a:xfrm>
          <a:prstGeom prst="rect">
            <a:avLst/>
          </a:prstGeom>
          <a:noFill/>
          <a:ln/>
        </p:spPr>
        <p:txBody>
          <a:bodyPr wrap="square" rtlCol="0" anchor="ctr"/>
          <a:lstStyle/>
          <a:p>
            <a:pPr marL="0" indent="0">
              <a:buNone/>
            </a:pPr>
            <a:r>
              <a:rPr lang="en-US" sz="1100" dirty="0">
                <a:solidFill>
                  <a:srgbClr val="1F2A33"/>
                </a:solidFill>
                <a:latin typeface="Calibri" pitchFamily="34" charset="0"/>
                <a:ea typeface="Calibri" pitchFamily="34" charset="-122"/>
                <a:cs typeface="Calibri" pitchFamily="34" charset="-120"/>
              </a:rPr>
              <a:t>Client-side A/B, 50/50 split at checkout flow</a:t>
            </a:r>
            <a:endParaRPr lang="en-US" sz="1100" dirty="0"/>
          </a:p>
        </p:txBody>
      </p:sp>
      <p:sp>
        <p:nvSpPr>
          <p:cNvPr id="19" name="Text 17"/>
          <p:cNvSpPr/>
          <p:nvPr/>
        </p:nvSpPr>
        <p:spPr>
          <a:xfrm>
            <a:off x="640080" y="5989320"/>
            <a:ext cx="2377440" cy="365760"/>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Minimum runtime</a:t>
            </a:r>
            <a:endParaRPr lang="en-US" sz="1150" dirty="0"/>
          </a:p>
        </p:txBody>
      </p:sp>
      <p:sp>
        <p:nvSpPr>
          <p:cNvPr id="20" name="Text 18"/>
          <p:cNvSpPr/>
          <p:nvPr/>
        </p:nvSpPr>
        <p:spPr>
          <a:xfrm>
            <a:off x="3108960" y="5989320"/>
            <a:ext cx="8412480" cy="457200"/>
          </a:xfrm>
          <a:prstGeom prst="rect">
            <a:avLst/>
          </a:prstGeom>
          <a:noFill/>
          <a:ln/>
        </p:spPr>
        <p:txBody>
          <a:bodyPr wrap="square" rtlCol="0" anchor="ctr"/>
          <a:lstStyle/>
          <a:p>
            <a:pPr marL="0" indent="0">
              <a:buNone/>
            </a:pPr>
            <a:r>
              <a:rPr lang="en-US" sz="1100" dirty="0">
                <a:solidFill>
                  <a:srgbClr val="1F2A33"/>
                </a:solidFill>
                <a:latin typeface="Calibri" pitchFamily="34" charset="0"/>
                <a:ea typeface="Calibri" pitchFamily="34" charset="-122"/>
                <a:cs typeface="Calibri" pitchFamily="34" charset="-120"/>
              </a:rPr>
              <a:t>Run for 2 full business cycles minimum; extend if the sample size target isn't yet met</a:t>
            </a:r>
            <a:endParaRPr lang="en-US" sz="1100" dirty="0"/>
          </a:p>
        </p:txBody>
      </p:sp>
      <p:sp>
        <p:nvSpPr>
          <p:cNvPr id="21" name="Text 19"/>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GIVA — Independent CRO Audit</a:t>
            </a:r>
            <a:endParaRPr lang="en-US" sz="800" dirty="0"/>
          </a:p>
        </p:txBody>
      </p:sp>
      <p:sp>
        <p:nvSpPr>
          <p:cNvPr id="22" name="Text 20"/>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8 of 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08 — EXPECTED IMPACT &amp; ROADMAP</a:t>
            </a:r>
            <a:endParaRPr lang="en-US" sz="1100" dirty="0"/>
          </a:p>
        </p:txBody>
      </p:sp>
      <p:sp>
        <p:nvSpPr>
          <p:cNvPr id="3" name="Text 1"/>
          <p:cNvSpPr/>
          <p:nvPr/>
        </p:nvSpPr>
        <p:spPr>
          <a:xfrm>
            <a:off x="640080" y="685800"/>
            <a:ext cx="96012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What happens next</a:t>
            </a:r>
            <a:endParaRPr lang="en-US" sz="2600" dirty="0"/>
          </a:p>
        </p:txBody>
      </p:sp>
      <p:sp>
        <p:nvSpPr>
          <p:cNvPr id="4" name="Shape 2"/>
          <p:cNvSpPr/>
          <p:nvPr/>
        </p:nvSpPr>
        <p:spPr>
          <a:xfrm>
            <a:off x="640080" y="1463040"/>
            <a:ext cx="3520440" cy="1645920"/>
          </a:xfrm>
          <a:prstGeom prst="roundRect">
            <a:avLst>
              <a:gd name="adj" fmla="val 4444"/>
            </a:avLst>
          </a:prstGeom>
          <a:solidFill>
            <a:srgbClr val="028090"/>
          </a:solidFill>
          <a:ln/>
        </p:spPr>
      </p:sp>
      <p:sp>
        <p:nvSpPr>
          <p:cNvPr id="5" name="Text 3"/>
          <p:cNvSpPr/>
          <p:nvPr/>
        </p:nvSpPr>
        <p:spPr>
          <a:xfrm>
            <a:off x="822960" y="1627632"/>
            <a:ext cx="3200400" cy="64008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+3-6%</a:t>
            </a:r>
            <a:endParaRPr lang="en-US" sz="2400" dirty="0"/>
          </a:p>
        </p:txBody>
      </p:sp>
      <p:sp>
        <p:nvSpPr>
          <p:cNvPr id="6" name="Text 4"/>
          <p:cNvSpPr/>
          <p:nvPr/>
        </p:nvSpPr>
        <p:spPr>
          <a:xfrm>
            <a:off x="822960" y="2240280"/>
            <a:ext cx="3200400" cy="822960"/>
          </a:xfrm>
          <a:prstGeom prst="rect">
            <a:avLst/>
          </a:prstGeom>
          <a:noFill/>
          <a:ln/>
        </p:spPr>
        <p:txBody>
          <a:bodyPr wrap="square" rtlCol="0" anchor="t"/>
          <a:lstStyle/>
          <a:p>
            <a:pPr marL="0" indent="0">
              <a:buNone/>
            </a:pPr>
            <a:r>
              <a:rPr lang="en-US" sz="1050" dirty="0">
                <a:solidFill>
                  <a:srgbClr val="E4F6F4"/>
                </a:solidFill>
                <a:latin typeface="Calibri" pitchFamily="34" charset="0"/>
                <a:ea typeface="Calibri" pitchFamily="34" charset="-122"/>
                <a:cs typeface="Calibri" pitchFamily="34" charset="-120"/>
              </a:rPr>
              <a:t>modeled web checkout completion lift (QW1) from removing the app gate</a:t>
            </a:r>
            <a:endParaRPr lang="en-US" sz="1050" dirty="0"/>
          </a:p>
        </p:txBody>
      </p:sp>
      <p:sp>
        <p:nvSpPr>
          <p:cNvPr id="7" name="Shape 5"/>
          <p:cNvSpPr/>
          <p:nvPr/>
        </p:nvSpPr>
        <p:spPr>
          <a:xfrm>
            <a:off x="4343400" y="1463040"/>
            <a:ext cx="3520440" cy="1645920"/>
          </a:xfrm>
          <a:prstGeom prst="roundRect">
            <a:avLst>
              <a:gd name="adj" fmla="val 4444"/>
            </a:avLst>
          </a:prstGeom>
          <a:solidFill>
            <a:srgbClr val="028090"/>
          </a:solidFill>
          <a:ln/>
        </p:spPr>
      </p:sp>
      <p:sp>
        <p:nvSpPr>
          <p:cNvPr id="8" name="Text 6"/>
          <p:cNvSpPr/>
          <p:nvPr/>
        </p:nvSpPr>
        <p:spPr>
          <a:xfrm>
            <a:off x="4526280" y="1627632"/>
            <a:ext cx="3200400" cy="64008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+2-4%</a:t>
            </a:r>
            <a:endParaRPr lang="en-US" sz="2400" dirty="0"/>
          </a:p>
        </p:txBody>
      </p:sp>
      <p:sp>
        <p:nvSpPr>
          <p:cNvPr id="9" name="Text 7"/>
          <p:cNvSpPr/>
          <p:nvPr/>
        </p:nvSpPr>
        <p:spPr>
          <a:xfrm>
            <a:off x="4526280" y="2240280"/>
            <a:ext cx="3200400" cy="822960"/>
          </a:xfrm>
          <a:prstGeom prst="rect">
            <a:avLst/>
          </a:prstGeom>
          <a:noFill/>
          <a:ln/>
        </p:spPr>
        <p:txBody>
          <a:bodyPr wrap="square" rtlCol="0" anchor="t"/>
          <a:lstStyle/>
          <a:p>
            <a:pPr marL="0" indent="0">
              <a:buNone/>
            </a:pPr>
            <a:r>
              <a:rPr lang="en-US" sz="1050" dirty="0">
                <a:solidFill>
                  <a:srgbClr val="E4F6F4"/>
                </a:solidFill>
                <a:latin typeface="Calibri" pitchFamily="34" charset="0"/>
                <a:ea typeface="Calibri" pitchFamily="34" charset="-122"/>
                <a:cs typeface="Calibri" pitchFamily="34" charset="-120"/>
              </a:rPr>
              <a:t>modeled homepage→category CTR lift once occasion/budget entry ships (LT1)</a:t>
            </a:r>
            <a:endParaRPr lang="en-US" sz="1050" dirty="0"/>
          </a:p>
        </p:txBody>
      </p:sp>
      <p:sp>
        <p:nvSpPr>
          <p:cNvPr id="10" name="Shape 8"/>
          <p:cNvSpPr/>
          <p:nvPr/>
        </p:nvSpPr>
        <p:spPr>
          <a:xfrm>
            <a:off x="8046720" y="1463040"/>
            <a:ext cx="3520440" cy="1645920"/>
          </a:xfrm>
          <a:prstGeom prst="roundRect">
            <a:avLst>
              <a:gd name="adj" fmla="val 4444"/>
            </a:avLst>
          </a:prstGeom>
          <a:solidFill>
            <a:srgbClr val="028090"/>
          </a:solidFill>
          <a:ln/>
        </p:spPr>
      </p:sp>
      <p:sp>
        <p:nvSpPr>
          <p:cNvPr id="11" name="Text 9"/>
          <p:cNvSpPr/>
          <p:nvPr/>
        </p:nvSpPr>
        <p:spPr>
          <a:xfrm>
            <a:off x="8229600" y="1627632"/>
            <a:ext cx="3200400" cy="64008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0</a:t>
            </a:r>
            <a:endParaRPr lang="en-US" sz="2400" dirty="0"/>
          </a:p>
        </p:txBody>
      </p:sp>
      <p:sp>
        <p:nvSpPr>
          <p:cNvPr id="12" name="Text 10"/>
          <p:cNvSpPr/>
          <p:nvPr/>
        </p:nvSpPr>
        <p:spPr>
          <a:xfrm>
            <a:off x="8229600" y="2240280"/>
            <a:ext cx="3200400" cy="822960"/>
          </a:xfrm>
          <a:prstGeom prst="rect">
            <a:avLst/>
          </a:prstGeom>
          <a:noFill/>
          <a:ln/>
        </p:spPr>
        <p:txBody>
          <a:bodyPr wrap="square" rtlCol="0" anchor="t"/>
          <a:lstStyle/>
          <a:p>
            <a:pPr marL="0" indent="0">
              <a:buNone/>
            </a:pPr>
            <a:r>
              <a:rPr lang="en-US" sz="1050" dirty="0">
                <a:solidFill>
                  <a:srgbClr val="E4F6F4"/>
                </a:solidFill>
                <a:latin typeface="Calibri" pitchFamily="34" charset="0"/>
                <a:ea typeface="Calibri" pitchFamily="34" charset="-122"/>
                <a:cs typeface="Calibri" pitchFamily="34" charset="-120"/>
              </a:rPr>
              <a:t>new tech debt — QW1 reuses existing discount-code infrastructure</a:t>
            </a:r>
            <a:endParaRPr lang="en-US" sz="1050" dirty="0"/>
          </a:p>
        </p:txBody>
      </p:sp>
      <p:sp>
        <p:nvSpPr>
          <p:cNvPr id="13" name="Text 11"/>
          <p:cNvSpPr/>
          <p:nvPr/>
        </p:nvSpPr>
        <p:spPr>
          <a:xfrm>
            <a:off x="640080" y="3337560"/>
            <a:ext cx="10607040" cy="548640"/>
          </a:xfrm>
          <a:prstGeom prst="rect">
            <a:avLst/>
          </a:prstGeom>
          <a:noFill/>
          <a:ln/>
        </p:spPr>
        <p:txBody>
          <a:bodyPr wrap="square" rtlCol="0" anchor="t"/>
          <a:lstStyle/>
          <a:p>
            <a:pPr marL="0" indent="0">
              <a:buNone/>
            </a:pPr>
            <a:r>
              <a:rPr lang="en-US" sz="1050" i="1" dirty="0">
                <a:solidFill>
                  <a:srgbClr val="6B7280"/>
                </a:solidFill>
                <a:latin typeface="Calibri" pitchFamily="34" charset="0"/>
                <a:ea typeface="Calibri" pitchFamily="34" charset="-122"/>
                <a:cs typeface="Calibri" pitchFamily="34" charset="-120"/>
              </a:rPr>
              <a:t>Treat these two numbers as hypotheses worth testing, not promises — they're built from research on checkout-gate removal and gifting-led navigation, not from GIVA's own funnel data.</a:t>
            </a:r>
            <a:endParaRPr lang="en-US" sz="1050" dirty="0"/>
          </a:p>
        </p:txBody>
      </p:sp>
      <p:sp>
        <p:nvSpPr>
          <p:cNvPr id="14" name="Text 12"/>
          <p:cNvSpPr/>
          <p:nvPr/>
        </p:nvSpPr>
        <p:spPr>
          <a:xfrm>
            <a:off x="640080" y="4114800"/>
            <a:ext cx="10607040" cy="822960"/>
          </a:xfrm>
          <a:prstGeom prst="rect">
            <a:avLst/>
          </a:prstGeom>
          <a:noFill/>
          <a:ln/>
        </p:spPr>
        <p:txBody>
          <a:bodyPr wrap="square" rtlCol="0" anchor="t"/>
          <a:lstStyle/>
          <a:p>
            <a:pPr marL="0" indent="0">
              <a:buNone/>
            </a:pPr>
            <a:r>
              <a:rPr lang="en-US" sz="1200" b="1" dirty="0">
                <a:solidFill>
                  <a:srgbClr val="1F2A33"/>
                </a:solidFill>
                <a:latin typeface="Calibri" pitchFamily="34" charset="0"/>
                <a:ea typeface="Calibri" pitchFamily="34" charset="-122"/>
                <a:cs typeface="Calibri" pitchFamily="34" charset="-120"/>
              </a:rPr>
              <a:t>If it wins: </a:t>
            </a:r>
            <a:r>
              <a:rPr lang="en-US" sz="1200" dirty="0">
                <a:solidFill>
                  <a:srgbClr val="6B7280"/>
                </a:solidFill>
                <a:latin typeface="Calibri" pitchFamily="34" charset="0"/>
                <a:ea typeface="Calibri" pitchFamily="34" charset="-122"/>
                <a:cs typeface="Calibri" pitchFamily="34" charset="-120"/>
              </a:rPr>
              <a:t>Roll the web-native discount pattern to any future app-exclusive offers; use the occasion/budget entry point learnings to restructure category-level navigation, not just the homepage.</a:t>
            </a:r>
            <a:endParaRPr lang="en-US" sz="1200" dirty="0"/>
          </a:p>
        </p:txBody>
      </p:sp>
      <p:sp>
        <p:nvSpPr>
          <p:cNvPr id="15" name="Text 13"/>
          <p:cNvSpPr/>
          <p:nvPr/>
        </p:nvSpPr>
        <p:spPr>
          <a:xfrm>
            <a:off x="640080" y="5029200"/>
            <a:ext cx="10607040" cy="822960"/>
          </a:xfrm>
          <a:prstGeom prst="rect">
            <a:avLst/>
          </a:prstGeom>
          <a:noFill/>
          <a:ln/>
        </p:spPr>
        <p:txBody>
          <a:bodyPr wrap="square" rtlCol="0" anchor="t"/>
          <a:lstStyle/>
          <a:p>
            <a:pPr marL="0" indent="0">
              <a:buNone/>
            </a:pPr>
            <a:r>
              <a:rPr lang="en-US" sz="1200" b="1" dirty="0">
                <a:solidFill>
                  <a:srgbClr val="1F2A33"/>
                </a:solidFill>
                <a:latin typeface="Calibri" pitchFamily="34" charset="0"/>
                <a:ea typeface="Calibri" pitchFamily="34" charset="-122"/>
                <a:cs typeface="Calibri" pitchFamily="34" charset="-120"/>
              </a:rPr>
              <a:t>If it loses/flat: </a:t>
            </a:r>
            <a:r>
              <a:rPr lang="en-US" sz="1200" dirty="0">
                <a:solidFill>
                  <a:srgbClr val="6B7280"/>
                </a:solidFill>
                <a:latin typeface="Calibri" pitchFamily="34" charset="0"/>
                <a:ea typeface="Calibri" pitchFamily="34" charset="-122"/>
                <a:cs typeface="Calibri" pitchFamily="34" charset="-120"/>
              </a:rPr>
              <a:t>Don't conclude the discount itself doesn't drive conversion — test discount visibility/timing (banner vs. auto-apply vs. exit-intent) before assuming the app gate wasn't the real blocker.</a:t>
            </a:r>
            <a:endParaRPr lang="en-US" sz="1200" dirty="0"/>
          </a:p>
        </p:txBody>
      </p:sp>
      <p:sp>
        <p:nvSpPr>
          <p:cNvPr id="16" name="Text 14"/>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GIVA — Independent CRO Audit</a:t>
            </a:r>
            <a:endParaRPr lang="en-US" sz="800" dirty="0"/>
          </a:p>
        </p:txBody>
      </p:sp>
      <p:sp>
        <p:nvSpPr>
          <p:cNvPr id="17" name="Text 15"/>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9 of 10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827212" y="-1828800"/>
            <a:ext cx="5486400" cy="5486400"/>
          </a:xfrm>
          <a:prstGeom prst="ellipse">
            <a:avLst/>
          </a:prstGeom>
          <a:solidFill>
            <a:srgbClr val="028090">
              <a:alpha val="28000"/>
            </a:srgbClr>
          </a:solidFill>
          <a:ln/>
        </p:spPr>
        <p:txBody>
          <a:bodyPr/>
          <a:lstStyle/>
          <a:p>
            <a:endParaRPr lang="en-IN"/>
          </a:p>
        </p:txBody>
      </p:sp>
      <p:sp>
        <p:nvSpPr>
          <p:cNvPr id="3" name="Text 1"/>
          <p:cNvSpPr/>
          <p:nvPr/>
        </p:nvSpPr>
        <p:spPr>
          <a:xfrm>
            <a:off x="824548" y="2560320"/>
            <a:ext cx="9144000" cy="914400"/>
          </a:xfrm>
          <a:prstGeom prst="rect">
            <a:avLst/>
          </a:prstGeom>
          <a:noFill/>
          <a:ln/>
        </p:spPr>
        <p:txBody>
          <a:bodyPr wrap="square" rtlCol="0" anchor="ctr"/>
          <a:lstStyle/>
          <a:p>
            <a:r>
              <a:rPr lang="en-US" sz="3800" b="1" dirty="0">
                <a:latin typeface="Cambria" pitchFamily="34" charset="0"/>
                <a:ea typeface="Cambria" pitchFamily="34" charset="-122"/>
                <a:cs typeface="Cambria" pitchFamily="34" charset="-120"/>
              </a:rPr>
              <a:t>Let's keep converting.</a:t>
            </a:r>
            <a:br>
              <a:rPr lang="en-US" sz="3800" b="1" dirty="0">
                <a:latin typeface="Cambria" pitchFamily="34" charset="0"/>
                <a:ea typeface="Cambria" pitchFamily="34" charset="-122"/>
                <a:cs typeface="Cambria" pitchFamily="34" charset="-120"/>
              </a:rPr>
            </a:br>
            <a:r>
              <a:rPr lang="en-US" sz="1100" i="1" dirty="0">
                <a:latin typeface="Cambria" pitchFamily="34" charset="0"/>
                <a:ea typeface="Cambria" pitchFamily="34" charset="-122"/>
                <a:cs typeface="Cambria" pitchFamily="34" charset="-120"/>
              </a:rPr>
              <a:t>Turn browsers into buyers at every step of the journey.</a:t>
            </a:r>
            <a:endParaRPr lang="en-US" sz="3800" i="1" dirty="0"/>
          </a:p>
        </p:txBody>
      </p:sp>
      <p:sp>
        <p:nvSpPr>
          <p:cNvPr id="4" name="Text 2"/>
          <p:cNvSpPr/>
          <p:nvPr/>
        </p:nvSpPr>
        <p:spPr>
          <a:xfrm>
            <a:off x="824548" y="3429000"/>
            <a:ext cx="8961120" cy="822960"/>
          </a:xfrm>
          <a:prstGeom prst="rect">
            <a:avLst/>
          </a:prstGeom>
          <a:noFill/>
          <a:ln/>
        </p:spPr>
        <p:txBody>
          <a:bodyPr wrap="square" rtlCol="0" anchor="ctr"/>
          <a:lstStyle/>
          <a:p>
            <a:r>
              <a:rPr lang="en-US" sz="1400" dirty="0">
                <a:latin typeface="Calibri" pitchFamily="34" charset="0"/>
                <a:ea typeface="Calibri" pitchFamily="34" charset="-122"/>
                <a:cs typeface="Calibri" pitchFamily="34" charset="-120"/>
              </a:rPr>
              <a:t>Thank you for the opportunity to walk through this. I'd love to bring this same rigor — sense, structured reasoning, business acumen, hypothesize, prioritize, test, learn — to OptiPhoenix's client programs.</a:t>
            </a:r>
            <a:endParaRPr lang="en-US" sz="1400" dirty="0"/>
          </a:p>
        </p:txBody>
      </p:sp>
      <p:sp>
        <p:nvSpPr>
          <p:cNvPr id="5" name="Text 3"/>
          <p:cNvSpPr/>
          <p:nvPr/>
        </p:nvSpPr>
        <p:spPr>
          <a:xfrm>
            <a:off x="824548" y="6126480"/>
            <a:ext cx="9144000" cy="365760"/>
          </a:xfrm>
          <a:prstGeom prst="rect">
            <a:avLst/>
          </a:prstGeom>
          <a:noFill/>
          <a:ln/>
        </p:spPr>
        <p:txBody>
          <a:bodyPr wrap="square" rtlCol="0" anchor="ctr"/>
          <a:lstStyle/>
          <a:p>
            <a:r>
              <a:rPr lang="en-US" sz="1100" b="1" dirty="0">
                <a:solidFill>
                  <a:srgbClr val="7C9997"/>
                </a:solidFill>
                <a:latin typeface="Calibri" pitchFamily="34" charset="0"/>
                <a:ea typeface="Calibri" pitchFamily="34" charset="-122"/>
                <a:cs typeface="Calibri" pitchFamily="34" charset="-120"/>
              </a:rPr>
              <a:t>Kemi Ghetia   •   kemighetia@gmail.com   •   +91-7016210932   • </a:t>
            </a:r>
            <a:r>
              <a:rPr lang="en-US" sz="1100" b="1" dirty="0">
                <a:solidFill>
                  <a:srgbClr val="7C9997"/>
                </a:solidFill>
                <a:latin typeface="Calibri" pitchFamily="34" charset="0"/>
                <a:ea typeface="Calibri" pitchFamily="34" charset="-122"/>
                <a:cs typeface="Calibri" pitchFamily="34" charset="-120"/>
                <a:hlinkClick r:id="rId3"/>
              </a:rPr>
              <a:t>https://www.linkedin.com/in/kemi-ghetia-4968a4263</a:t>
            </a:r>
            <a:endParaRPr lang="en-US" sz="11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2620</Words>
  <Application>Microsoft Office PowerPoint</Application>
  <PresentationFormat>Widescreen</PresentationFormat>
  <Paragraphs>181</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Kemi Ghetia</cp:lastModifiedBy>
  <cp:revision>4</cp:revision>
  <dcterms:created xsi:type="dcterms:W3CDTF">2026-07-28T09:52:27Z</dcterms:created>
  <dcterms:modified xsi:type="dcterms:W3CDTF">2026-07-28T13:52:57Z</dcterms:modified>
</cp:coreProperties>
</file>